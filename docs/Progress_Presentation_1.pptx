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[0:00-0:20] Assalam-o-Alaikum. Mera naam Khizar Rizwan hai, roll number 25L-5668. Mera project Problem 4 hai: ek commercial bank ka object-oriented model, jis mein customers, loans, payments, cards aur compliance sab shamil hain. Agle paanch minute mein main aap ko apni research, design, ab tak ki progress aur agle steps dikhaunga.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[0:20-0:55] Main ne project ko chhe phases mein plan kiya. Pehle chaar phases mukammal hain: research aur assumptions, class aur inheritance design, tests ke saath Python implementation, aur GUI ke saath AI assistant. Is waqt paanchwan phase, yani refinement, jaari hai, aur aakhri phase final report aur viva hai. Neeche diye gaye numbers code se liye gaye hain: aath sources, ikhattar business classes, athanve operations, solah exception scenarios, aur tehattar automated tests jo sab pass hote hain. Brief kam az kam tees classes aur tees operations maangta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[0:55-1:40] Brief kehta hai ke model banane se pehle industry ko samjho. Is liye main ne aath sources study kiye. FATF Recommendations aur State Bank of Pakistan ki AML regulations se customer due diligence aur beneficial ownership samjha. Basel Committee se risk management. ISO 20022 se payment ka lifecycle, ke payment sirf "hui" ya "nahi hui" nahi hoti, balkay pending, held, posted aur failed jaise statuses se guzarti hai. Visa aur Mastercard ke dispute rules se reversal, refund aur chargeback ka farq. IFRS 9 se loan restructuring, BIAN se product aur customer agreement ka farq, aur Martin Fowler ki Analysis Patterns se roles aur time-dated records.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[1:40-2:20] Is research ne mera design badal diya. Pehle mera khayal tha ke Customer, Person ki subclass hogi. Lekin KYC rules batate hain ke customer, director, owner aur signatory ek hi insaan ke roles hain. Is liye ek Person class hai, aur roles alag, dated objects hain. Doosra: bank kabhi galat payment ko mitata nahi, balkay nayi entry post karta hai. Is liye Reversal aur Chargeback nayi transactions hain. Teesra: product band ho jaye to purane customers apni purani terms par rehte hain, is liye ProductDefinition aur customer ka Arrangement alag classes hain.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[2:20-2:50] Yeh research ke baad ka class diagram hai. Is mein chaar hierarchies hain: Party, Arrangement, BankTransaction aur Case. Baqi cheezen, jaise cards, mandates, branches aur employees, association se jurri hain, kyunke woh ek doosre se related hain magar ek doosre ki qism nahi. Mera usool yeh tha: inheritance sirf wahan jahan sach mein "is-a" rishta ho.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[2:50-3:25] Yeh do multi-level hierarchies UML mein hain. Party se Organization, aur Organization se Company aur Charity. Aur Arrangement se DepositAccount, phir Current, Savings aur Term Deposit. Shared data hamesha us sab se oonche level par hai jahan har subclass ko us ki zaroorat hai. Daayen taraf woh inheritance hai jo main ne soch kar reject ki: card account nahi kyunke us mein paisa nahi hota, sole trader alag legal entity nahi, aur merchant refund reversal nahi kyunke asal purchase valid rehti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[3:25-3:55] Yeh flowchart ek poora workflow dikhata hai: digital banking se ek bara transfer, jo brief ka apna case hai. Pehle authority check hoti hai, phir funds aur limit, phir dual control jahan doosre signatory ki approval chahiye, aur phir compliance review. Agar koi rule fail ho to payment mitti nahi, balkay wajah ke saath record mein rehti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[3:55-4:35] Ab implementation. Model Python mein ban chuka hai: chaaron hierarchies, double-entry ledger jo hamesha balance rehta hai, aur brief ke solah exception scenarios, jo tehattar automated tests se check hote hain. Tkinter mein GUI bhi ban chuka hai, yeh us ki screen hai, jahan staff aur customer dono apne role ke hisaab se kaam karte hain. Aur ek AI assistant bhi hai, jo Claude API se bank ke records parh kar sawalon ka jawab deta hai, magar khud koi record nahi badal sakta. Is waqt main refinement kar raha hoon: files aur JSON se records save karna, SOLID ke mutabiq review, aur final presentation ke liye zyada wazeh diagrams.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[4:35-5:00] Agle steps: pehle files aur JSON se bank ke records save aur load karna, phir SOLID aur design patterns ke mutabiq design review, phir aaj ke feedback par amal. Aakhir mein final report aur viva. Shukriya, main sawalat ke liye hazir hoon.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1.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B4F4A"/>
        </a:solidFill>
      </p:bgPr>
    </p:bg>
    <p:spTree>
      <p:nvGrpSpPr>
        <p:cNvPr id="1" name=""/>
        <p:cNvGrpSpPr/>
        <p:nvPr/>
      </p:nvGrpSpPr>
      <p:grpSpPr>
        <a:xfrm>
          <a:off x="0" y="0"/>
          <a:ext cx="0" cy="0"/>
          <a:chOff x="0" y="0"/>
          <a:chExt cx="0" cy="0"/>
        </a:xfrm>
      </p:grpSpPr>
      <p:sp>
        <p:nvSpPr>
          <p:cNvPr id="2" name="Text 0"/>
          <p:cNvSpPr txBox="1"/>
          <p:nvPr/>
        </p:nvSpPr>
        <p:spPr>
          <a:xfrm>
            <a:off x="548640" y="731520"/>
            <a:ext cx="8046720" cy="365760"/>
          </a:xfrm>
          <a:prstGeom prst="rect">
            <a:avLst/>
          </a:prstGeom>
          <a:noFill/>
          <a:ln/>
        </p:spPr>
        <p:txBody>
          <a:bodyPr wrap="square" lIns="0" tIns="0" rIns="0" bIns="0" rtlCol="0" anchor="ctr"/>
          <a:lstStyle/>
          <a:p>
            <a:pPr indent="0" marL="0">
              <a:buNone/>
            </a:pPr>
            <a:r>
              <a:rPr lang="en-US" sz="1600" dirty="0">
                <a:solidFill>
                  <a:srgbClr val="CFE3DF"/>
                </a:solidFill>
                <a:latin typeface="Calibri" pitchFamily="34" charset="0"/>
                <a:ea typeface="Calibri" pitchFamily="34" charset="-122"/>
                <a:cs typeface="Calibri" pitchFamily="34" charset="-120"/>
              </a:rPr>
              <a:t>Project Presentation 1  •  Progress checkpoint</a:t>
            </a:r>
            <a:endParaRPr lang="en-US" sz="1600" dirty="0"/>
          </a:p>
        </p:txBody>
      </p:sp>
      <p:sp>
        <p:nvSpPr>
          <p:cNvPr id="3" name="Text 1"/>
          <p:cNvSpPr txBox="1"/>
          <p:nvPr/>
        </p:nvSpPr>
        <p:spPr>
          <a:xfrm>
            <a:off x="548640" y="1143000"/>
            <a:ext cx="8046720" cy="118872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Problem 4: Commercial Banking, Lending, Payments and Compliance</a:t>
            </a:r>
            <a:endParaRPr lang="en-US" sz="3200" dirty="0"/>
          </a:p>
        </p:txBody>
      </p:sp>
      <p:sp>
        <p:nvSpPr>
          <p:cNvPr id="4" name="Text 2"/>
          <p:cNvSpPr txBox="1"/>
          <p:nvPr/>
        </p:nvSpPr>
        <p:spPr>
          <a:xfrm>
            <a:off x="548640" y="2377440"/>
            <a:ext cx="8046720" cy="411480"/>
          </a:xfrm>
          <a:prstGeom prst="rect">
            <a:avLst/>
          </a:prstGeom>
          <a:noFill/>
          <a:ln/>
        </p:spPr>
        <p:txBody>
          <a:bodyPr wrap="square" lIns="0" tIns="0" rIns="0" bIns="0" rtlCol="0" anchor="ctr"/>
          <a:lstStyle/>
          <a:p>
            <a:pPr indent="0" marL="0">
              <a:buNone/>
            </a:pPr>
            <a:r>
              <a:rPr lang="en-US" sz="1500" i="1" dirty="0">
                <a:solidFill>
                  <a:srgbClr val="E9D3A6"/>
                </a:solidFill>
                <a:latin typeface="Calibri" pitchFamily="34" charset="0"/>
                <a:ea typeface="Calibri" pitchFamily="34" charset="-122"/>
                <a:cs typeface="Calibri" pitchFamily="34" charset="-120"/>
              </a:rPr>
              <a:t>Modelling a bank with classes and inheritance, without reducing everything to “account”</a:t>
            </a:r>
            <a:endParaRPr lang="en-US" sz="1500" dirty="0"/>
          </a:p>
        </p:txBody>
      </p:sp>
      <p:sp>
        <p:nvSpPr>
          <p:cNvPr id="5" name="Text 3"/>
          <p:cNvSpPr txBox="1"/>
          <p:nvPr/>
        </p:nvSpPr>
        <p:spPr>
          <a:xfrm>
            <a:off x="548640" y="3383280"/>
            <a:ext cx="8046720" cy="822960"/>
          </a:xfrm>
          <a:prstGeom prst="rect">
            <a:avLst/>
          </a:prstGeom>
          <a:noFill/>
          <a:ln/>
        </p:spPr>
        <p:txBody>
          <a:bodyPr wrap="square" lIns="0" tIns="0" rIns="0" bIns="0" rtlCol="0" anchor="ctr"/>
          <a:lstStyle/>
          <a:p>
            <a:pPr indent="0" marL="0">
              <a:buNone/>
            </a:pPr>
            <a:r>
              <a:rPr lang="en-US" sz="1600" b="1" dirty="0">
                <a:solidFill>
                  <a:srgbClr val="FFFFFF"/>
                </a:solidFill>
                <a:latin typeface="Calibri" pitchFamily="34" charset="0"/>
                <a:ea typeface="Calibri" pitchFamily="34" charset="-122"/>
                <a:cs typeface="Calibri" pitchFamily="34" charset="-120"/>
              </a:rPr>
              <a:t>Khizar Rizwan  •  25L-5668</a:t>
            </a:r>
            <a:endParaRPr lang="en-US" sz="1300" dirty="0"/>
          </a:p>
          <a:p>
            <a:pPr indent="0" marL="0">
              <a:buNone/>
            </a:pPr>
            <a:r>
              <a:rPr lang="en-US" sz="1300" dirty="0">
                <a:solidFill>
                  <a:srgbClr val="FFFFFF"/>
                </a:solidFill>
                <a:latin typeface="Calibri" pitchFamily="34" charset="0"/>
                <a:ea typeface="Calibri" pitchFamily="34" charset="-122"/>
                <a:cs typeface="Calibri" pitchFamily="34" charset="-120"/>
              </a:rPr>
              <a:t>CS2012 Introduction to Object-Oriented Programming  •  Instructor: Bilal Nadeem</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502920"/>
          </a:xfrm>
          <a:prstGeom prst="rect">
            <a:avLst/>
          </a:prstGeom>
          <a:noFill/>
          <a:ln/>
        </p:spPr>
        <p:txBody>
          <a:bodyPr wrap="square" lIns="0" tIns="0" rIns="0" bIns="0" rtlCol="0" anchor="ctr"/>
          <a:lstStyle/>
          <a:p>
            <a:pPr indent="0" marL="0">
              <a:buNone/>
            </a:pPr>
            <a:r>
              <a:rPr lang="en-US" sz="2600" b="1" dirty="0">
                <a:solidFill>
                  <a:srgbClr val="0B4F4A"/>
                </a:solidFill>
                <a:latin typeface="Cambria" pitchFamily="34" charset="0"/>
                <a:ea typeface="Cambria" pitchFamily="34" charset="-122"/>
                <a:cs typeface="Cambria" pitchFamily="34" charset="-120"/>
              </a:rPr>
              <a:t>Where the project stands</a:t>
            </a:r>
            <a:endParaRPr lang="en-US" sz="2600" dirty="0"/>
          </a:p>
        </p:txBody>
      </p:sp>
      <p:sp>
        <p:nvSpPr>
          <p:cNvPr id="3" name="Text 1"/>
          <p:cNvSpPr txBox="1"/>
          <p:nvPr/>
        </p:nvSpPr>
        <p:spPr>
          <a:xfrm>
            <a:off x="457200" y="841248"/>
            <a:ext cx="8229600" cy="274320"/>
          </a:xfrm>
          <a:prstGeom prst="rect">
            <a:avLst/>
          </a:prstGeom>
          <a:noFill/>
          <a:ln/>
        </p:spPr>
        <p:txBody>
          <a:bodyPr wrap="square" lIns="0" tIns="0" rIns="0" bIns="0" rtlCol="0" anchor="ctr"/>
          <a:lstStyle/>
          <a:p>
            <a:pPr indent="0" marL="0">
              <a:buNone/>
            </a:pPr>
            <a:r>
              <a:rPr lang="en-US" sz="1200" i="1" dirty="0">
                <a:solidFill>
                  <a:srgbClr val="5B6B69"/>
                </a:solidFill>
                <a:latin typeface="Calibri" pitchFamily="34" charset="0"/>
                <a:ea typeface="Calibri" pitchFamily="34" charset="-122"/>
                <a:cs typeface="Calibri" pitchFamily="34" charset="-120"/>
              </a:rPr>
              <a:t>Six planned phases: four complete, refinement under way, then the final submission</a:t>
            </a:r>
            <a:endParaRPr lang="en-US" sz="1200" dirty="0"/>
          </a:p>
        </p:txBody>
      </p:sp>
      <p:sp>
        <p:nvSpPr>
          <p:cNvPr id="4" name="Text 2"/>
          <p:cNvSpPr txBox="1"/>
          <p:nvPr/>
        </p:nvSpPr>
        <p:spPr>
          <a:xfrm>
            <a:off x="5120640" y="91440"/>
            <a:ext cx="3657600" cy="228600"/>
          </a:xfrm>
          <a:prstGeom prst="rect">
            <a:avLst/>
          </a:prstGeom>
          <a:noFill/>
          <a:ln/>
        </p:spPr>
        <p:txBody>
          <a:bodyPr wrap="square" lIns="0" tIns="0" rIns="0" bIns="0" rtlCol="0" anchor="ctr"/>
          <a:lstStyle/>
          <a:p>
            <a:pPr algn="r" indent="0" marL="0">
              <a:buNone/>
            </a:pPr>
            <a:r>
              <a:rPr lang="en-US" sz="1000" b="1" dirty="0">
                <a:solidFill>
                  <a:srgbClr val="B8862F"/>
                </a:solidFill>
                <a:latin typeface="Calibri" pitchFamily="34" charset="0"/>
                <a:ea typeface="Calibri" pitchFamily="34" charset="-122"/>
                <a:cs typeface="Calibri" pitchFamily="34" charset="-120"/>
              </a:rPr>
              <a:t>Progress</a:t>
            </a:r>
            <a:pPr algn="r" indent="0" marL="0">
              <a:buNone/>
            </a:pPr>
            <a:r>
              <a:rPr lang="en-US" sz="1000" dirty="0">
                <a:solidFill>
                  <a:srgbClr val="9AAAA7"/>
                </a:solidFill>
                <a:latin typeface="Calibri" pitchFamily="34" charset="0"/>
                <a:ea typeface="Calibri" pitchFamily="34" charset="-122"/>
                <a:cs typeface="Calibri" pitchFamily="34" charset="-120"/>
              </a:rPr>
              <a:t>  ›  Research</a:t>
            </a:r>
            <a:pPr algn="r" indent="0" marL="0">
              <a:buNone/>
            </a:pPr>
            <a:r>
              <a:rPr lang="en-US" sz="1000" dirty="0">
                <a:solidFill>
                  <a:srgbClr val="9AAAA7"/>
                </a:solidFill>
                <a:latin typeface="Calibri" pitchFamily="34" charset="0"/>
                <a:ea typeface="Calibri" pitchFamily="34" charset="-122"/>
                <a:cs typeface="Calibri" pitchFamily="34" charset="-120"/>
              </a:rPr>
              <a:t>  ›  Design</a:t>
            </a:r>
            <a:pPr algn="r" indent="0" marL="0">
              <a:buNone/>
            </a:pPr>
            <a:r>
              <a:rPr lang="en-US" sz="1000" dirty="0">
                <a:solidFill>
                  <a:srgbClr val="9AAAA7"/>
                </a:solidFill>
                <a:latin typeface="Calibri" pitchFamily="34" charset="0"/>
                <a:ea typeface="Calibri" pitchFamily="34" charset="-122"/>
                <a:cs typeface="Calibri" pitchFamily="34" charset="-120"/>
              </a:rPr>
              <a:t>  ›  Build</a:t>
            </a:r>
            <a:pPr algn="r" indent="0" marL="0">
              <a:buNone/>
            </a:pPr>
            <a:r>
              <a:rPr lang="en-US" sz="1000" dirty="0">
                <a:solidFill>
                  <a:srgbClr val="9AAAA7"/>
                </a:solidFill>
                <a:latin typeface="Calibri" pitchFamily="34" charset="0"/>
                <a:ea typeface="Calibri" pitchFamily="34" charset="-122"/>
                <a:cs typeface="Calibri" pitchFamily="34" charset="-120"/>
              </a:rPr>
              <a:t>  ›  Next</a:t>
            </a:r>
            <a:endParaRPr lang="en-US" sz="1000" dirty="0"/>
          </a:p>
        </p:txBody>
      </p:sp>
      <p:sp>
        <p:nvSpPr>
          <p:cNvPr id="5" name="Shape 3"/>
          <p:cNvSpPr/>
          <p:nvPr/>
        </p:nvSpPr>
        <p:spPr>
          <a:xfrm>
            <a:off x="868680" y="1737360"/>
            <a:ext cx="7406640" cy="0"/>
          </a:xfrm>
          <a:prstGeom prst="line">
            <a:avLst/>
          </a:prstGeom>
          <a:noFill/>
          <a:ln w="25400">
            <a:solidFill>
              <a:srgbClr val="C9D6D3"/>
            </a:solidFill>
            <a:prstDash val="solid"/>
          </a:ln>
        </p:spPr>
      </p:sp>
      <p:sp>
        <p:nvSpPr>
          <p:cNvPr id="6" name="Shape 4"/>
          <p:cNvSpPr/>
          <p:nvPr/>
        </p:nvSpPr>
        <p:spPr>
          <a:xfrm>
            <a:off x="685800" y="1554480"/>
            <a:ext cx="365760" cy="365760"/>
          </a:xfrm>
          <a:prstGeom prst="ellipse">
            <a:avLst/>
          </a:prstGeom>
          <a:solidFill>
            <a:srgbClr val="2E7D4F"/>
          </a:solidFill>
          <a:ln w="25400">
            <a:solidFill>
              <a:srgbClr val="FFFFFF"/>
            </a:solidFill>
            <a:prstDash val="solid"/>
          </a:ln>
        </p:spPr>
      </p:sp>
      <p:sp>
        <p:nvSpPr>
          <p:cNvPr id="7" name="Text 5"/>
          <p:cNvSpPr txBox="1"/>
          <p:nvPr/>
        </p:nvSpPr>
        <p:spPr>
          <a:xfrm>
            <a:off x="685800" y="15544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6"/>
          <p:cNvSpPr txBox="1"/>
          <p:nvPr/>
        </p:nvSpPr>
        <p:spPr>
          <a:xfrm>
            <a:off x="182880" y="2011680"/>
            <a:ext cx="1371600" cy="502920"/>
          </a:xfrm>
          <a:prstGeom prst="rect">
            <a:avLst/>
          </a:prstGeom>
          <a:noFill/>
          <a:ln/>
        </p:spPr>
        <p:txBody>
          <a:bodyPr wrap="square" lIns="0" tIns="0" rIns="0" bIns="0" rtlCol="0" anchor="t"/>
          <a:lstStyle/>
          <a:p>
            <a:pPr algn="ctr" indent="0" marL="0">
              <a:buNone/>
            </a:pPr>
            <a:r>
              <a:rPr lang="en-US" sz="1100" b="1" dirty="0">
                <a:solidFill>
                  <a:srgbClr val="1D2B2A"/>
                </a:solidFill>
                <a:latin typeface="Calibri" pitchFamily="34" charset="0"/>
                <a:ea typeface="Calibri" pitchFamily="34" charset="-122"/>
                <a:cs typeface="Calibri" pitchFamily="34" charset="-120"/>
              </a:rPr>
              <a:t>Domain research &amp; assumptions</a:t>
            </a:r>
            <a:endParaRPr lang="en-US" sz="1100" dirty="0"/>
          </a:p>
        </p:txBody>
      </p:sp>
      <p:sp>
        <p:nvSpPr>
          <p:cNvPr id="9" name="Text 7"/>
          <p:cNvSpPr txBox="1"/>
          <p:nvPr/>
        </p:nvSpPr>
        <p:spPr>
          <a:xfrm>
            <a:off x="182880" y="2514600"/>
            <a:ext cx="1371600" cy="228600"/>
          </a:xfrm>
          <a:prstGeom prst="rect">
            <a:avLst/>
          </a:prstGeom>
          <a:noFill/>
          <a:ln/>
        </p:spPr>
        <p:txBody>
          <a:bodyPr wrap="square" lIns="0" tIns="0" rIns="0" bIns="0" rtlCol="0" anchor="ctr"/>
          <a:lstStyle/>
          <a:p>
            <a:pPr algn="ctr" indent="0" marL="0">
              <a:buNone/>
            </a:pPr>
            <a:r>
              <a:rPr lang="en-US" sz="1050" dirty="0">
                <a:solidFill>
                  <a:srgbClr val="2E7D4F"/>
                </a:solidFill>
                <a:latin typeface="Calibri" pitchFamily="34" charset="0"/>
                <a:ea typeface="Calibri" pitchFamily="34" charset="-122"/>
                <a:cs typeface="Calibri" pitchFamily="34" charset="-120"/>
              </a:rPr>
              <a:t>Done</a:t>
            </a:r>
            <a:endParaRPr lang="en-US" sz="1050" dirty="0"/>
          </a:p>
        </p:txBody>
      </p:sp>
      <p:sp>
        <p:nvSpPr>
          <p:cNvPr id="10" name="Shape 8"/>
          <p:cNvSpPr/>
          <p:nvPr/>
        </p:nvSpPr>
        <p:spPr>
          <a:xfrm>
            <a:off x="2167128" y="1554480"/>
            <a:ext cx="365760" cy="365760"/>
          </a:xfrm>
          <a:prstGeom prst="ellipse">
            <a:avLst/>
          </a:prstGeom>
          <a:solidFill>
            <a:srgbClr val="2E7D4F"/>
          </a:solidFill>
          <a:ln w="25400">
            <a:solidFill>
              <a:srgbClr val="FFFFFF"/>
            </a:solidFill>
            <a:prstDash val="solid"/>
          </a:ln>
        </p:spPr>
      </p:sp>
      <p:sp>
        <p:nvSpPr>
          <p:cNvPr id="11" name="Text 9"/>
          <p:cNvSpPr txBox="1"/>
          <p:nvPr/>
        </p:nvSpPr>
        <p:spPr>
          <a:xfrm>
            <a:off x="2167128" y="15544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2" name="Text 10"/>
          <p:cNvSpPr txBox="1"/>
          <p:nvPr/>
        </p:nvSpPr>
        <p:spPr>
          <a:xfrm>
            <a:off x="1664208" y="2011680"/>
            <a:ext cx="1371600" cy="502920"/>
          </a:xfrm>
          <a:prstGeom prst="rect">
            <a:avLst/>
          </a:prstGeom>
          <a:noFill/>
          <a:ln/>
        </p:spPr>
        <p:txBody>
          <a:bodyPr wrap="square" lIns="0" tIns="0" rIns="0" bIns="0" rtlCol="0" anchor="t"/>
          <a:lstStyle/>
          <a:p>
            <a:pPr algn="ctr" indent="0" marL="0">
              <a:buNone/>
            </a:pPr>
            <a:r>
              <a:rPr lang="en-US" sz="1100" b="1" dirty="0">
                <a:solidFill>
                  <a:srgbClr val="1D2B2A"/>
                </a:solidFill>
                <a:latin typeface="Calibri" pitchFamily="34" charset="0"/>
                <a:ea typeface="Calibri" pitchFamily="34" charset="-122"/>
                <a:cs typeface="Calibri" pitchFamily="34" charset="-120"/>
              </a:rPr>
              <a:t>Class &amp; inheritance design</a:t>
            </a:r>
            <a:endParaRPr lang="en-US" sz="1100" dirty="0"/>
          </a:p>
        </p:txBody>
      </p:sp>
      <p:sp>
        <p:nvSpPr>
          <p:cNvPr id="13" name="Text 11"/>
          <p:cNvSpPr txBox="1"/>
          <p:nvPr/>
        </p:nvSpPr>
        <p:spPr>
          <a:xfrm>
            <a:off x="1664208" y="2514600"/>
            <a:ext cx="1371600" cy="228600"/>
          </a:xfrm>
          <a:prstGeom prst="rect">
            <a:avLst/>
          </a:prstGeom>
          <a:noFill/>
          <a:ln/>
        </p:spPr>
        <p:txBody>
          <a:bodyPr wrap="square" lIns="0" tIns="0" rIns="0" bIns="0" rtlCol="0" anchor="ctr"/>
          <a:lstStyle/>
          <a:p>
            <a:pPr algn="ctr" indent="0" marL="0">
              <a:buNone/>
            </a:pPr>
            <a:r>
              <a:rPr lang="en-US" sz="1050" dirty="0">
                <a:solidFill>
                  <a:srgbClr val="2E7D4F"/>
                </a:solidFill>
                <a:latin typeface="Calibri" pitchFamily="34" charset="0"/>
                <a:ea typeface="Calibri" pitchFamily="34" charset="-122"/>
                <a:cs typeface="Calibri" pitchFamily="34" charset="-120"/>
              </a:rPr>
              <a:t>Done</a:t>
            </a:r>
            <a:endParaRPr lang="en-US" sz="1050" dirty="0"/>
          </a:p>
        </p:txBody>
      </p:sp>
      <p:sp>
        <p:nvSpPr>
          <p:cNvPr id="14" name="Shape 12"/>
          <p:cNvSpPr/>
          <p:nvPr/>
        </p:nvSpPr>
        <p:spPr>
          <a:xfrm>
            <a:off x="3648456" y="1554480"/>
            <a:ext cx="365760" cy="365760"/>
          </a:xfrm>
          <a:prstGeom prst="ellipse">
            <a:avLst/>
          </a:prstGeom>
          <a:solidFill>
            <a:srgbClr val="2E7D4F"/>
          </a:solidFill>
          <a:ln w="25400">
            <a:solidFill>
              <a:srgbClr val="FFFFFF"/>
            </a:solidFill>
            <a:prstDash val="solid"/>
          </a:ln>
        </p:spPr>
      </p:sp>
      <p:sp>
        <p:nvSpPr>
          <p:cNvPr id="15" name="Text 13"/>
          <p:cNvSpPr txBox="1"/>
          <p:nvPr/>
        </p:nvSpPr>
        <p:spPr>
          <a:xfrm>
            <a:off x="3648456" y="15544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6" name="Text 14"/>
          <p:cNvSpPr txBox="1"/>
          <p:nvPr/>
        </p:nvSpPr>
        <p:spPr>
          <a:xfrm>
            <a:off x="3145536" y="2011680"/>
            <a:ext cx="1371600" cy="502920"/>
          </a:xfrm>
          <a:prstGeom prst="rect">
            <a:avLst/>
          </a:prstGeom>
          <a:noFill/>
          <a:ln/>
        </p:spPr>
        <p:txBody>
          <a:bodyPr wrap="square" lIns="0" tIns="0" rIns="0" bIns="0" rtlCol="0" anchor="t"/>
          <a:lstStyle/>
          <a:p>
            <a:pPr algn="ctr" indent="0" marL="0">
              <a:buNone/>
            </a:pPr>
            <a:r>
              <a:rPr lang="en-US" sz="1100" b="1" dirty="0">
                <a:solidFill>
                  <a:srgbClr val="1D2B2A"/>
                </a:solidFill>
                <a:latin typeface="Calibri" pitchFamily="34" charset="0"/>
                <a:ea typeface="Calibri" pitchFamily="34" charset="-122"/>
                <a:cs typeface="Calibri" pitchFamily="34" charset="-120"/>
              </a:rPr>
              <a:t>Implementation + tests</a:t>
            </a:r>
            <a:endParaRPr lang="en-US" sz="1100" dirty="0"/>
          </a:p>
        </p:txBody>
      </p:sp>
      <p:sp>
        <p:nvSpPr>
          <p:cNvPr id="17" name="Text 15"/>
          <p:cNvSpPr txBox="1"/>
          <p:nvPr/>
        </p:nvSpPr>
        <p:spPr>
          <a:xfrm>
            <a:off x="3145536" y="2514600"/>
            <a:ext cx="1371600" cy="228600"/>
          </a:xfrm>
          <a:prstGeom prst="rect">
            <a:avLst/>
          </a:prstGeom>
          <a:noFill/>
          <a:ln/>
        </p:spPr>
        <p:txBody>
          <a:bodyPr wrap="square" lIns="0" tIns="0" rIns="0" bIns="0" rtlCol="0" anchor="ctr"/>
          <a:lstStyle/>
          <a:p>
            <a:pPr algn="ctr" indent="0" marL="0">
              <a:buNone/>
            </a:pPr>
            <a:r>
              <a:rPr lang="en-US" sz="1050" dirty="0">
                <a:solidFill>
                  <a:srgbClr val="2E7D4F"/>
                </a:solidFill>
                <a:latin typeface="Calibri" pitchFamily="34" charset="0"/>
                <a:ea typeface="Calibri" pitchFamily="34" charset="-122"/>
                <a:cs typeface="Calibri" pitchFamily="34" charset="-120"/>
              </a:rPr>
              <a:t>Done</a:t>
            </a:r>
            <a:endParaRPr lang="en-US" sz="1050" dirty="0"/>
          </a:p>
        </p:txBody>
      </p:sp>
      <p:sp>
        <p:nvSpPr>
          <p:cNvPr id="18" name="Shape 16"/>
          <p:cNvSpPr/>
          <p:nvPr/>
        </p:nvSpPr>
        <p:spPr>
          <a:xfrm>
            <a:off x="5129784" y="1554480"/>
            <a:ext cx="365760" cy="365760"/>
          </a:xfrm>
          <a:prstGeom prst="ellipse">
            <a:avLst/>
          </a:prstGeom>
          <a:solidFill>
            <a:srgbClr val="2E7D4F"/>
          </a:solidFill>
          <a:ln w="25400">
            <a:solidFill>
              <a:srgbClr val="FFFFFF"/>
            </a:solidFill>
            <a:prstDash val="solid"/>
          </a:ln>
        </p:spPr>
      </p:sp>
      <p:sp>
        <p:nvSpPr>
          <p:cNvPr id="19" name="Text 17"/>
          <p:cNvSpPr txBox="1"/>
          <p:nvPr/>
        </p:nvSpPr>
        <p:spPr>
          <a:xfrm>
            <a:off x="5129784" y="15544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20" name="Text 18"/>
          <p:cNvSpPr txBox="1"/>
          <p:nvPr/>
        </p:nvSpPr>
        <p:spPr>
          <a:xfrm>
            <a:off x="4626864" y="2011680"/>
            <a:ext cx="1371600" cy="502920"/>
          </a:xfrm>
          <a:prstGeom prst="rect">
            <a:avLst/>
          </a:prstGeom>
          <a:noFill/>
          <a:ln/>
        </p:spPr>
        <p:txBody>
          <a:bodyPr wrap="square" lIns="0" tIns="0" rIns="0" bIns="0" rtlCol="0" anchor="t"/>
          <a:lstStyle/>
          <a:p>
            <a:pPr algn="ctr" indent="0" marL="0">
              <a:buNone/>
            </a:pPr>
            <a:r>
              <a:rPr lang="en-US" sz="1100" b="1" dirty="0">
                <a:solidFill>
                  <a:srgbClr val="1D2B2A"/>
                </a:solidFill>
                <a:latin typeface="Calibri" pitchFamily="34" charset="0"/>
                <a:ea typeface="Calibri" pitchFamily="34" charset="-122"/>
                <a:cs typeface="Calibri" pitchFamily="34" charset="-120"/>
              </a:rPr>
              <a:t>GUI + AI assistant</a:t>
            </a:r>
            <a:endParaRPr lang="en-US" sz="1100" dirty="0"/>
          </a:p>
        </p:txBody>
      </p:sp>
      <p:sp>
        <p:nvSpPr>
          <p:cNvPr id="21" name="Text 19"/>
          <p:cNvSpPr txBox="1"/>
          <p:nvPr/>
        </p:nvSpPr>
        <p:spPr>
          <a:xfrm>
            <a:off x="4626864" y="2514600"/>
            <a:ext cx="1371600" cy="228600"/>
          </a:xfrm>
          <a:prstGeom prst="rect">
            <a:avLst/>
          </a:prstGeom>
          <a:noFill/>
          <a:ln/>
        </p:spPr>
        <p:txBody>
          <a:bodyPr wrap="square" lIns="0" tIns="0" rIns="0" bIns="0" rtlCol="0" anchor="ctr"/>
          <a:lstStyle/>
          <a:p>
            <a:pPr algn="ctr" indent="0" marL="0">
              <a:buNone/>
            </a:pPr>
            <a:r>
              <a:rPr lang="en-US" sz="1050" dirty="0">
                <a:solidFill>
                  <a:srgbClr val="2E7D4F"/>
                </a:solidFill>
                <a:latin typeface="Calibri" pitchFamily="34" charset="0"/>
                <a:ea typeface="Calibri" pitchFamily="34" charset="-122"/>
                <a:cs typeface="Calibri" pitchFamily="34" charset="-120"/>
              </a:rPr>
              <a:t>Done</a:t>
            </a:r>
            <a:endParaRPr lang="en-US" sz="1050" dirty="0"/>
          </a:p>
        </p:txBody>
      </p:sp>
      <p:sp>
        <p:nvSpPr>
          <p:cNvPr id="22" name="Shape 20"/>
          <p:cNvSpPr/>
          <p:nvPr/>
        </p:nvSpPr>
        <p:spPr>
          <a:xfrm>
            <a:off x="6611112" y="1554480"/>
            <a:ext cx="365760" cy="365760"/>
          </a:xfrm>
          <a:prstGeom prst="ellipse">
            <a:avLst/>
          </a:prstGeom>
          <a:solidFill>
            <a:srgbClr val="C98A12"/>
          </a:solidFill>
          <a:ln w="25400">
            <a:solidFill>
              <a:srgbClr val="FFFFFF"/>
            </a:solidFill>
            <a:prstDash val="solid"/>
          </a:ln>
        </p:spPr>
      </p:sp>
      <p:sp>
        <p:nvSpPr>
          <p:cNvPr id="23" name="Text 21"/>
          <p:cNvSpPr txBox="1"/>
          <p:nvPr/>
        </p:nvSpPr>
        <p:spPr>
          <a:xfrm>
            <a:off x="6611112" y="15544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4" name="Text 22"/>
          <p:cNvSpPr txBox="1"/>
          <p:nvPr/>
        </p:nvSpPr>
        <p:spPr>
          <a:xfrm>
            <a:off x="6108192" y="2011680"/>
            <a:ext cx="1371600" cy="502920"/>
          </a:xfrm>
          <a:prstGeom prst="rect">
            <a:avLst/>
          </a:prstGeom>
          <a:noFill/>
          <a:ln/>
        </p:spPr>
        <p:txBody>
          <a:bodyPr wrap="square" lIns="0" tIns="0" rIns="0" bIns="0" rtlCol="0" anchor="t"/>
          <a:lstStyle/>
          <a:p>
            <a:pPr algn="ctr" indent="0" marL="0">
              <a:buNone/>
            </a:pPr>
            <a:r>
              <a:rPr lang="en-US" sz="1100" b="1" dirty="0">
                <a:solidFill>
                  <a:srgbClr val="1D2B2A"/>
                </a:solidFill>
                <a:latin typeface="Calibri" pitchFamily="34" charset="0"/>
                <a:ea typeface="Calibri" pitchFamily="34" charset="-122"/>
                <a:cs typeface="Calibri" pitchFamily="34" charset="-120"/>
              </a:rPr>
              <a:t>Refinement: JSON, SOLID</a:t>
            </a:r>
            <a:endParaRPr lang="en-US" sz="1100" dirty="0"/>
          </a:p>
        </p:txBody>
      </p:sp>
      <p:sp>
        <p:nvSpPr>
          <p:cNvPr id="25" name="Text 23"/>
          <p:cNvSpPr txBox="1"/>
          <p:nvPr/>
        </p:nvSpPr>
        <p:spPr>
          <a:xfrm>
            <a:off x="6108192" y="2514600"/>
            <a:ext cx="1371600" cy="228600"/>
          </a:xfrm>
          <a:prstGeom prst="rect">
            <a:avLst/>
          </a:prstGeom>
          <a:noFill/>
          <a:ln/>
        </p:spPr>
        <p:txBody>
          <a:bodyPr wrap="square" lIns="0" tIns="0" rIns="0" bIns="0" rtlCol="0" anchor="ctr"/>
          <a:lstStyle/>
          <a:p>
            <a:pPr algn="ctr" indent="0" marL="0">
              <a:buNone/>
            </a:pPr>
            <a:r>
              <a:rPr lang="en-US" sz="1050" dirty="0">
                <a:solidFill>
                  <a:srgbClr val="C98A12"/>
                </a:solidFill>
                <a:latin typeface="Calibri" pitchFamily="34" charset="0"/>
                <a:ea typeface="Calibri" pitchFamily="34" charset="-122"/>
                <a:cs typeface="Calibri" pitchFamily="34" charset="-120"/>
              </a:rPr>
              <a:t>In progress</a:t>
            </a:r>
            <a:endParaRPr lang="en-US" sz="1050" dirty="0"/>
          </a:p>
        </p:txBody>
      </p:sp>
      <p:sp>
        <p:nvSpPr>
          <p:cNvPr id="26" name="Shape 24"/>
          <p:cNvSpPr/>
          <p:nvPr/>
        </p:nvSpPr>
        <p:spPr>
          <a:xfrm>
            <a:off x="8092440" y="1554480"/>
            <a:ext cx="365760" cy="365760"/>
          </a:xfrm>
          <a:prstGeom prst="ellipse">
            <a:avLst/>
          </a:prstGeom>
          <a:solidFill>
            <a:srgbClr val="9AAAA7"/>
          </a:solidFill>
          <a:ln w="25400">
            <a:solidFill>
              <a:srgbClr val="FFFFFF"/>
            </a:solidFill>
            <a:prstDash val="solid"/>
          </a:ln>
        </p:spPr>
      </p:sp>
      <p:sp>
        <p:nvSpPr>
          <p:cNvPr id="27" name="Text 25"/>
          <p:cNvSpPr txBox="1"/>
          <p:nvPr/>
        </p:nvSpPr>
        <p:spPr>
          <a:xfrm>
            <a:off x="8092440" y="15544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6</a:t>
            </a:r>
            <a:endParaRPr lang="en-US" sz="1300" dirty="0"/>
          </a:p>
        </p:txBody>
      </p:sp>
      <p:sp>
        <p:nvSpPr>
          <p:cNvPr id="28" name="Text 26"/>
          <p:cNvSpPr txBox="1"/>
          <p:nvPr/>
        </p:nvSpPr>
        <p:spPr>
          <a:xfrm>
            <a:off x="7589520" y="2011680"/>
            <a:ext cx="1371600" cy="502920"/>
          </a:xfrm>
          <a:prstGeom prst="rect">
            <a:avLst/>
          </a:prstGeom>
          <a:noFill/>
          <a:ln/>
        </p:spPr>
        <p:txBody>
          <a:bodyPr wrap="square" lIns="0" tIns="0" rIns="0" bIns="0" rtlCol="0" anchor="t"/>
          <a:lstStyle/>
          <a:p>
            <a:pPr algn="ctr" indent="0" marL="0">
              <a:buNone/>
            </a:pPr>
            <a:r>
              <a:rPr lang="en-US" sz="1100" b="1" dirty="0">
                <a:solidFill>
                  <a:srgbClr val="1D2B2A"/>
                </a:solidFill>
                <a:latin typeface="Calibri" pitchFamily="34" charset="0"/>
                <a:ea typeface="Calibri" pitchFamily="34" charset="-122"/>
                <a:cs typeface="Calibri" pitchFamily="34" charset="-120"/>
              </a:rPr>
              <a:t>Final report &amp; viva</a:t>
            </a:r>
            <a:endParaRPr lang="en-US" sz="1100" dirty="0"/>
          </a:p>
        </p:txBody>
      </p:sp>
      <p:sp>
        <p:nvSpPr>
          <p:cNvPr id="29" name="Text 27"/>
          <p:cNvSpPr txBox="1"/>
          <p:nvPr/>
        </p:nvSpPr>
        <p:spPr>
          <a:xfrm>
            <a:off x="7589520" y="2514600"/>
            <a:ext cx="1371600" cy="228600"/>
          </a:xfrm>
          <a:prstGeom prst="rect">
            <a:avLst/>
          </a:prstGeom>
          <a:noFill/>
          <a:ln/>
        </p:spPr>
        <p:txBody>
          <a:bodyPr wrap="square" lIns="0" tIns="0" rIns="0" bIns="0" rtlCol="0" anchor="ctr"/>
          <a:lstStyle/>
          <a:p>
            <a:pPr algn="ctr" indent="0" marL="0">
              <a:buNone/>
            </a:pPr>
            <a:r>
              <a:rPr lang="en-US" sz="1050" dirty="0">
                <a:solidFill>
                  <a:srgbClr val="9AAAA7"/>
                </a:solidFill>
                <a:latin typeface="Calibri" pitchFamily="34" charset="0"/>
                <a:ea typeface="Calibri" pitchFamily="34" charset="-122"/>
                <a:cs typeface="Calibri" pitchFamily="34" charset="-120"/>
              </a:rPr>
              <a:t>Next</a:t>
            </a:r>
            <a:endParaRPr lang="en-US" sz="1050" dirty="0"/>
          </a:p>
        </p:txBody>
      </p:sp>
      <p:sp>
        <p:nvSpPr>
          <p:cNvPr id="30" name="Shape 28"/>
          <p:cNvSpPr/>
          <p:nvPr/>
        </p:nvSpPr>
        <p:spPr>
          <a:xfrm>
            <a:off x="457200" y="3154680"/>
            <a:ext cx="1554480" cy="1325880"/>
          </a:xfrm>
          <a:prstGeom prst="roundRect">
            <a:avLst>
              <a:gd name="adj" fmla="val 5517"/>
            </a:avLst>
          </a:prstGeom>
          <a:solidFill>
            <a:srgbClr val="E8F0EE"/>
          </a:solidFill>
          <a:ln w="12700">
            <a:solidFill>
              <a:srgbClr val="E8F0EE"/>
            </a:solidFill>
            <a:prstDash val="solid"/>
          </a:ln>
        </p:spPr>
      </p:sp>
      <p:sp>
        <p:nvSpPr>
          <p:cNvPr id="31" name="Text 29"/>
          <p:cNvSpPr txBox="1"/>
          <p:nvPr/>
        </p:nvSpPr>
        <p:spPr>
          <a:xfrm>
            <a:off x="457200" y="3246120"/>
            <a:ext cx="1554480" cy="685800"/>
          </a:xfrm>
          <a:prstGeom prst="rect">
            <a:avLst/>
          </a:prstGeom>
          <a:noFill/>
          <a:ln/>
        </p:spPr>
        <p:txBody>
          <a:bodyPr wrap="square" lIns="0" tIns="0" rIns="0" bIns="0" rtlCol="0" anchor="ctr"/>
          <a:lstStyle/>
          <a:p>
            <a:pPr algn="ctr" indent="0" marL="0">
              <a:buNone/>
            </a:pPr>
            <a:r>
              <a:rPr lang="en-US" sz="3400" b="1" dirty="0">
                <a:solidFill>
                  <a:srgbClr val="0B4F4A"/>
                </a:solidFill>
                <a:latin typeface="Cambria" pitchFamily="34" charset="0"/>
                <a:ea typeface="Cambria" pitchFamily="34" charset="-122"/>
                <a:cs typeface="Cambria" pitchFamily="34" charset="-120"/>
              </a:rPr>
              <a:t>8</a:t>
            </a:r>
            <a:endParaRPr lang="en-US" sz="3400" dirty="0"/>
          </a:p>
        </p:txBody>
      </p:sp>
      <p:sp>
        <p:nvSpPr>
          <p:cNvPr id="32" name="Text 30"/>
          <p:cNvSpPr txBox="1"/>
          <p:nvPr/>
        </p:nvSpPr>
        <p:spPr>
          <a:xfrm>
            <a:off x="457200" y="3931920"/>
            <a:ext cx="1554480" cy="365760"/>
          </a:xfrm>
          <a:prstGeom prst="rect">
            <a:avLst/>
          </a:prstGeom>
          <a:noFill/>
          <a:ln/>
        </p:spPr>
        <p:txBody>
          <a:bodyPr wrap="square" lIns="0" tIns="0" rIns="0" bIns="0" rtlCol="0" anchor="ctr"/>
          <a:lstStyle/>
          <a:p>
            <a:pPr algn="ctr" indent="0" marL="0">
              <a:buNone/>
            </a:pPr>
            <a:r>
              <a:rPr lang="en-US" sz="1150" dirty="0">
                <a:solidFill>
                  <a:srgbClr val="5B6B69"/>
                </a:solidFill>
                <a:latin typeface="Calibri" pitchFamily="34" charset="0"/>
                <a:ea typeface="Calibri" pitchFamily="34" charset="-122"/>
                <a:cs typeface="Calibri" pitchFamily="34" charset="-120"/>
              </a:rPr>
              <a:t>sources studied</a:t>
            </a:r>
            <a:endParaRPr lang="en-US" sz="1150" dirty="0"/>
          </a:p>
        </p:txBody>
      </p:sp>
      <p:sp>
        <p:nvSpPr>
          <p:cNvPr id="33" name="Shape 31"/>
          <p:cNvSpPr/>
          <p:nvPr/>
        </p:nvSpPr>
        <p:spPr>
          <a:xfrm>
            <a:off x="2139696" y="3154680"/>
            <a:ext cx="1554480" cy="1325880"/>
          </a:xfrm>
          <a:prstGeom prst="roundRect">
            <a:avLst>
              <a:gd name="adj" fmla="val 5517"/>
            </a:avLst>
          </a:prstGeom>
          <a:solidFill>
            <a:srgbClr val="E8F0EE"/>
          </a:solidFill>
          <a:ln w="12700">
            <a:solidFill>
              <a:srgbClr val="E8F0EE"/>
            </a:solidFill>
            <a:prstDash val="solid"/>
          </a:ln>
        </p:spPr>
      </p:sp>
      <p:sp>
        <p:nvSpPr>
          <p:cNvPr id="34" name="Text 32"/>
          <p:cNvSpPr txBox="1"/>
          <p:nvPr/>
        </p:nvSpPr>
        <p:spPr>
          <a:xfrm>
            <a:off x="2139696" y="3246120"/>
            <a:ext cx="1554480" cy="685800"/>
          </a:xfrm>
          <a:prstGeom prst="rect">
            <a:avLst/>
          </a:prstGeom>
          <a:noFill/>
          <a:ln/>
        </p:spPr>
        <p:txBody>
          <a:bodyPr wrap="square" lIns="0" tIns="0" rIns="0" bIns="0" rtlCol="0" anchor="ctr"/>
          <a:lstStyle/>
          <a:p>
            <a:pPr algn="ctr" indent="0" marL="0">
              <a:buNone/>
            </a:pPr>
            <a:r>
              <a:rPr lang="en-US" sz="3400" b="1" dirty="0">
                <a:solidFill>
                  <a:srgbClr val="0B4F4A"/>
                </a:solidFill>
                <a:latin typeface="Cambria" pitchFamily="34" charset="0"/>
                <a:ea typeface="Cambria" pitchFamily="34" charset="-122"/>
                <a:cs typeface="Cambria" pitchFamily="34" charset="-120"/>
              </a:rPr>
              <a:t>71</a:t>
            </a:r>
            <a:endParaRPr lang="en-US" sz="3400" dirty="0"/>
          </a:p>
        </p:txBody>
      </p:sp>
      <p:sp>
        <p:nvSpPr>
          <p:cNvPr id="35" name="Text 33"/>
          <p:cNvSpPr txBox="1"/>
          <p:nvPr/>
        </p:nvSpPr>
        <p:spPr>
          <a:xfrm>
            <a:off x="2139696" y="3931920"/>
            <a:ext cx="1554480" cy="365760"/>
          </a:xfrm>
          <a:prstGeom prst="rect">
            <a:avLst/>
          </a:prstGeom>
          <a:noFill/>
          <a:ln/>
        </p:spPr>
        <p:txBody>
          <a:bodyPr wrap="square" lIns="0" tIns="0" rIns="0" bIns="0" rtlCol="0" anchor="ctr"/>
          <a:lstStyle/>
          <a:p>
            <a:pPr algn="ctr" indent="0" marL="0">
              <a:buNone/>
            </a:pPr>
            <a:r>
              <a:rPr lang="en-US" sz="1150" dirty="0">
                <a:solidFill>
                  <a:srgbClr val="5B6B69"/>
                </a:solidFill>
                <a:latin typeface="Calibri" pitchFamily="34" charset="0"/>
                <a:ea typeface="Calibri" pitchFamily="34" charset="-122"/>
                <a:cs typeface="Calibri" pitchFamily="34" charset="-120"/>
              </a:rPr>
              <a:t>business classes</a:t>
            </a:r>
            <a:endParaRPr lang="en-US" sz="1150" dirty="0"/>
          </a:p>
        </p:txBody>
      </p:sp>
      <p:sp>
        <p:nvSpPr>
          <p:cNvPr id="36" name="Shape 34"/>
          <p:cNvSpPr/>
          <p:nvPr/>
        </p:nvSpPr>
        <p:spPr>
          <a:xfrm>
            <a:off x="3822192" y="3154680"/>
            <a:ext cx="1554480" cy="1325880"/>
          </a:xfrm>
          <a:prstGeom prst="roundRect">
            <a:avLst>
              <a:gd name="adj" fmla="val 5517"/>
            </a:avLst>
          </a:prstGeom>
          <a:solidFill>
            <a:srgbClr val="E8F0EE"/>
          </a:solidFill>
          <a:ln w="12700">
            <a:solidFill>
              <a:srgbClr val="E8F0EE"/>
            </a:solidFill>
            <a:prstDash val="solid"/>
          </a:ln>
        </p:spPr>
      </p:sp>
      <p:sp>
        <p:nvSpPr>
          <p:cNvPr id="37" name="Text 35"/>
          <p:cNvSpPr txBox="1"/>
          <p:nvPr/>
        </p:nvSpPr>
        <p:spPr>
          <a:xfrm>
            <a:off x="3822192" y="3246120"/>
            <a:ext cx="1554480" cy="685800"/>
          </a:xfrm>
          <a:prstGeom prst="rect">
            <a:avLst/>
          </a:prstGeom>
          <a:noFill/>
          <a:ln/>
        </p:spPr>
        <p:txBody>
          <a:bodyPr wrap="square" lIns="0" tIns="0" rIns="0" bIns="0" rtlCol="0" anchor="ctr"/>
          <a:lstStyle/>
          <a:p>
            <a:pPr algn="ctr" indent="0" marL="0">
              <a:buNone/>
            </a:pPr>
            <a:r>
              <a:rPr lang="en-US" sz="3400" b="1" dirty="0">
                <a:solidFill>
                  <a:srgbClr val="0B4F4A"/>
                </a:solidFill>
                <a:latin typeface="Cambria" pitchFamily="34" charset="0"/>
                <a:ea typeface="Cambria" pitchFamily="34" charset="-122"/>
                <a:cs typeface="Cambria" pitchFamily="34" charset="-120"/>
              </a:rPr>
              <a:t>98</a:t>
            </a:r>
            <a:endParaRPr lang="en-US" sz="3400" dirty="0"/>
          </a:p>
        </p:txBody>
      </p:sp>
      <p:sp>
        <p:nvSpPr>
          <p:cNvPr id="38" name="Text 36"/>
          <p:cNvSpPr txBox="1"/>
          <p:nvPr/>
        </p:nvSpPr>
        <p:spPr>
          <a:xfrm>
            <a:off x="3822192" y="3931920"/>
            <a:ext cx="1554480" cy="365760"/>
          </a:xfrm>
          <a:prstGeom prst="rect">
            <a:avLst/>
          </a:prstGeom>
          <a:noFill/>
          <a:ln/>
        </p:spPr>
        <p:txBody>
          <a:bodyPr wrap="square" lIns="0" tIns="0" rIns="0" bIns="0" rtlCol="0" anchor="ctr"/>
          <a:lstStyle/>
          <a:p>
            <a:pPr algn="ctr" indent="0" marL="0">
              <a:buNone/>
            </a:pPr>
            <a:r>
              <a:rPr lang="en-US" sz="1150" dirty="0">
                <a:solidFill>
                  <a:srgbClr val="5B6B69"/>
                </a:solidFill>
                <a:latin typeface="Calibri" pitchFamily="34" charset="0"/>
                <a:ea typeface="Calibri" pitchFamily="34" charset="-122"/>
                <a:cs typeface="Calibri" pitchFamily="34" charset="-120"/>
              </a:rPr>
              <a:t>operations</a:t>
            </a:r>
            <a:endParaRPr lang="en-US" sz="1150" dirty="0"/>
          </a:p>
        </p:txBody>
      </p:sp>
      <p:sp>
        <p:nvSpPr>
          <p:cNvPr id="39" name="Shape 37"/>
          <p:cNvSpPr/>
          <p:nvPr/>
        </p:nvSpPr>
        <p:spPr>
          <a:xfrm>
            <a:off x="5504688" y="3154680"/>
            <a:ext cx="1554480" cy="1325880"/>
          </a:xfrm>
          <a:prstGeom prst="roundRect">
            <a:avLst>
              <a:gd name="adj" fmla="val 5517"/>
            </a:avLst>
          </a:prstGeom>
          <a:solidFill>
            <a:srgbClr val="E8F0EE"/>
          </a:solidFill>
          <a:ln w="12700">
            <a:solidFill>
              <a:srgbClr val="E8F0EE"/>
            </a:solidFill>
            <a:prstDash val="solid"/>
          </a:ln>
        </p:spPr>
      </p:sp>
      <p:sp>
        <p:nvSpPr>
          <p:cNvPr id="40" name="Text 38"/>
          <p:cNvSpPr txBox="1"/>
          <p:nvPr/>
        </p:nvSpPr>
        <p:spPr>
          <a:xfrm>
            <a:off x="5504688" y="3246120"/>
            <a:ext cx="1554480" cy="685800"/>
          </a:xfrm>
          <a:prstGeom prst="rect">
            <a:avLst/>
          </a:prstGeom>
          <a:noFill/>
          <a:ln/>
        </p:spPr>
        <p:txBody>
          <a:bodyPr wrap="square" lIns="0" tIns="0" rIns="0" bIns="0" rtlCol="0" anchor="ctr"/>
          <a:lstStyle/>
          <a:p>
            <a:pPr algn="ctr" indent="0" marL="0">
              <a:buNone/>
            </a:pPr>
            <a:r>
              <a:rPr lang="en-US" sz="3400" b="1" dirty="0">
                <a:solidFill>
                  <a:srgbClr val="0B4F4A"/>
                </a:solidFill>
                <a:latin typeface="Cambria" pitchFamily="34" charset="0"/>
                <a:ea typeface="Cambria" pitchFamily="34" charset="-122"/>
                <a:cs typeface="Cambria" pitchFamily="34" charset="-120"/>
              </a:rPr>
              <a:t>16</a:t>
            </a:r>
            <a:endParaRPr lang="en-US" sz="3400" dirty="0"/>
          </a:p>
        </p:txBody>
      </p:sp>
      <p:sp>
        <p:nvSpPr>
          <p:cNvPr id="41" name="Text 39"/>
          <p:cNvSpPr txBox="1"/>
          <p:nvPr/>
        </p:nvSpPr>
        <p:spPr>
          <a:xfrm>
            <a:off x="5504688" y="3931920"/>
            <a:ext cx="1554480" cy="365760"/>
          </a:xfrm>
          <a:prstGeom prst="rect">
            <a:avLst/>
          </a:prstGeom>
          <a:noFill/>
          <a:ln/>
        </p:spPr>
        <p:txBody>
          <a:bodyPr wrap="square" lIns="0" tIns="0" rIns="0" bIns="0" rtlCol="0" anchor="ctr"/>
          <a:lstStyle/>
          <a:p>
            <a:pPr algn="ctr" indent="0" marL="0">
              <a:buNone/>
            </a:pPr>
            <a:r>
              <a:rPr lang="en-US" sz="1150" dirty="0">
                <a:solidFill>
                  <a:srgbClr val="5B6B69"/>
                </a:solidFill>
                <a:latin typeface="Calibri" pitchFamily="34" charset="0"/>
                <a:ea typeface="Calibri" pitchFamily="34" charset="-122"/>
                <a:cs typeface="Calibri" pitchFamily="34" charset="-120"/>
              </a:rPr>
              <a:t>exception scenarios</a:t>
            </a:r>
            <a:endParaRPr lang="en-US" sz="1150" dirty="0"/>
          </a:p>
        </p:txBody>
      </p:sp>
      <p:sp>
        <p:nvSpPr>
          <p:cNvPr id="42" name="Shape 40"/>
          <p:cNvSpPr/>
          <p:nvPr/>
        </p:nvSpPr>
        <p:spPr>
          <a:xfrm>
            <a:off x="7187184" y="3154680"/>
            <a:ext cx="1554480" cy="1325880"/>
          </a:xfrm>
          <a:prstGeom prst="roundRect">
            <a:avLst>
              <a:gd name="adj" fmla="val 5517"/>
            </a:avLst>
          </a:prstGeom>
          <a:solidFill>
            <a:srgbClr val="E8F0EE"/>
          </a:solidFill>
          <a:ln w="12700">
            <a:solidFill>
              <a:srgbClr val="E8F0EE"/>
            </a:solidFill>
            <a:prstDash val="solid"/>
          </a:ln>
        </p:spPr>
      </p:sp>
      <p:sp>
        <p:nvSpPr>
          <p:cNvPr id="43" name="Text 41"/>
          <p:cNvSpPr txBox="1"/>
          <p:nvPr/>
        </p:nvSpPr>
        <p:spPr>
          <a:xfrm>
            <a:off x="7187184" y="3246120"/>
            <a:ext cx="1554480" cy="685800"/>
          </a:xfrm>
          <a:prstGeom prst="rect">
            <a:avLst/>
          </a:prstGeom>
          <a:noFill/>
          <a:ln/>
        </p:spPr>
        <p:txBody>
          <a:bodyPr wrap="square" lIns="0" tIns="0" rIns="0" bIns="0" rtlCol="0" anchor="ctr"/>
          <a:lstStyle/>
          <a:p>
            <a:pPr algn="ctr" indent="0" marL="0">
              <a:buNone/>
            </a:pPr>
            <a:r>
              <a:rPr lang="en-US" sz="3400" b="1" dirty="0">
                <a:solidFill>
                  <a:srgbClr val="0B4F4A"/>
                </a:solidFill>
                <a:latin typeface="Cambria" pitchFamily="34" charset="0"/>
                <a:ea typeface="Cambria" pitchFamily="34" charset="-122"/>
                <a:cs typeface="Cambria" pitchFamily="34" charset="-120"/>
              </a:rPr>
              <a:t>73</a:t>
            </a:r>
            <a:endParaRPr lang="en-US" sz="3400" dirty="0"/>
          </a:p>
        </p:txBody>
      </p:sp>
      <p:sp>
        <p:nvSpPr>
          <p:cNvPr id="44" name="Text 42"/>
          <p:cNvSpPr txBox="1"/>
          <p:nvPr/>
        </p:nvSpPr>
        <p:spPr>
          <a:xfrm>
            <a:off x="7187184" y="3931920"/>
            <a:ext cx="1554480" cy="365760"/>
          </a:xfrm>
          <a:prstGeom prst="rect">
            <a:avLst/>
          </a:prstGeom>
          <a:noFill/>
          <a:ln/>
        </p:spPr>
        <p:txBody>
          <a:bodyPr wrap="square" lIns="0" tIns="0" rIns="0" bIns="0" rtlCol="0" anchor="ctr"/>
          <a:lstStyle/>
          <a:p>
            <a:pPr algn="ctr" indent="0" marL="0">
              <a:buNone/>
            </a:pPr>
            <a:r>
              <a:rPr lang="en-US" sz="1150" dirty="0">
                <a:solidFill>
                  <a:srgbClr val="5B6B69"/>
                </a:solidFill>
                <a:latin typeface="Calibri" pitchFamily="34" charset="0"/>
                <a:ea typeface="Calibri" pitchFamily="34" charset="-122"/>
                <a:cs typeface="Calibri" pitchFamily="34" charset="-120"/>
              </a:rPr>
              <a:t>automated tests</a:t>
            </a:r>
            <a:endParaRPr lang="en-US" sz="1150" dirty="0"/>
          </a:p>
        </p:txBody>
      </p:sp>
      <p:sp>
        <p:nvSpPr>
          <p:cNvPr id="45" name="Text 43"/>
          <p:cNvSpPr txBox="1"/>
          <p:nvPr/>
        </p:nvSpPr>
        <p:spPr>
          <a:xfrm>
            <a:off x="457200" y="4617720"/>
            <a:ext cx="8229600" cy="274320"/>
          </a:xfrm>
          <a:prstGeom prst="rect">
            <a:avLst/>
          </a:prstGeom>
          <a:noFill/>
          <a:ln/>
        </p:spPr>
        <p:txBody>
          <a:bodyPr wrap="square" lIns="0" tIns="0" rIns="0" bIns="0" rtlCol="0" anchor="ctr"/>
          <a:lstStyle/>
          <a:p>
            <a:pPr indent="0" marL="0">
              <a:buNone/>
            </a:pPr>
            <a:r>
              <a:rPr lang="en-US" sz="1100" i="1" dirty="0">
                <a:solidFill>
                  <a:srgbClr val="5B6B69"/>
                </a:solidFill>
                <a:latin typeface="Calibri" pitchFamily="34" charset="0"/>
                <a:ea typeface="Calibri" pitchFamily="34" charset="-122"/>
                <a:cs typeface="Calibri" pitchFamily="34" charset="-120"/>
              </a:rPr>
              <a:t>The brief asks for at least 30 meaningful classes, 30 operations and one multi-level hierarchy</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502920"/>
          </a:xfrm>
          <a:prstGeom prst="rect">
            <a:avLst/>
          </a:prstGeom>
          <a:noFill/>
          <a:ln/>
        </p:spPr>
        <p:txBody>
          <a:bodyPr wrap="square" lIns="0" tIns="0" rIns="0" bIns="0" rtlCol="0" anchor="ctr"/>
          <a:lstStyle/>
          <a:p>
            <a:pPr indent="0" marL="0">
              <a:buNone/>
            </a:pPr>
            <a:r>
              <a:rPr lang="en-US" sz="2600" b="1" dirty="0">
                <a:solidFill>
                  <a:srgbClr val="0B4F4A"/>
                </a:solidFill>
                <a:latin typeface="Cambria" pitchFamily="34" charset="0"/>
                <a:ea typeface="Cambria" pitchFamily="34" charset="-122"/>
                <a:cs typeface="Cambria" pitchFamily="34" charset="-120"/>
              </a:rPr>
              <a:t>Domain research: what I studied</a:t>
            </a:r>
            <a:endParaRPr lang="en-US" sz="2600" dirty="0"/>
          </a:p>
        </p:txBody>
      </p:sp>
      <p:sp>
        <p:nvSpPr>
          <p:cNvPr id="3" name="Text 1"/>
          <p:cNvSpPr txBox="1"/>
          <p:nvPr/>
        </p:nvSpPr>
        <p:spPr>
          <a:xfrm>
            <a:off x="457200" y="841248"/>
            <a:ext cx="8229600" cy="274320"/>
          </a:xfrm>
          <a:prstGeom prst="rect">
            <a:avLst/>
          </a:prstGeom>
          <a:noFill/>
          <a:ln/>
        </p:spPr>
        <p:txBody>
          <a:bodyPr wrap="square" lIns="0" tIns="0" rIns="0" bIns="0" rtlCol="0" anchor="ctr"/>
          <a:lstStyle/>
          <a:p>
            <a:pPr indent="0" marL="0">
              <a:buNone/>
            </a:pPr>
            <a:r>
              <a:rPr lang="en-US" sz="1200" i="1" dirty="0">
                <a:solidFill>
                  <a:srgbClr val="5B6B69"/>
                </a:solidFill>
                <a:latin typeface="Calibri" pitchFamily="34" charset="0"/>
                <a:ea typeface="Calibri" pitchFamily="34" charset="-122"/>
                <a:cs typeface="Calibri" pitchFamily="34" charset="-120"/>
              </a:rPr>
              <a:t>Eight sources, chosen to cover every research area the brief lists</a:t>
            </a:r>
            <a:endParaRPr lang="en-US" sz="1200" dirty="0"/>
          </a:p>
        </p:txBody>
      </p:sp>
      <p:sp>
        <p:nvSpPr>
          <p:cNvPr id="4" name="Text 2"/>
          <p:cNvSpPr txBox="1"/>
          <p:nvPr/>
        </p:nvSpPr>
        <p:spPr>
          <a:xfrm>
            <a:off x="5120640" y="91440"/>
            <a:ext cx="3657600" cy="228600"/>
          </a:xfrm>
          <a:prstGeom prst="rect">
            <a:avLst/>
          </a:prstGeom>
          <a:noFill/>
          <a:ln/>
        </p:spPr>
        <p:txBody>
          <a:bodyPr wrap="square" lIns="0" tIns="0" rIns="0" bIns="0" rtlCol="0" anchor="ctr"/>
          <a:lstStyle/>
          <a:p>
            <a:pPr algn="r" indent="0" marL="0">
              <a:buNone/>
            </a:pPr>
            <a:r>
              <a:rPr lang="en-US" sz="1000" dirty="0">
                <a:solidFill>
                  <a:srgbClr val="9AAAA7"/>
                </a:solidFill>
                <a:latin typeface="Calibri" pitchFamily="34" charset="0"/>
                <a:ea typeface="Calibri" pitchFamily="34" charset="-122"/>
                <a:cs typeface="Calibri" pitchFamily="34" charset="-120"/>
              </a:rPr>
              <a:t>Progress</a:t>
            </a:r>
            <a:pPr algn="r" indent="0" marL="0">
              <a:buNone/>
            </a:pPr>
            <a:r>
              <a:rPr lang="en-US" sz="1000" b="1" dirty="0">
                <a:solidFill>
                  <a:srgbClr val="B8862F"/>
                </a:solidFill>
                <a:latin typeface="Calibri" pitchFamily="34" charset="0"/>
                <a:ea typeface="Calibri" pitchFamily="34" charset="-122"/>
                <a:cs typeface="Calibri" pitchFamily="34" charset="-120"/>
              </a:rPr>
              <a:t>  ›  Research</a:t>
            </a:r>
            <a:pPr algn="r" indent="0" marL="0">
              <a:buNone/>
            </a:pPr>
            <a:r>
              <a:rPr lang="en-US" sz="1000" dirty="0">
                <a:solidFill>
                  <a:srgbClr val="9AAAA7"/>
                </a:solidFill>
                <a:latin typeface="Calibri" pitchFamily="34" charset="0"/>
                <a:ea typeface="Calibri" pitchFamily="34" charset="-122"/>
                <a:cs typeface="Calibri" pitchFamily="34" charset="-120"/>
              </a:rPr>
              <a:t>  ›  Design</a:t>
            </a:r>
            <a:pPr algn="r" indent="0" marL="0">
              <a:buNone/>
            </a:pPr>
            <a:r>
              <a:rPr lang="en-US" sz="1000" dirty="0">
                <a:solidFill>
                  <a:srgbClr val="9AAAA7"/>
                </a:solidFill>
                <a:latin typeface="Calibri" pitchFamily="34" charset="0"/>
                <a:ea typeface="Calibri" pitchFamily="34" charset="-122"/>
                <a:cs typeface="Calibri" pitchFamily="34" charset="-120"/>
              </a:rPr>
              <a:t>  ›  Build</a:t>
            </a:r>
            <a:pPr algn="r" indent="0" marL="0">
              <a:buNone/>
            </a:pPr>
            <a:r>
              <a:rPr lang="en-US" sz="1000" dirty="0">
                <a:solidFill>
                  <a:srgbClr val="9AAAA7"/>
                </a:solidFill>
                <a:latin typeface="Calibri" pitchFamily="34" charset="0"/>
                <a:ea typeface="Calibri" pitchFamily="34" charset="-122"/>
                <a:cs typeface="Calibri" pitchFamily="34" charset="-120"/>
              </a:rPr>
              <a:t>  ›  Next</a:t>
            </a:r>
            <a:endParaRPr lang="en-US" sz="1000" dirty="0"/>
          </a:p>
        </p:txBody>
      </p:sp>
      <p:sp>
        <p:nvSpPr>
          <p:cNvPr id="5" name="Shape 3"/>
          <p:cNvSpPr/>
          <p:nvPr/>
        </p:nvSpPr>
        <p:spPr>
          <a:xfrm>
            <a:off x="457200" y="1280160"/>
            <a:ext cx="1938528" cy="1508760"/>
          </a:xfrm>
          <a:prstGeom prst="roundRect">
            <a:avLst>
              <a:gd name="adj" fmla="val 4848"/>
            </a:avLst>
          </a:prstGeom>
          <a:solidFill>
            <a:srgbClr val="E8F0EE"/>
          </a:solidFill>
          <a:ln w="12700">
            <a:solidFill>
              <a:srgbClr val="E8F0EE"/>
            </a:solidFill>
            <a:prstDash val="solid"/>
          </a:ln>
        </p:spPr>
      </p:sp>
      <p:sp>
        <p:nvSpPr>
          <p:cNvPr id="6" name="Text 4"/>
          <p:cNvSpPr txBox="1"/>
          <p:nvPr/>
        </p:nvSpPr>
        <p:spPr>
          <a:xfrm>
            <a:off x="594360" y="1417320"/>
            <a:ext cx="365760" cy="365760"/>
          </a:xfrm>
          <a:prstGeom prst="rect">
            <a:avLst/>
          </a:prstGeom>
          <a:noFill/>
          <a:ln/>
        </p:spPr>
        <p:txBody>
          <a:bodyPr wrap="square" lIns="0" tIns="0" rIns="0" bIns="0" rtlCol="0" anchor="ctr"/>
          <a:lstStyle/>
          <a:p>
            <a:pPr indent="0" marL="0">
              <a:buNone/>
            </a:pPr>
            <a:r>
              <a:rPr lang="en-US" sz="1800" b="1" dirty="0">
                <a:solidFill>
                  <a:srgbClr val="B8862F"/>
                </a:solidFill>
                <a:latin typeface="Cambria" pitchFamily="34" charset="0"/>
                <a:ea typeface="Cambria" pitchFamily="34" charset="-122"/>
                <a:cs typeface="Cambria" pitchFamily="34" charset="-120"/>
              </a:rPr>
              <a:t>1</a:t>
            </a:r>
            <a:endParaRPr lang="en-US" sz="1800" dirty="0"/>
          </a:p>
        </p:txBody>
      </p:sp>
      <p:sp>
        <p:nvSpPr>
          <p:cNvPr id="7" name="Text 5"/>
          <p:cNvSpPr txBox="1"/>
          <p:nvPr/>
        </p:nvSpPr>
        <p:spPr>
          <a:xfrm>
            <a:off x="594360" y="1783080"/>
            <a:ext cx="1691640" cy="411480"/>
          </a:xfrm>
          <a:prstGeom prst="rect">
            <a:avLst/>
          </a:prstGeom>
          <a:noFill/>
          <a:ln/>
        </p:spPr>
        <p:txBody>
          <a:bodyPr wrap="square" lIns="0" tIns="0" rIns="0" bIns="0" rtlCol="0" anchor="t"/>
          <a:lstStyle/>
          <a:p>
            <a:pPr indent="0" marL="0">
              <a:buNone/>
            </a:pPr>
            <a:r>
              <a:rPr lang="en-US" sz="1300" b="1" dirty="0">
                <a:solidFill>
                  <a:srgbClr val="0B4F4A"/>
                </a:solidFill>
                <a:latin typeface="Cambria" pitchFamily="34" charset="0"/>
                <a:ea typeface="Cambria" pitchFamily="34" charset="-122"/>
                <a:cs typeface="Cambria" pitchFamily="34" charset="-120"/>
              </a:rPr>
              <a:t>FATF Recommendations</a:t>
            </a:r>
            <a:endParaRPr lang="en-US" sz="1300" dirty="0"/>
          </a:p>
        </p:txBody>
      </p:sp>
      <p:sp>
        <p:nvSpPr>
          <p:cNvPr id="8" name="Text 6"/>
          <p:cNvSpPr txBox="1"/>
          <p:nvPr/>
        </p:nvSpPr>
        <p:spPr>
          <a:xfrm>
            <a:off x="594360" y="2194560"/>
            <a:ext cx="1691640" cy="548640"/>
          </a:xfrm>
          <a:prstGeom prst="rect">
            <a:avLst/>
          </a:prstGeom>
          <a:noFill/>
          <a:ln/>
        </p:spPr>
        <p:txBody>
          <a:bodyPr wrap="square" lIns="0" tIns="0" rIns="0" bIns="0" rtlCol="0" anchor="t"/>
          <a:lstStyle/>
          <a:p>
            <a:pPr indent="0" marL="0">
              <a:buNone/>
            </a:pPr>
            <a:r>
              <a:rPr lang="en-US" sz="1100" dirty="0">
                <a:solidFill>
                  <a:srgbClr val="1D2B2A"/>
                </a:solidFill>
                <a:latin typeface="Calibri" pitchFamily="34" charset="0"/>
                <a:ea typeface="Calibri" pitchFamily="34" charset="-122"/>
                <a:cs typeface="Calibri" pitchFamily="34" charset="-120"/>
              </a:rPr>
              <a:t>Customer due diligence; beneficial owners (Rec. 10, 24, 25)</a:t>
            </a:r>
            <a:endParaRPr lang="en-US" sz="1100" dirty="0"/>
          </a:p>
        </p:txBody>
      </p:sp>
      <p:sp>
        <p:nvSpPr>
          <p:cNvPr id="9" name="Shape 7"/>
          <p:cNvSpPr/>
          <p:nvPr/>
        </p:nvSpPr>
        <p:spPr>
          <a:xfrm>
            <a:off x="2542032" y="1280160"/>
            <a:ext cx="1938528" cy="1508760"/>
          </a:xfrm>
          <a:prstGeom prst="roundRect">
            <a:avLst>
              <a:gd name="adj" fmla="val 4848"/>
            </a:avLst>
          </a:prstGeom>
          <a:solidFill>
            <a:srgbClr val="E8F0EE"/>
          </a:solidFill>
          <a:ln w="12700">
            <a:solidFill>
              <a:srgbClr val="E8F0EE"/>
            </a:solidFill>
            <a:prstDash val="solid"/>
          </a:ln>
        </p:spPr>
      </p:sp>
      <p:sp>
        <p:nvSpPr>
          <p:cNvPr id="10" name="Text 8"/>
          <p:cNvSpPr txBox="1"/>
          <p:nvPr/>
        </p:nvSpPr>
        <p:spPr>
          <a:xfrm>
            <a:off x="2679192" y="1417320"/>
            <a:ext cx="365760" cy="365760"/>
          </a:xfrm>
          <a:prstGeom prst="rect">
            <a:avLst/>
          </a:prstGeom>
          <a:noFill/>
          <a:ln/>
        </p:spPr>
        <p:txBody>
          <a:bodyPr wrap="square" lIns="0" tIns="0" rIns="0" bIns="0" rtlCol="0" anchor="ctr"/>
          <a:lstStyle/>
          <a:p>
            <a:pPr indent="0" marL="0">
              <a:buNone/>
            </a:pPr>
            <a:r>
              <a:rPr lang="en-US" sz="1800" b="1" dirty="0">
                <a:solidFill>
                  <a:srgbClr val="B8862F"/>
                </a:solidFill>
                <a:latin typeface="Cambria" pitchFamily="34" charset="0"/>
                <a:ea typeface="Cambria" pitchFamily="34" charset="-122"/>
                <a:cs typeface="Cambria" pitchFamily="34" charset="-120"/>
              </a:rPr>
              <a:t>2</a:t>
            </a:r>
            <a:endParaRPr lang="en-US" sz="1800" dirty="0"/>
          </a:p>
        </p:txBody>
      </p:sp>
      <p:sp>
        <p:nvSpPr>
          <p:cNvPr id="11" name="Text 9"/>
          <p:cNvSpPr txBox="1"/>
          <p:nvPr/>
        </p:nvSpPr>
        <p:spPr>
          <a:xfrm>
            <a:off x="2679192" y="1783080"/>
            <a:ext cx="1691640" cy="411480"/>
          </a:xfrm>
          <a:prstGeom prst="rect">
            <a:avLst/>
          </a:prstGeom>
          <a:noFill/>
          <a:ln/>
        </p:spPr>
        <p:txBody>
          <a:bodyPr wrap="square" lIns="0" tIns="0" rIns="0" bIns="0" rtlCol="0" anchor="t"/>
          <a:lstStyle/>
          <a:p>
            <a:pPr indent="0" marL="0">
              <a:buNone/>
            </a:pPr>
            <a:r>
              <a:rPr lang="en-US" sz="1300" b="1" dirty="0">
                <a:solidFill>
                  <a:srgbClr val="0B4F4A"/>
                </a:solidFill>
                <a:latin typeface="Cambria" pitchFamily="34" charset="0"/>
                <a:ea typeface="Cambria" pitchFamily="34" charset="-122"/>
                <a:cs typeface="Cambria" pitchFamily="34" charset="-120"/>
              </a:rPr>
              <a:t>State Bank of Pakistan</a:t>
            </a:r>
            <a:endParaRPr lang="en-US" sz="1300" dirty="0"/>
          </a:p>
        </p:txBody>
      </p:sp>
      <p:sp>
        <p:nvSpPr>
          <p:cNvPr id="12" name="Text 10"/>
          <p:cNvSpPr txBox="1"/>
          <p:nvPr/>
        </p:nvSpPr>
        <p:spPr>
          <a:xfrm>
            <a:off x="2679192" y="2194560"/>
            <a:ext cx="1691640" cy="548640"/>
          </a:xfrm>
          <a:prstGeom prst="rect">
            <a:avLst/>
          </a:prstGeom>
          <a:noFill/>
          <a:ln/>
        </p:spPr>
        <p:txBody>
          <a:bodyPr wrap="square" lIns="0" tIns="0" rIns="0" bIns="0" rtlCol="0" anchor="t"/>
          <a:lstStyle/>
          <a:p>
            <a:pPr indent="0" marL="0">
              <a:buNone/>
            </a:pPr>
            <a:r>
              <a:rPr lang="en-US" sz="1100" dirty="0">
                <a:solidFill>
                  <a:srgbClr val="1D2B2A"/>
                </a:solidFill>
                <a:latin typeface="Calibri" pitchFamily="34" charset="0"/>
                <a:ea typeface="Calibri" pitchFamily="34" charset="-122"/>
                <a:cs typeface="Calibri" pitchFamily="34" charset="-120"/>
              </a:rPr>
              <a:t>AML/CFT regulations: local KYC practice</a:t>
            </a:r>
            <a:endParaRPr lang="en-US" sz="1100" dirty="0"/>
          </a:p>
        </p:txBody>
      </p:sp>
      <p:sp>
        <p:nvSpPr>
          <p:cNvPr id="13" name="Shape 11"/>
          <p:cNvSpPr/>
          <p:nvPr/>
        </p:nvSpPr>
        <p:spPr>
          <a:xfrm>
            <a:off x="4626864" y="1280160"/>
            <a:ext cx="1938528" cy="1508760"/>
          </a:xfrm>
          <a:prstGeom prst="roundRect">
            <a:avLst>
              <a:gd name="adj" fmla="val 4848"/>
            </a:avLst>
          </a:prstGeom>
          <a:solidFill>
            <a:srgbClr val="E8F0EE"/>
          </a:solidFill>
          <a:ln w="12700">
            <a:solidFill>
              <a:srgbClr val="E8F0EE"/>
            </a:solidFill>
            <a:prstDash val="solid"/>
          </a:ln>
        </p:spPr>
      </p:sp>
      <p:sp>
        <p:nvSpPr>
          <p:cNvPr id="14" name="Text 12"/>
          <p:cNvSpPr txBox="1"/>
          <p:nvPr/>
        </p:nvSpPr>
        <p:spPr>
          <a:xfrm>
            <a:off x="4764024" y="1417320"/>
            <a:ext cx="365760" cy="365760"/>
          </a:xfrm>
          <a:prstGeom prst="rect">
            <a:avLst/>
          </a:prstGeom>
          <a:noFill/>
          <a:ln/>
        </p:spPr>
        <p:txBody>
          <a:bodyPr wrap="square" lIns="0" tIns="0" rIns="0" bIns="0" rtlCol="0" anchor="ctr"/>
          <a:lstStyle/>
          <a:p>
            <a:pPr indent="0" marL="0">
              <a:buNone/>
            </a:pPr>
            <a:r>
              <a:rPr lang="en-US" sz="1800" b="1" dirty="0">
                <a:solidFill>
                  <a:srgbClr val="B8862F"/>
                </a:solidFill>
                <a:latin typeface="Cambria" pitchFamily="34" charset="0"/>
                <a:ea typeface="Cambria" pitchFamily="34" charset="-122"/>
                <a:cs typeface="Cambria" pitchFamily="34" charset="-120"/>
              </a:rPr>
              <a:t>3</a:t>
            </a:r>
            <a:endParaRPr lang="en-US" sz="1800" dirty="0"/>
          </a:p>
        </p:txBody>
      </p:sp>
      <p:sp>
        <p:nvSpPr>
          <p:cNvPr id="15" name="Text 13"/>
          <p:cNvSpPr txBox="1"/>
          <p:nvPr/>
        </p:nvSpPr>
        <p:spPr>
          <a:xfrm>
            <a:off x="4764024" y="1783080"/>
            <a:ext cx="1691640" cy="411480"/>
          </a:xfrm>
          <a:prstGeom prst="rect">
            <a:avLst/>
          </a:prstGeom>
          <a:noFill/>
          <a:ln/>
        </p:spPr>
        <p:txBody>
          <a:bodyPr wrap="square" lIns="0" tIns="0" rIns="0" bIns="0" rtlCol="0" anchor="t"/>
          <a:lstStyle/>
          <a:p>
            <a:pPr indent="0" marL="0">
              <a:buNone/>
            </a:pPr>
            <a:r>
              <a:rPr lang="en-US" sz="1300" b="1" dirty="0">
                <a:solidFill>
                  <a:srgbClr val="0B4F4A"/>
                </a:solidFill>
                <a:latin typeface="Cambria" pitchFamily="34" charset="0"/>
                <a:ea typeface="Cambria" pitchFamily="34" charset="-122"/>
                <a:cs typeface="Cambria" pitchFamily="34" charset="-120"/>
              </a:rPr>
              <a:t>Basel Committee</a:t>
            </a:r>
            <a:endParaRPr lang="en-US" sz="1300" dirty="0"/>
          </a:p>
        </p:txBody>
      </p:sp>
      <p:sp>
        <p:nvSpPr>
          <p:cNvPr id="16" name="Text 14"/>
          <p:cNvSpPr txBox="1"/>
          <p:nvPr/>
        </p:nvSpPr>
        <p:spPr>
          <a:xfrm>
            <a:off x="4764024" y="2194560"/>
            <a:ext cx="1691640" cy="548640"/>
          </a:xfrm>
          <a:prstGeom prst="rect">
            <a:avLst/>
          </a:prstGeom>
          <a:noFill/>
          <a:ln/>
        </p:spPr>
        <p:txBody>
          <a:bodyPr wrap="square" lIns="0" tIns="0" rIns="0" bIns="0" rtlCol="0" anchor="t"/>
          <a:lstStyle/>
          <a:p>
            <a:pPr indent="0" marL="0">
              <a:buNone/>
            </a:pPr>
            <a:r>
              <a:rPr lang="en-US" sz="1100" dirty="0">
                <a:solidFill>
                  <a:srgbClr val="1D2B2A"/>
                </a:solidFill>
                <a:latin typeface="Calibri" pitchFamily="34" charset="0"/>
                <a:ea typeface="Calibri" pitchFamily="34" charset="-122"/>
                <a:cs typeface="Calibri" pitchFamily="34" charset="-120"/>
              </a:rPr>
              <a:t>Managing money-laundering risk in banks</a:t>
            </a:r>
            <a:endParaRPr lang="en-US" sz="1100" dirty="0"/>
          </a:p>
        </p:txBody>
      </p:sp>
      <p:sp>
        <p:nvSpPr>
          <p:cNvPr id="17" name="Shape 15"/>
          <p:cNvSpPr/>
          <p:nvPr/>
        </p:nvSpPr>
        <p:spPr>
          <a:xfrm>
            <a:off x="6711696" y="1280160"/>
            <a:ext cx="1938528" cy="1508760"/>
          </a:xfrm>
          <a:prstGeom prst="roundRect">
            <a:avLst>
              <a:gd name="adj" fmla="val 4848"/>
            </a:avLst>
          </a:prstGeom>
          <a:solidFill>
            <a:srgbClr val="E8F0EE"/>
          </a:solidFill>
          <a:ln w="12700">
            <a:solidFill>
              <a:srgbClr val="E8F0EE"/>
            </a:solidFill>
            <a:prstDash val="solid"/>
          </a:ln>
        </p:spPr>
      </p:sp>
      <p:sp>
        <p:nvSpPr>
          <p:cNvPr id="18" name="Text 16"/>
          <p:cNvSpPr txBox="1"/>
          <p:nvPr/>
        </p:nvSpPr>
        <p:spPr>
          <a:xfrm>
            <a:off x="6848856" y="1417320"/>
            <a:ext cx="365760" cy="365760"/>
          </a:xfrm>
          <a:prstGeom prst="rect">
            <a:avLst/>
          </a:prstGeom>
          <a:noFill/>
          <a:ln/>
        </p:spPr>
        <p:txBody>
          <a:bodyPr wrap="square" lIns="0" tIns="0" rIns="0" bIns="0" rtlCol="0" anchor="ctr"/>
          <a:lstStyle/>
          <a:p>
            <a:pPr indent="0" marL="0">
              <a:buNone/>
            </a:pPr>
            <a:r>
              <a:rPr lang="en-US" sz="1800" b="1" dirty="0">
                <a:solidFill>
                  <a:srgbClr val="B8862F"/>
                </a:solidFill>
                <a:latin typeface="Cambria" pitchFamily="34" charset="0"/>
                <a:ea typeface="Cambria" pitchFamily="34" charset="-122"/>
                <a:cs typeface="Cambria" pitchFamily="34" charset="-120"/>
              </a:rPr>
              <a:t>4</a:t>
            </a:r>
            <a:endParaRPr lang="en-US" sz="1800" dirty="0"/>
          </a:p>
        </p:txBody>
      </p:sp>
      <p:sp>
        <p:nvSpPr>
          <p:cNvPr id="19" name="Text 17"/>
          <p:cNvSpPr txBox="1"/>
          <p:nvPr/>
        </p:nvSpPr>
        <p:spPr>
          <a:xfrm>
            <a:off x="6848856" y="1783080"/>
            <a:ext cx="1691640" cy="411480"/>
          </a:xfrm>
          <a:prstGeom prst="rect">
            <a:avLst/>
          </a:prstGeom>
          <a:noFill/>
          <a:ln/>
        </p:spPr>
        <p:txBody>
          <a:bodyPr wrap="square" lIns="0" tIns="0" rIns="0" bIns="0" rtlCol="0" anchor="t"/>
          <a:lstStyle/>
          <a:p>
            <a:pPr indent="0" marL="0">
              <a:buNone/>
            </a:pPr>
            <a:r>
              <a:rPr lang="en-US" sz="1300" b="1" dirty="0">
                <a:solidFill>
                  <a:srgbClr val="0B4F4A"/>
                </a:solidFill>
                <a:latin typeface="Cambria" pitchFamily="34" charset="0"/>
                <a:ea typeface="Cambria" pitchFamily="34" charset="-122"/>
                <a:cs typeface="Cambria" pitchFamily="34" charset="-120"/>
              </a:rPr>
              <a:t>ISO 20022</a:t>
            </a:r>
            <a:endParaRPr lang="en-US" sz="1300" dirty="0"/>
          </a:p>
        </p:txBody>
      </p:sp>
      <p:sp>
        <p:nvSpPr>
          <p:cNvPr id="20" name="Text 18"/>
          <p:cNvSpPr txBox="1"/>
          <p:nvPr/>
        </p:nvSpPr>
        <p:spPr>
          <a:xfrm>
            <a:off x="6848856" y="2194560"/>
            <a:ext cx="1691640" cy="548640"/>
          </a:xfrm>
          <a:prstGeom prst="rect">
            <a:avLst/>
          </a:prstGeom>
          <a:noFill/>
          <a:ln/>
        </p:spPr>
        <p:txBody>
          <a:bodyPr wrap="square" lIns="0" tIns="0" rIns="0" bIns="0" rtlCol="0" anchor="t"/>
          <a:lstStyle/>
          <a:p>
            <a:pPr indent="0" marL="0">
              <a:buNone/>
            </a:pPr>
            <a:r>
              <a:rPr lang="en-US" sz="1100" dirty="0">
                <a:solidFill>
                  <a:srgbClr val="1D2B2A"/>
                </a:solidFill>
                <a:latin typeface="Calibri" pitchFamily="34" charset="0"/>
                <a:ea typeface="Calibri" pitchFamily="34" charset="-122"/>
                <a:cs typeface="Calibri" pitchFamily="34" charset="-120"/>
              </a:rPr>
              <a:t>Payment statuses: pending, held, posted, rejected</a:t>
            </a:r>
            <a:endParaRPr lang="en-US" sz="1100" dirty="0"/>
          </a:p>
        </p:txBody>
      </p:sp>
      <p:sp>
        <p:nvSpPr>
          <p:cNvPr id="21" name="Shape 19"/>
          <p:cNvSpPr/>
          <p:nvPr/>
        </p:nvSpPr>
        <p:spPr>
          <a:xfrm>
            <a:off x="457200" y="2971800"/>
            <a:ext cx="1938528" cy="1508760"/>
          </a:xfrm>
          <a:prstGeom prst="roundRect">
            <a:avLst>
              <a:gd name="adj" fmla="val 4848"/>
            </a:avLst>
          </a:prstGeom>
          <a:solidFill>
            <a:srgbClr val="E8F0EE"/>
          </a:solidFill>
          <a:ln w="12700">
            <a:solidFill>
              <a:srgbClr val="E8F0EE"/>
            </a:solidFill>
            <a:prstDash val="solid"/>
          </a:ln>
        </p:spPr>
      </p:sp>
      <p:sp>
        <p:nvSpPr>
          <p:cNvPr id="22" name="Text 20"/>
          <p:cNvSpPr txBox="1"/>
          <p:nvPr/>
        </p:nvSpPr>
        <p:spPr>
          <a:xfrm>
            <a:off x="594360" y="3108960"/>
            <a:ext cx="365760" cy="365760"/>
          </a:xfrm>
          <a:prstGeom prst="rect">
            <a:avLst/>
          </a:prstGeom>
          <a:noFill/>
          <a:ln/>
        </p:spPr>
        <p:txBody>
          <a:bodyPr wrap="square" lIns="0" tIns="0" rIns="0" bIns="0" rtlCol="0" anchor="ctr"/>
          <a:lstStyle/>
          <a:p>
            <a:pPr indent="0" marL="0">
              <a:buNone/>
            </a:pPr>
            <a:r>
              <a:rPr lang="en-US" sz="1800" b="1" dirty="0">
                <a:solidFill>
                  <a:srgbClr val="B8862F"/>
                </a:solidFill>
                <a:latin typeface="Cambria" pitchFamily="34" charset="0"/>
                <a:ea typeface="Cambria" pitchFamily="34" charset="-122"/>
                <a:cs typeface="Cambria" pitchFamily="34" charset="-120"/>
              </a:rPr>
              <a:t>5</a:t>
            </a:r>
            <a:endParaRPr lang="en-US" sz="1800" dirty="0"/>
          </a:p>
        </p:txBody>
      </p:sp>
      <p:sp>
        <p:nvSpPr>
          <p:cNvPr id="23" name="Text 21"/>
          <p:cNvSpPr txBox="1"/>
          <p:nvPr/>
        </p:nvSpPr>
        <p:spPr>
          <a:xfrm>
            <a:off x="594360" y="3474720"/>
            <a:ext cx="1691640" cy="411480"/>
          </a:xfrm>
          <a:prstGeom prst="rect">
            <a:avLst/>
          </a:prstGeom>
          <a:noFill/>
          <a:ln/>
        </p:spPr>
        <p:txBody>
          <a:bodyPr wrap="square" lIns="0" tIns="0" rIns="0" bIns="0" rtlCol="0" anchor="t"/>
          <a:lstStyle/>
          <a:p>
            <a:pPr indent="0" marL="0">
              <a:buNone/>
            </a:pPr>
            <a:r>
              <a:rPr lang="en-US" sz="1300" b="1" dirty="0">
                <a:solidFill>
                  <a:srgbClr val="0B4F4A"/>
                </a:solidFill>
                <a:latin typeface="Cambria" pitchFamily="34" charset="0"/>
                <a:ea typeface="Cambria" pitchFamily="34" charset="-122"/>
                <a:cs typeface="Cambria" pitchFamily="34" charset="-120"/>
              </a:rPr>
              <a:t>Visa &amp; Mastercard</a:t>
            </a:r>
            <a:endParaRPr lang="en-US" sz="1300" dirty="0"/>
          </a:p>
        </p:txBody>
      </p:sp>
      <p:sp>
        <p:nvSpPr>
          <p:cNvPr id="24" name="Text 22"/>
          <p:cNvSpPr txBox="1"/>
          <p:nvPr/>
        </p:nvSpPr>
        <p:spPr>
          <a:xfrm>
            <a:off x="594360" y="3886200"/>
            <a:ext cx="1691640" cy="548640"/>
          </a:xfrm>
          <a:prstGeom prst="rect">
            <a:avLst/>
          </a:prstGeom>
          <a:noFill/>
          <a:ln/>
        </p:spPr>
        <p:txBody>
          <a:bodyPr wrap="square" lIns="0" tIns="0" rIns="0" bIns="0" rtlCol="0" anchor="t"/>
          <a:lstStyle/>
          <a:p>
            <a:pPr indent="0" marL="0">
              <a:buNone/>
            </a:pPr>
            <a:r>
              <a:rPr lang="en-US" sz="1100" dirty="0">
                <a:solidFill>
                  <a:srgbClr val="1D2B2A"/>
                </a:solidFill>
                <a:latin typeface="Calibri" pitchFamily="34" charset="0"/>
                <a:ea typeface="Calibri" pitchFamily="34" charset="-122"/>
                <a:cs typeface="Calibri" pitchFamily="34" charset="-120"/>
              </a:rPr>
              <a:t>Disputes, reason codes, chargebacks</a:t>
            </a:r>
            <a:endParaRPr lang="en-US" sz="1100" dirty="0"/>
          </a:p>
        </p:txBody>
      </p:sp>
      <p:sp>
        <p:nvSpPr>
          <p:cNvPr id="25" name="Shape 23"/>
          <p:cNvSpPr/>
          <p:nvPr/>
        </p:nvSpPr>
        <p:spPr>
          <a:xfrm>
            <a:off x="2542032" y="2971800"/>
            <a:ext cx="1938528" cy="1508760"/>
          </a:xfrm>
          <a:prstGeom prst="roundRect">
            <a:avLst>
              <a:gd name="adj" fmla="val 4848"/>
            </a:avLst>
          </a:prstGeom>
          <a:solidFill>
            <a:srgbClr val="E8F0EE"/>
          </a:solidFill>
          <a:ln w="12700">
            <a:solidFill>
              <a:srgbClr val="E8F0EE"/>
            </a:solidFill>
            <a:prstDash val="solid"/>
          </a:ln>
        </p:spPr>
      </p:sp>
      <p:sp>
        <p:nvSpPr>
          <p:cNvPr id="26" name="Text 24"/>
          <p:cNvSpPr txBox="1"/>
          <p:nvPr/>
        </p:nvSpPr>
        <p:spPr>
          <a:xfrm>
            <a:off x="2679192" y="3108960"/>
            <a:ext cx="365760" cy="365760"/>
          </a:xfrm>
          <a:prstGeom prst="rect">
            <a:avLst/>
          </a:prstGeom>
          <a:noFill/>
          <a:ln/>
        </p:spPr>
        <p:txBody>
          <a:bodyPr wrap="square" lIns="0" tIns="0" rIns="0" bIns="0" rtlCol="0" anchor="ctr"/>
          <a:lstStyle/>
          <a:p>
            <a:pPr indent="0" marL="0">
              <a:buNone/>
            </a:pPr>
            <a:r>
              <a:rPr lang="en-US" sz="1800" b="1" dirty="0">
                <a:solidFill>
                  <a:srgbClr val="B8862F"/>
                </a:solidFill>
                <a:latin typeface="Cambria" pitchFamily="34" charset="0"/>
                <a:ea typeface="Cambria" pitchFamily="34" charset="-122"/>
                <a:cs typeface="Cambria" pitchFamily="34" charset="-120"/>
              </a:rPr>
              <a:t>6</a:t>
            </a:r>
            <a:endParaRPr lang="en-US" sz="1800" dirty="0"/>
          </a:p>
        </p:txBody>
      </p:sp>
      <p:sp>
        <p:nvSpPr>
          <p:cNvPr id="27" name="Text 25"/>
          <p:cNvSpPr txBox="1"/>
          <p:nvPr/>
        </p:nvSpPr>
        <p:spPr>
          <a:xfrm>
            <a:off x="2679192" y="3474720"/>
            <a:ext cx="1691640" cy="411480"/>
          </a:xfrm>
          <a:prstGeom prst="rect">
            <a:avLst/>
          </a:prstGeom>
          <a:noFill/>
          <a:ln/>
        </p:spPr>
        <p:txBody>
          <a:bodyPr wrap="square" lIns="0" tIns="0" rIns="0" bIns="0" rtlCol="0" anchor="t"/>
          <a:lstStyle/>
          <a:p>
            <a:pPr indent="0" marL="0">
              <a:buNone/>
            </a:pPr>
            <a:r>
              <a:rPr lang="en-US" sz="1300" b="1" dirty="0">
                <a:solidFill>
                  <a:srgbClr val="0B4F4A"/>
                </a:solidFill>
                <a:latin typeface="Cambria" pitchFamily="34" charset="0"/>
                <a:ea typeface="Cambria" pitchFamily="34" charset="-122"/>
                <a:cs typeface="Cambria" pitchFamily="34" charset="-120"/>
              </a:rPr>
              <a:t>IFRS 9</a:t>
            </a:r>
            <a:endParaRPr lang="en-US" sz="1300" dirty="0"/>
          </a:p>
        </p:txBody>
      </p:sp>
      <p:sp>
        <p:nvSpPr>
          <p:cNvPr id="28" name="Text 26"/>
          <p:cNvSpPr txBox="1"/>
          <p:nvPr/>
        </p:nvSpPr>
        <p:spPr>
          <a:xfrm>
            <a:off x="2679192" y="3886200"/>
            <a:ext cx="1691640" cy="548640"/>
          </a:xfrm>
          <a:prstGeom prst="rect">
            <a:avLst/>
          </a:prstGeom>
          <a:noFill/>
          <a:ln/>
        </p:spPr>
        <p:txBody>
          <a:bodyPr wrap="square" lIns="0" tIns="0" rIns="0" bIns="0" rtlCol="0" anchor="t"/>
          <a:lstStyle/>
          <a:p>
            <a:pPr indent="0" marL="0">
              <a:buNone/>
            </a:pPr>
            <a:r>
              <a:rPr lang="en-US" sz="1100" dirty="0">
                <a:solidFill>
                  <a:srgbClr val="1D2B2A"/>
                </a:solidFill>
                <a:latin typeface="Calibri" pitchFamily="34" charset="0"/>
                <a:ea typeface="Calibri" pitchFamily="34" charset="-122"/>
                <a:cs typeface="Calibri" pitchFamily="34" charset="-120"/>
              </a:rPr>
              <a:t>Loan modification and restructuring</a:t>
            </a:r>
            <a:endParaRPr lang="en-US" sz="1100" dirty="0"/>
          </a:p>
        </p:txBody>
      </p:sp>
      <p:sp>
        <p:nvSpPr>
          <p:cNvPr id="29" name="Shape 27"/>
          <p:cNvSpPr/>
          <p:nvPr/>
        </p:nvSpPr>
        <p:spPr>
          <a:xfrm>
            <a:off x="4626864" y="2971800"/>
            <a:ext cx="1938528" cy="1508760"/>
          </a:xfrm>
          <a:prstGeom prst="roundRect">
            <a:avLst>
              <a:gd name="adj" fmla="val 4848"/>
            </a:avLst>
          </a:prstGeom>
          <a:solidFill>
            <a:srgbClr val="E8F0EE"/>
          </a:solidFill>
          <a:ln w="12700">
            <a:solidFill>
              <a:srgbClr val="E8F0EE"/>
            </a:solidFill>
            <a:prstDash val="solid"/>
          </a:ln>
        </p:spPr>
      </p:sp>
      <p:sp>
        <p:nvSpPr>
          <p:cNvPr id="30" name="Text 28"/>
          <p:cNvSpPr txBox="1"/>
          <p:nvPr/>
        </p:nvSpPr>
        <p:spPr>
          <a:xfrm>
            <a:off x="4764024" y="3108960"/>
            <a:ext cx="365760" cy="365760"/>
          </a:xfrm>
          <a:prstGeom prst="rect">
            <a:avLst/>
          </a:prstGeom>
          <a:noFill/>
          <a:ln/>
        </p:spPr>
        <p:txBody>
          <a:bodyPr wrap="square" lIns="0" tIns="0" rIns="0" bIns="0" rtlCol="0" anchor="ctr"/>
          <a:lstStyle/>
          <a:p>
            <a:pPr indent="0" marL="0">
              <a:buNone/>
            </a:pPr>
            <a:r>
              <a:rPr lang="en-US" sz="1800" b="1" dirty="0">
                <a:solidFill>
                  <a:srgbClr val="B8862F"/>
                </a:solidFill>
                <a:latin typeface="Cambria" pitchFamily="34" charset="0"/>
                <a:ea typeface="Cambria" pitchFamily="34" charset="-122"/>
                <a:cs typeface="Cambria" pitchFamily="34" charset="-120"/>
              </a:rPr>
              <a:t>7</a:t>
            </a:r>
            <a:endParaRPr lang="en-US" sz="1800" dirty="0"/>
          </a:p>
        </p:txBody>
      </p:sp>
      <p:sp>
        <p:nvSpPr>
          <p:cNvPr id="31" name="Text 29"/>
          <p:cNvSpPr txBox="1"/>
          <p:nvPr/>
        </p:nvSpPr>
        <p:spPr>
          <a:xfrm>
            <a:off x="4764024" y="3474720"/>
            <a:ext cx="1691640" cy="411480"/>
          </a:xfrm>
          <a:prstGeom prst="rect">
            <a:avLst/>
          </a:prstGeom>
          <a:noFill/>
          <a:ln/>
        </p:spPr>
        <p:txBody>
          <a:bodyPr wrap="square" lIns="0" tIns="0" rIns="0" bIns="0" rtlCol="0" anchor="t"/>
          <a:lstStyle/>
          <a:p>
            <a:pPr indent="0" marL="0">
              <a:buNone/>
            </a:pPr>
            <a:r>
              <a:rPr lang="en-US" sz="1300" b="1" dirty="0">
                <a:solidFill>
                  <a:srgbClr val="0B4F4A"/>
                </a:solidFill>
                <a:latin typeface="Cambria" pitchFamily="34" charset="0"/>
                <a:ea typeface="Cambria" pitchFamily="34" charset="-122"/>
                <a:cs typeface="Cambria" pitchFamily="34" charset="-120"/>
              </a:rPr>
              <a:t>BIAN</a:t>
            </a:r>
            <a:endParaRPr lang="en-US" sz="1300" dirty="0"/>
          </a:p>
        </p:txBody>
      </p:sp>
      <p:sp>
        <p:nvSpPr>
          <p:cNvPr id="32" name="Text 30"/>
          <p:cNvSpPr txBox="1"/>
          <p:nvPr/>
        </p:nvSpPr>
        <p:spPr>
          <a:xfrm>
            <a:off x="4764024" y="3886200"/>
            <a:ext cx="1691640" cy="548640"/>
          </a:xfrm>
          <a:prstGeom prst="rect">
            <a:avLst/>
          </a:prstGeom>
          <a:noFill/>
          <a:ln/>
        </p:spPr>
        <p:txBody>
          <a:bodyPr wrap="square" lIns="0" tIns="0" rIns="0" bIns="0" rtlCol="0" anchor="t"/>
          <a:lstStyle/>
          <a:p>
            <a:pPr indent="0" marL="0">
              <a:buNone/>
            </a:pPr>
            <a:r>
              <a:rPr lang="en-US" sz="1100" dirty="0">
                <a:solidFill>
                  <a:srgbClr val="1D2B2A"/>
                </a:solidFill>
                <a:latin typeface="Calibri" pitchFamily="34" charset="0"/>
                <a:ea typeface="Calibri" pitchFamily="34" charset="-122"/>
                <a:cs typeface="Calibri" pitchFamily="34" charset="-120"/>
              </a:rPr>
              <a:t>Product catalogue vs customer agreement</a:t>
            </a:r>
            <a:endParaRPr lang="en-US" sz="1100" dirty="0"/>
          </a:p>
        </p:txBody>
      </p:sp>
      <p:sp>
        <p:nvSpPr>
          <p:cNvPr id="33" name="Shape 31"/>
          <p:cNvSpPr/>
          <p:nvPr/>
        </p:nvSpPr>
        <p:spPr>
          <a:xfrm>
            <a:off x="6711696" y="2971800"/>
            <a:ext cx="1938528" cy="1508760"/>
          </a:xfrm>
          <a:prstGeom prst="roundRect">
            <a:avLst>
              <a:gd name="adj" fmla="val 4848"/>
            </a:avLst>
          </a:prstGeom>
          <a:solidFill>
            <a:srgbClr val="E8F0EE"/>
          </a:solidFill>
          <a:ln w="12700">
            <a:solidFill>
              <a:srgbClr val="E8F0EE"/>
            </a:solidFill>
            <a:prstDash val="solid"/>
          </a:ln>
        </p:spPr>
      </p:sp>
      <p:sp>
        <p:nvSpPr>
          <p:cNvPr id="34" name="Text 32"/>
          <p:cNvSpPr txBox="1"/>
          <p:nvPr/>
        </p:nvSpPr>
        <p:spPr>
          <a:xfrm>
            <a:off x="6848856" y="3108960"/>
            <a:ext cx="365760" cy="365760"/>
          </a:xfrm>
          <a:prstGeom prst="rect">
            <a:avLst/>
          </a:prstGeom>
          <a:noFill/>
          <a:ln/>
        </p:spPr>
        <p:txBody>
          <a:bodyPr wrap="square" lIns="0" tIns="0" rIns="0" bIns="0" rtlCol="0" anchor="ctr"/>
          <a:lstStyle/>
          <a:p>
            <a:pPr indent="0" marL="0">
              <a:buNone/>
            </a:pPr>
            <a:r>
              <a:rPr lang="en-US" sz="1800" b="1" dirty="0">
                <a:solidFill>
                  <a:srgbClr val="B8862F"/>
                </a:solidFill>
                <a:latin typeface="Cambria" pitchFamily="34" charset="0"/>
                <a:ea typeface="Cambria" pitchFamily="34" charset="-122"/>
                <a:cs typeface="Cambria" pitchFamily="34" charset="-120"/>
              </a:rPr>
              <a:t>8</a:t>
            </a:r>
            <a:endParaRPr lang="en-US" sz="1800" dirty="0"/>
          </a:p>
        </p:txBody>
      </p:sp>
      <p:sp>
        <p:nvSpPr>
          <p:cNvPr id="35" name="Text 33"/>
          <p:cNvSpPr txBox="1"/>
          <p:nvPr/>
        </p:nvSpPr>
        <p:spPr>
          <a:xfrm>
            <a:off x="6848856" y="3474720"/>
            <a:ext cx="1691640" cy="411480"/>
          </a:xfrm>
          <a:prstGeom prst="rect">
            <a:avLst/>
          </a:prstGeom>
          <a:noFill/>
          <a:ln/>
        </p:spPr>
        <p:txBody>
          <a:bodyPr wrap="square" lIns="0" tIns="0" rIns="0" bIns="0" rtlCol="0" anchor="t"/>
          <a:lstStyle/>
          <a:p>
            <a:pPr indent="0" marL="0">
              <a:buNone/>
            </a:pPr>
            <a:r>
              <a:rPr lang="en-US" sz="1300" b="1" dirty="0">
                <a:solidFill>
                  <a:srgbClr val="0B4F4A"/>
                </a:solidFill>
                <a:latin typeface="Cambria" pitchFamily="34" charset="0"/>
                <a:ea typeface="Cambria" pitchFamily="34" charset="-122"/>
                <a:cs typeface="Cambria" pitchFamily="34" charset="-120"/>
              </a:rPr>
              <a:t>Fowler, Analysis Patterns</a:t>
            </a:r>
            <a:endParaRPr lang="en-US" sz="1300" dirty="0"/>
          </a:p>
        </p:txBody>
      </p:sp>
      <p:sp>
        <p:nvSpPr>
          <p:cNvPr id="36" name="Text 34"/>
          <p:cNvSpPr txBox="1"/>
          <p:nvPr/>
        </p:nvSpPr>
        <p:spPr>
          <a:xfrm>
            <a:off x="6848856" y="3886200"/>
            <a:ext cx="1691640" cy="548640"/>
          </a:xfrm>
          <a:prstGeom prst="rect">
            <a:avLst/>
          </a:prstGeom>
          <a:noFill/>
          <a:ln/>
        </p:spPr>
        <p:txBody>
          <a:bodyPr wrap="square" lIns="0" tIns="0" rIns="0" bIns="0" rtlCol="0" anchor="t"/>
          <a:lstStyle/>
          <a:p>
            <a:pPr indent="0" marL="0">
              <a:buNone/>
            </a:pPr>
            <a:r>
              <a:rPr lang="en-US" sz="1100" dirty="0">
                <a:solidFill>
                  <a:srgbClr val="1D2B2A"/>
                </a:solidFill>
                <a:latin typeface="Calibri" pitchFamily="34" charset="0"/>
                <a:ea typeface="Calibri" pitchFamily="34" charset="-122"/>
                <a:cs typeface="Calibri" pitchFamily="34" charset="-120"/>
              </a:rPr>
              <a:t>Party roles and time-dated records</a:t>
            </a:r>
            <a:endParaRPr lang="en-US" sz="1100" dirty="0"/>
          </a:p>
        </p:txBody>
      </p:sp>
      <p:sp>
        <p:nvSpPr>
          <p:cNvPr id="37" name="Text 35"/>
          <p:cNvSpPr txBox="1"/>
          <p:nvPr/>
        </p:nvSpPr>
        <p:spPr>
          <a:xfrm>
            <a:off x="457200" y="4663440"/>
            <a:ext cx="8229600" cy="274320"/>
          </a:xfrm>
          <a:prstGeom prst="rect">
            <a:avLst/>
          </a:prstGeom>
          <a:noFill/>
          <a:ln/>
        </p:spPr>
        <p:txBody>
          <a:bodyPr wrap="square" lIns="0" tIns="0" rIns="0" bIns="0" rtlCol="0" anchor="ctr"/>
          <a:lstStyle/>
          <a:p>
            <a:pPr indent="0" marL="0">
              <a:buNone/>
            </a:pPr>
            <a:r>
              <a:rPr lang="en-US" sz="1050" i="1" dirty="0">
                <a:solidFill>
                  <a:srgbClr val="5B6B69"/>
                </a:solidFill>
                <a:latin typeface="Calibri" pitchFamily="34" charset="0"/>
                <a:ea typeface="Calibri" pitchFamily="34" charset="-122"/>
                <a:cs typeface="Calibri" pitchFamily="34" charset="-120"/>
              </a:rPr>
              <a:t>Full references and a 27-term glossary are in the design report, section 1</a:t>
            </a:r>
            <a:endParaRPr lang="en-US" sz="10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502920"/>
          </a:xfrm>
          <a:prstGeom prst="rect">
            <a:avLst/>
          </a:prstGeom>
          <a:noFill/>
          <a:ln/>
        </p:spPr>
        <p:txBody>
          <a:bodyPr wrap="square" lIns="0" tIns="0" rIns="0" bIns="0" rtlCol="0" anchor="ctr"/>
          <a:lstStyle/>
          <a:p>
            <a:pPr indent="0" marL="0">
              <a:buNone/>
            </a:pPr>
            <a:r>
              <a:rPr lang="en-US" sz="2600" b="1" dirty="0">
                <a:solidFill>
                  <a:srgbClr val="0B4F4A"/>
                </a:solidFill>
                <a:latin typeface="Cambria" pitchFamily="34" charset="0"/>
                <a:ea typeface="Cambria" pitchFamily="34" charset="-122"/>
                <a:cs typeface="Cambria" pitchFamily="34" charset="-120"/>
              </a:rPr>
              <a:t>How the research changed my design</a:t>
            </a:r>
            <a:endParaRPr lang="en-US" sz="2600" dirty="0"/>
          </a:p>
        </p:txBody>
      </p:sp>
      <p:sp>
        <p:nvSpPr>
          <p:cNvPr id="3" name="Text 1"/>
          <p:cNvSpPr txBox="1"/>
          <p:nvPr/>
        </p:nvSpPr>
        <p:spPr>
          <a:xfrm>
            <a:off x="457200" y="841248"/>
            <a:ext cx="8229600" cy="274320"/>
          </a:xfrm>
          <a:prstGeom prst="rect">
            <a:avLst/>
          </a:prstGeom>
          <a:noFill/>
          <a:ln/>
        </p:spPr>
        <p:txBody>
          <a:bodyPr wrap="square" lIns="0" tIns="0" rIns="0" bIns="0" rtlCol="0" anchor="ctr"/>
          <a:lstStyle/>
          <a:p>
            <a:pPr indent="0" marL="0">
              <a:buNone/>
            </a:pPr>
            <a:r>
              <a:rPr lang="en-US" sz="1200" i="1" dirty="0">
                <a:solidFill>
                  <a:srgbClr val="5B6B69"/>
                </a:solidFill>
                <a:latin typeface="Calibri" pitchFamily="34" charset="0"/>
                <a:ea typeface="Calibri" pitchFamily="34" charset="-122"/>
                <a:cs typeface="Calibri" pitchFamily="34" charset="-120"/>
              </a:rPr>
              <a:t>My first idea, what the research showed, and the design I adopted</a:t>
            </a:r>
            <a:endParaRPr lang="en-US" sz="1200" dirty="0"/>
          </a:p>
        </p:txBody>
      </p:sp>
      <p:sp>
        <p:nvSpPr>
          <p:cNvPr id="4" name="Text 2"/>
          <p:cNvSpPr txBox="1"/>
          <p:nvPr/>
        </p:nvSpPr>
        <p:spPr>
          <a:xfrm>
            <a:off x="5120640" y="91440"/>
            <a:ext cx="3657600" cy="228600"/>
          </a:xfrm>
          <a:prstGeom prst="rect">
            <a:avLst/>
          </a:prstGeom>
          <a:noFill/>
          <a:ln/>
        </p:spPr>
        <p:txBody>
          <a:bodyPr wrap="square" lIns="0" tIns="0" rIns="0" bIns="0" rtlCol="0" anchor="ctr"/>
          <a:lstStyle/>
          <a:p>
            <a:pPr algn="r" indent="0" marL="0">
              <a:buNone/>
            </a:pPr>
            <a:r>
              <a:rPr lang="en-US" sz="1000" dirty="0">
                <a:solidFill>
                  <a:srgbClr val="9AAAA7"/>
                </a:solidFill>
                <a:latin typeface="Calibri" pitchFamily="34" charset="0"/>
                <a:ea typeface="Calibri" pitchFamily="34" charset="-122"/>
                <a:cs typeface="Calibri" pitchFamily="34" charset="-120"/>
              </a:rPr>
              <a:t>Progress</a:t>
            </a:r>
            <a:pPr algn="r" indent="0" marL="0">
              <a:buNone/>
            </a:pPr>
            <a:r>
              <a:rPr lang="en-US" sz="1000" b="1" dirty="0">
                <a:solidFill>
                  <a:srgbClr val="B8862F"/>
                </a:solidFill>
                <a:latin typeface="Calibri" pitchFamily="34" charset="0"/>
                <a:ea typeface="Calibri" pitchFamily="34" charset="-122"/>
                <a:cs typeface="Calibri" pitchFamily="34" charset="-120"/>
              </a:rPr>
              <a:t>  ›  Research</a:t>
            </a:r>
            <a:pPr algn="r" indent="0" marL="0">
              <a:buNone/>
            </a:pPr>
            <a:r>
              <a:rPr lang="en-US" sz="1000" dirty="0">
                <a:solidFill>
                  <a:srgbClr val="9AAAA7"/>
                </a:solidFill>
                <a:latin typeface="Calibri" pitchFamily="34" charset="0"/>
                <a:ea typeface="Calibri" pitchFamily="34" charset="-122"/>
                <a:cs typeface="Calibri" pitchFamily="34" charset="-120"/>
              </a:rPr>
              <a:t>  ›  Design</a:t>
            </a:r>
            <a:pPr algn="r" indent="0" marL="0">
              <a:buNone/>
            </a:pPr>
            <a:r>
              <a:rPr lang="en-US" sz="1000" dirty="0">
                <a:solidFill>
                  <a:srgbClr val="9AAAA7"/>
                </a:solidFill>
                <a:latin typeface="Calibri" pitchFamily="34" charset="0"/>
                <a:ea typeface="Calibri" pitchFamily="34" charset="-122"/>
                <a:cs typeface="Calibri" pitchFamily="34" charset="-120"/>
              </a:rPr>
              <a:t>  ›  Build</a:t>
            </a:r>
            <a:pPr algn="r" indent="0" marL="0">
              <a:buNone/>
            </a:pPr>
            <a:r>
              <a:rPr lang="en-US" sz="1000" dirty="0">
                <a:solidFill>
                  <a:srgbClr val="9AAAA7"/>
                </a:solidFill>
                <a:latin typeface="Calibri" pitchFamily="34" charset="0"/>
                <a:ea typeface="Calibri" pitchFamily="34" charset="-122"/>
                <a:cs typeface="Calibri" pitchFamily="34" charset="-120"/>
              </a:rPr>
              <a:t>  ›  Next</a:t>
            </a:r>
            <a:endParaRPr lang="en-US" sz="1000" dirty="0"/>
          </a:p>
        </p:txBody>
      </p:sp>
      <p:sp>
        <p:nvSpPr>
          <p:cNvPr id="5" name="Shape 3"/>
          <p:cNvSpPr/>
          <p:nvPr/>
        </p:nvSpPr>
        <p:spPr>
          <a:xfrm>
            <a:off x="457200" y="1280160"/>
            <a:ext cx="2606040" cy="3291840"/>
          </a:xfrm>
          <a:prstGeom prst="roundRect">
            <a:avLst>
              <a:gd name="adj" fmla="val 2807"/>
            </a:avLst>
          </a:prstGeom>
          <a:solidFill>
            <a:srgbClr val="E8F0EE"/>
          </a:solidFill>
          <a:ln w="12700">
            <a:solidFill>
              <a:srgbClr val="E8F0EE"/>
            </a:solidFill>
            <a:prstDash val="solid"/>
          </a:ln>
        </p:spPr>
      </p:sp>
      <p:sp>
        <p:nvSpPr>
          <p:cNvPr id="6" name="Text 4"/>
          <p:cNvSpPr txBox="1"/>
          <p:nvPr/>
        </p:nvSpPr>
        <p:spPr>
          <a:xfrm>
            <a:off x="640080" y="1417320"/>
            <a:ext cx="2240280" cy="548640"/>
          </a:xfrm>
          <a:prstGeom prst="rect">
            <a:avLst/>
          </a:prstGeom>
          <a:noFill/>
          <a:ln/>
        </p:spPr>
        <p:txBody>
          <a:bodyPr wrap="square" lIns="0" tIns="0" rIns="0" bIns="0" rtlCol="0" anchor="t"/>
          <a:lstStyle/>
          <a:p>
            <a:pPr indent="0" marL="0">
              <a:buNone/>
            </a:pPr>
            <a:r>
              <a:rPr lang="en-US" sz="1500" b="1" dirty="0">
                <a:solidFill>
                  <a:srgbClr val="0B4F4A"/>
                </a:solidFill>
                <a:latin typeface="Cambria" pitchFamily="34" charset="0"/>
                <a:ea typeface="Cambria" pitchFamily="34" charset="-122"/>
                <a:cs typeface="Cambria" pitchFamily="34" charset="-120"/>
              </a:rPr>
              <a:t>One person, many roles</a:t>
            </a:r>
            <a:endParaRPr lang="en-US" sz="1500" dirty="0"/>
          </a:p>
        </p:txBody>
      </p:sp>
      <p:sp>
        <p:nvSpPr>
          <p:cNvPr id="7" name="Text 5"/>
          <p:cNvSpPr txBox="1"/>
          <p:nvPr/>
        </p:nvSpPr>
        <p:spPr>
          <a:xfrm>
            <a:off x="640080" y="2011680"/>
            <a:ext cx="2240280" cy="228600"/>
          </a:xfrm>
          <a:prstGeom prst="rect">
            <a:avLst/>
          </a:prstGeom>
          <a:noFill/>
          <a:ln/>
        </p:spPr>
        <p:txBody>
          <a:bodyPr wrap="square" lIns="0" tIns="0" rIns="0" bIns="0" rtlCol="0" anchor="ctr"/>
          <a:lstStyle/>
          <a:p>
            <a:pPr indent="0" marL="0">
              <a:buNone/>
            </a:pPr>
            <a:r>
              <a:rPr lang="en-US" sz="1000" b="1" dirty="0">
                <a:solidFill>
                  <a:srgbClr val="5B6B69"/>
                </a:solidFill>
                <a:latin typeface="Calibri" pitchFamily="34" charset="0"/>
                <a:ea typeface="Calibri" pitchFamily="34" charset="-122"/>
                <a:cs typeface="Calibri" pitchFamily="34" charset="-120"/>
              </a:rPr>
              <a:t>First idea</a:t>
            </a:r>
            <a:endParaRPr lang="en-US" sz="1000" dirty="0"/>
          </a:p>
        </p:txBody>
      </p:sp>
      <p:sp>
        <p:nvSpPr>
          <p:cNvPr id="8" name="Text 6"/>
          <p:cNvSpPr txBox="1"/>
          <p:nvPr/>
        </p:nvSpPr>
        <p:spPr>
          <a:xfrm>
            <a:off x="640080" y="2240280"/>
            <a:ext cx="2240280" cy="822960"/>
          </a:xfrm>
          <a:prstGeom prst="rect">
            <a:avLst/>
          </a:prstGeom>
          <a:noFill/>
          <a:ln/>
        </p:spPr>
        <p:txBody>
          <a:bodyPr wrap="square" lIns="0" tIns="0" rIns="0" bIns="0" rtlCol="0" anchor="t"/>
          <a:lstStyle/>
          <a:p>
            <a:pPr indent="0" marL="0">
              <a:buNone/>
            </a:pPr>
            <a:r>
              <a:rPr lang="en-US" sz="1200" strike="sngStrike" dirty="0">
                <a:solidFill>
                  <a:srgbClr val="5B6B69"/>
                </a:solidFill>
                <a:latin typeface="Calibri" pitchFamily="34" charset="0"/>
                <a:ea typeface="Calibri" pitchFamily="34" charset="-122"/>
                <a:cs typeface="Calibri" pitchFamily="34" charset="-120"/>
              </a:rPr>
              <a:t>Customer, Director, Signatory as subclasses of Person</a:t>
            </a:r>
            <a:endParaRPr lang="en-US" sz="1200" dirty="0"/>
          </a:p>
        </p:txBody>
      </p:sp>
      <p:sp>
        <p:nvSpPr>
          <p:cNvPr id="9" name="Text 7"/>
          <p:cNvSpPr txBox="1"/>
          <p:nvPr/>
        </p:nvSpPr>
        <p:spPr>
          <a:xfrm>
            <a:off x="640080" y="3108960"/>
            <a:ext cx="2240280" cy="228600"/>
          </a:xfrm>
          <a:prstGeom prst="rect">
            <a:avLst/>
          </a:prstGeom>
          <a:noFill/>
          <a:ln/>
        </p:spPr>
        <p:txBody>
          <a:bodyPr wrap="square" lIns="0" tIns="0" rIns="0" bIns="0" rtlCol="0" anchor="ctr"/>
          <a:lstStyle/>
          <a:p>
            <a:pPr indent="0" marL="0">
              <a:buNone/>
            </a:pPr>
            <a:r>
              <a:rPr lang="en-US" sz="1000" b="1" dirty="0">
                <a:solidFill>
                  <a:srgbClr val="B8862F"/>
                </a:solidFill>
                <a:latin typeface="Calibri" pitchFamily="34" charset="0"/>
                <a:ea typeface="Calibri" pitchFamily="34" charset="-122"/>
                <a:cs typeface="Calibri" pitchFamily="34" charset="-120"/>
              </a:rPr>
              <a:t>After research</a:t>
            </a:r>
            <a:endParaRPr lang="en-US" sz="1000" dirty="0"/>
          </a:p>
        </p:txBody>
      </p:sp>
      <p:sp>
        <p:nvSpPr>
          <p:cNvPr id="10" name="Text 8"/>
          <p:cNvSpPr txBox="1"/>
          <p:nvPr/>
        </p:nvSpPr>
        <p:spPr>
          <a:xfrm>
            <a:off x="640080" y="3337560"/>
            <a:ext cx="2240280" cy="1143000"/>
          </a:xfrm>
          <a:prstGeom prst="rect">
            <a:avLst/>
          </a:prstGeom>
          <a:noFill/>
          <a:ln/>
        </p:spPr>
        <p:txBody>
          <a:bodyPr wrap="square" lIns="0" tIns="0" rIns="0" bIns="0" rtlCol="0" anchor="t"/>
          <a:lstStyle/>
          <a:p>
            <a:pPr indent="0" marL="0">
              <a:buNone/>
            </a:pPr>
            <a:r>
              <a:rPr lang="en-US" sz="1200" b="1" dirty="0">
                <a:solidFill>
                  <a:srgbClr val="1D2B2A"/>
                </a:solidFill>
                <a:latin typeface="Calibri" pitchFamily="34" charset="0"/>
                <a:ea typeface="Calibri" pitchFamily="34" charset="-122"/>
                <a:cs typeface="Calibri" pitchFamily="34" charset="-120"/>
              </a:rPr>
              <a:t>One Person record; roles are dated objects (Mandate, OfficerRole)</a:t>
            </a:r>
            <a:endParaRPr lang="en-US" sz="1200" dirty="0"/>
          </a:p>
        </p:txBody>
      </p:sp>
      <p:sp>
        <p:nvSpPr>
          <p:cNvPr id="11" name="Shape 9"/>
          <p:cNvSpPr/>
          <p:nvPr/>
        </p:nvSpPr>
        <p:spPr>
          <a:xfrm>
            <a:off x="3246120" y="1280160"/>
            <a:ext cx="2606040" cy="3291840"/>
          </a:xfrm>
          <a:prstGeom prst="roundRect">
            <a:avLst>
              <a:gd name="adj" fmla="val 2807"/>
            </a:avLst>
          </a:prstGeom>
          <a:solidFill>
            <a:srgbClr val="E8F0EE"/>
          </a:solidFill>
          <a:ln w="12700">
            <a:solidFill>
              <a:srgbClr val="E8F0EE"/>
            </a:solidFill>
            <a:prstDash val="solid"/>
          </a:ln>
        </p:spPr>
      </p:sp>
      <p:sp>
        <p:nvSpPr>
          <p:cNvPr id="12" name="Text 10"/>
          <p:cNvSpPr txBox="1"/>
          <p:nvPr/>
        </p:nvSpPr>
        <p:spPr>
          <a:xfrm>
            <a:off x="3429000" y="1417320"/>
            <a:ext cx="2240280" cy="548640"/>
          </a:xfrm>
          <a:prstGeom prst="rect">
            <a:avLst/>
          </a:prstGeom>
          <a:noFill/>
          <a:ln/>
        </p:spPr>
        <p:txBody>
          <a:bodyPr wrap="square" lIns="0" tIns="0" rIns="0" bIns="0" rtlCol="0" anchor="t"/>
          <a:lstStyle/>
          <a:p>
            <a:pPr indent="0" marL="0">
              <a:buNone/>
            </a:pPr>
            <a:r>
              <a:rPr lang="en-US" sz="1500" b="1" dirty="0">
                <a:solidFill>
                  <a:srgbClr val="0B4F4A"/>
                </a:solidFill>
                <a:latin typeface="Cambria" pitchFamily="34" charset="0"/>
                <a:ea typeface="Cambria" pitchFamily="34" charset="-122"/>
                <a:cs typeface="Cambria" pitchFamily="34" charset="-120"/>
              </a:rPr>
              <a:t>Nothing is erased</a:t>
            </a:r>
            <a:endParaRPr lang="en-US" sz="1500" dirty="0"/>
          </a:p>
        </p:txBody>
      </p:sp>
      <p:sp>
        <p:nvSpPr>
          <p:cNvPr id="13" name="Text 11"/>
          <p:cNvSpPr txBox="1"/>
          <p:nvPr/>
        </p:nvSpPr>
        <p:spPr>
          <a:xfrm>
            <a:off x="3429000" y="2011680"/>
            <a:ext cx="2240280" cy="228600"/>
          </a:xfrm>
          <a:prstGeom prst="rect">
            <a:avLst/>
          </a:prstGeom>
          <a:noFill/>
          <a:ln/>
        </p:spPr>
        <p:txBody>
          <a:bodyPr wrap="square" lIns="0" tIns="0" rIns="0" bIns="0" rtlCol="0" anchor="ctr"/>
          <a:lstStyle/>
          <a:p>
            <a:pPr indent="0" marL="0">
              <a:buNone/>
            </a:pPr>
            <a:r>
              <a:rPr lang="en-US" sz="1000" b="1" dirty="0">
                <a:solidFill>
                  <a:srgbClr val="5B6B69"/>
                </a:solidFill>
                <a:latin typeface="Calibri" pitchFamily="34" charset="0"/>
                <a:ea typeface="Calibri" pitchFamily="34" charset="-122"/>
                <a:cs typeface="Calibri" pitchFamily="34" charset="-120"/>
              </a:rPr>
              <a:t>First idea</a:t>
            </a:r>
            <a:endParaRPr lang="en-US" sz="1000" dirty="0"/>
          </a:p>
        </p:txBody>
      </p:sp>
      <p:sp>
        <p:nvSpPr>
          <p:cNvPr id="14" name="Text 12"/>
          <p:cNvSpPr txBox="1"/>
          <p:nvPr/>
        </p:nvSpPr>
        <p:spPr>
          <a:xfrm>
            <a:off x="3429000" y="2240280"/>
            <a:ext cx="2240280" cy="822960"/>
          </a:xfrm>
          <a:prstGeom prst="rect">
            <a:avLst/>
          </a:prstGeom>
          <a:noFill/>
          <a:ln/>
        </p:spPr>
        <p:txBody>
          <a:bodyPr wrap="square" lIns="0" tIns="0" rIns="0" bIns="0" rtlCol="0" anchor="t"/>
          <a:lstStyle/>
          <a:p>
            <a:pPr indent="0" marL="0">
              <a:buNone/>
            </a:pPr>
            <a:r>
              <a:rPr lang="en-US" sz="1200" strike="sngStrike" dirty="0">
                <a:solidFill>
                  <a:srgbClr val="5B6B69"/>
                </a:solidFill>
                <a:latin typeface="Calibri" pitchFamily="34" charset="0"/>
                <a:ea typeface="Calibri" pitchFamily="34" charset="-122"/>
                <a:cs typeface="Calibri" pitchFamily="34" charset="-120"/>
              </a:rPr>
              <a:t>Mark a wrong payment as “refunded”</a:t>
            </a:r>
            <a:endParaRPr lang="en-US" sz="1200" dirty="0"/>
          </a:p>
        </p:txBody>
      </p:sp>
      <p:sp>
        <p:nvSpPr>
          <p:cNvPr id="15" name="Text 13"/>
          <p:cNvSpPr txBox="1"/>
          <p:nvPr/>
        </p:nvSpPr>
        <p:spPr>
          <a:xfrm>
            <a:off x="3429000" y="3108960"/>
            <a:ext cx="2240280" cy="228600"/>
          </a:xfrm>
          <a:prstGeom prst="rect">
            <a:avLst/>
          </a:prstGeom>
          <a:noFill/>
          <a:ln/>
        </p:spPr>
        <p:txBody>
          <a:bodyPr wrap="square" lIns="0" tIns="0" rIns="0" bIns="0" rtlCol="0" anchor="ctr"/>
          <a:lstStyle/>
          <a:p>
            <a:pPr indent="0" marL="0">
              <a:buNone/>
            </a:pPr>
            <a:r>
              <a:rPr lang="en-US" sz="1000" b="1" dirty="0">
                <a:solidFill>
                  <a:srgbClr val="B8862F"/>
                </a:solidFill>
                <a:latin typeface="Calibri" pitchFamily="34" charset="0"/>
                <a:ea typeface="Calibri" pitchFamily="34" charset="-122"/>
                <a:cs typeface="Calibri" pitchFamily="34" charset="-120"/>
              </a:rPr>
              <a:t>After research</a:t>
            </a:r>
            <a:endParaRPr lang="en-US" sz="1000" dirty="0"/>
          </a:p>
        </p:txBody>
      </p:sp>
      <p:sp>
        <p:nvSpPr>
          <p:cNvPr id="16" name="Text 14"/>
          <p:cNvSpPr txBox="1"/>
          <p:nvPr/>
        </p:nvSpPr>
        <p:spPr>
          <a:xfrm>
            <a:off x="3429000" y="3337560"/>
            <a:ext cx="2240280" cy="1143000"/>
          </a:xfrm>
          <a:prstGeom prst="rect">
            <a:avLst/>
          </a:prstGeom>
          <a:noFill/>
          <a:ln/>
        </p:spPr>
        <p:txBody>
          <a:bodyPr wrap="square" lIns="0" tIns="0" rIns="0" bIns="0" rtlCol="0" anchor="t"/>
          <a:lstStyle/>
          <a:p>
            <a:pPr indent="0" marL="0">
              <a:buNone/>
            </a:pPr>
            <a:r>
              <a:rPr lang="en-US" sz="1200" b="1" dirty="0">
                <a:solidFill>
                  <a:srgbClr val="1D2B2A"/>
                </a:solidFill>
                <a:latin typeface="Calibri" pitchFamily="34" charset="0"/>
                <a:ea typeface="Calibri" pitchFamily="34" charset="-122"/>
                <a:cs typeface="Calibri" pitchFamily="34" charset="-120"/>
              </a:rPr>
              <a:t>Reversal and Chargeback: new transactions linked to the original</a:t>
            </a:r>
            <a:endParaRPr lang="en-US" sz="1200" dirty="0"/>
          </a:p>
        </p:txBody>
      </p:sp>
      <p:sp>
        <p:nvSpPr>
          <p:cNvPr id="17" name="Shape 15"/>
          <p:cNvSpPr/>
          <p:nvPr/>
        </p:nvSpPr>
        <p:spPr>
          <a:xfrm>
            <a:off x="6035040" y="1280160"/>
            <a:ext cx="2606040" cy="3291840"/>
          </a:xfrm>
          <a:prstGeom prst="roundRect">
            <a:avLst>
              <a:gd name="adj" fmla="val 2807"/>
            </a:avLst>
          </a:prstGeom>
          <a:solidFill>
            <a:srgbClr val="E8F0EE"/>
          </a:solidFill>
          <a:ln w="12700">
            <a:solidFill>
              <a:srgbClr val="E8F0EE"/>
            </a:solidFill>
            <a:prstDash val="solid"/>
          </a:ln>
        </p:spPr>
      </p:sp>
      <p:sp>
        <p:nvSpPr>
          <p:cNvPr id="18" name="Text 16"/>
          <p:cNvSpPr txBox="1"/>
          <p:nvPr/>
        </p:nvSpPr>
        <p:spPr>
          <a:xfrm>
            <a:off x="6217920" y="1417320"/>
            <a:ext cx="2240280" cy="548640"/>
          </a:xfrm>
          <a:prstGeom prst="rect">
            <a:avLst/>
          </a:prstGeom>
          <a:noFill/>
          <a:ln/>
        </p:spPr>
        <p:txBody>
          <a:bodyPr wrap="square" lIns="0" tIns="0" rIns="0" bIns="0" rtlCol="0" anchor="t"/>
          <a:lstStyle/>
          <a:p>
            <a:pPr indent="0" marL="0">
              <a:buNone/>
            </a:pPr>
            <a:r>
              <a:rPr lang="en-US" sz="1500" b="1" dirty="0">
                <a:solidFill>
                  <a:srgbClr val="0B4F4A"/>
                </a:solidFill>
                <a:latin typeface="Cambria" pitchFamily="34" charset="0"/>
                <a:ea typeface="Cambria" pitchFamily="34" charset="-122"/>
                <a:cs typeface="Cambria" pitchFamily="34" charset="-120"/>
              </a:rPr>
              <a:t>Offer ≠ what a customer holds</a:t>
            </a:r>
            <a:endParaRPr lang="en-US" sz="1500" dirty="0"/>
          </a:p>
        </p:txBody>
      </p:sp>
      <p:sp>
        <p:nvSpPr>
          <p:cNvPr id="19" name="Text 17"/>
          <p:cNvSpPr txBox="1"/>
          <p:nvPr/>
        </p:nvSpPr>
        <p:spPr>
          <a:xfrm>
            <a:off x="6217920" y="2011680"/>
            <a:ext cx="2240280" cy="228600"/>
          </a:xfrm>
          <a:prstGeom prst="rect">
            <a:avLst/>
          </a:prstGeom>
          <a:noFill/>
          <a:ln/>
        </p:spPr>
        <p:txBody>
          <a:bodyPr wrap="square" lIns="0" tIns="0" rIns="0" bIns="0" rtlCol="0" anchor="ctr"/>
          <a:lstStyle/>
          <a:p>
            <a:pPr indent="0" marL="0">
              <a:buNone/>
            </a:pPr>
            <a:r>
              <a:rPr lang="en-US" sz="1000" b="1" dirty="0">
                <a:solidFill>
                  <a:srgbClr val="5B6B69"/>
                </a:solidFill>
                <a:latin typeface="Calibri" pitchFamily="34" charset="0"/>
                <a:ea typeface="Calibri" pitchFamily="34" charset="-122"/>
                <a:cs typeface="Calibri" pitchFamily="34" charset="-120"/>
              </a:rPr>
              <a:t>First idea</a:t>
            </a:r>
            <a:endParaRPr lang="en-US" sz="1000" dirty="0"/>
          </a:p>
        </p:txBody>
      </p:sp>
      <p:sp>
        <p:nvSpPr>
          <p:cNvPr id="20" name="Text 18"/>
          <p:cNvSpPr txBox="1"/>
          <p:nvPr/>
        </p:nvSpPr>
        <p:spPr>
          <a:xfrm>
            <a:off x="6217920" y="2240280"/>
            <a:ext cx="2240280" cy="822960"/>
          </a:xfrm>
          <a:prstGeom prst="rect">
            <a:avLst/>
          </a:prstGeom>
          <a:noFill/>
          <a:ln/>
        </p:spPr>
        <p:txBody>
          <a:bodyPr wrap="square" lIns="0" tIns="0" rIns="0" bIns="0" rtlCol="0" anchor="t"/>
          <a:lstStyle/>
          <a:p>
            <a:pPr indent="0" marL="0">
              <a:buNone/>
            </a:pPr>
            <a:r>
              <a:rPr lang="en-US" sz="1200" strike="sngStrike" dirty="0">
                <a:solidFill>
                  <a:srgbClr val="5B6B69"/>
                </a:solidFill>
                <a:latin typeface="Calibri" pitchFamily="34" charset="0"/>
                <a:ea typeface="Calibri" pitchFamily="34" charset="-122"/>
                <a:cs typeface="Calibri" pitchFamily="34" charset="-120"/>
              </a:rPr>
              <a:t>One class for a product and a customer’s account</a:t>
            </a:r>
            <a:endParaRPr lang="en-US" sz="1200" dirty="0"/>
          </a:p>
        </p:txBody>
      </p:sp>
      <p:sp>
        <p:nvSpPr>
          <p:cNvPr id="21" name="Text 19"/>
          <p:cNvSpPr txBox="1"/>
          <p:nvPr/>
        </p:nvSpPr>
        <p:spPr>
          <a:xfrm>
            <a:off x="6217920" y="3108960"/>
            <a:ext cx="2240280" cy="228600"/>
          </a:xfrm>
          <a:prstGeom prst="rect">
            <a:avLst/>
          </a:prstGeom>
          <a:noFill/>
          <a:ln/>
        </p:spPr>
        <p:txBody>
          <a:bodyPr wrap="square" lIns="0" tIns="0" rIns="0" bIns="0" rtlCol="0" anchor="ctr"/>
          <a:lstStyle/>
          <a:p>
            <a:pPr indent="0" marL="0">
              <a:buNone/>
            </a:pPr>
            <a:r>
              <a:rPr lang="en-US" sz="1000" b="1" dirty="0">
                <a:solidFill>
                  <a:srgbClr val="B8862F"/>
                </a:solidFill>
                <a:latin typeface="Calibri" pitchFamily="34" charset="0"/>
                <a:ea typeface="Calibri" pitchFamily="34" charset="-122"/>
                <a:cs typeface="Calibri" pitchFamily="34" charset="-120"/>
              </a:rPr>
              <a:t>After research</a:t>
            </a:r>
            <a:endParaRPr lang="en-US" sz="1000" dirty="0"/>
          </a:p>
        </p:txBody>
      </p:sp>
      <p:sp>
        <p:nvSpPr>
          <p:cNvPr id="22" name="Text 20"/>
          <p:cNvSpPr txBox="1"/>
          <p:nvPr/>
        </p:nvSpPr>
        <p:spPr>
          <a:xfrm>
            <a:off x="6217920" y="3337560"/>
            <a:ext cx="2240280" cy="1143000"/>
          </a:xfrm>
          <a:prstGeom prst="rect">
            <a:avLst/>
          </a:prstGeom>
          <a:noFill/>
          <a:ln/>
        </p:spPr>
        <p:txBody>
          <a:bodyPr wrap="square" lIns="0" tIns="0" rIns="0" bIns="0" rtlCol="0" anchor="t"/>
          <a:lstStyle/>
          <a:p>
            <a:pPr indent="0" marL="0">
              <a:buNone/>
            </a:pPr>
            <a:r>
              <a:rPr lang="en-US" sz="1200" b="1" dirty="0">
                <a:solidFill>
                  <a:srgbClr val="1D2B2A"/>
                </a:solidFill>
                <a:latin typeface="Calibri" pitchFamily="34" charset="0"/>
                <a:ea typeface="Calibri" pitchFamily="34" charset="-122"/>
                <a:cs typeface="Calibri" pitchFamily="34" charset="-120"/>
              </a:rPr>
              <a:t>ProductDefinition (versioned terms) vs Arrangement (pins its version)</a:t>
            </a: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502920"/>
          </a:xfrm>
          <a:prstGeom prst="rect">
            <a:avLst/>
          </a:prstGeom>
          <a:noFill/>
          <a:ln/>
        </p:spPr>
        <p:txBody>
          <a:bodyPr wrap="square" lIns="0" tIns="0" rIns="0" bIns="0" rtlCol="0" anchor="ctr"/>
          <a:lstStyle/>
          <a:p>
            <a:pPr indent="0" marL="0">
              <a:buNone/>
            </a:pPr>
            <a:r>
              <a:rPr lang="en-US" sz="2600" b="1" dirty="0">
                <a:solidFill>
                  <a:srgbClr val="0B4F4A"/>
                </a:solidFill>
                <a:latin typeface="Cambria" pitchFamily="34" charset="0"/>
                <a:ea typeface="Cambria" pitchFamily="34" charset="-122"/>
                <a:cs typeface="Cambria" pitchFamily="34" charset="-120"/>
              </a:rPr>
              <a:t>Class model after research</a:t>
            </a:r>
            <a:endParaRPr lang="en-US" sz="2600" dirty="0"/>
          </a:p>
        </p:txBody>
      </p:sp>
      <p:sp>
        <p:nvSpPr>
          <p:cNvPr id="3" name="Text 1"/>
          <p:cNvSpPr txBox="1"/>
          <p:nvPr/>
        </p:nvSpPr>
        <p:spPr>
          <a:xfrm>
            <a:off x="457200" y="841248"/>
            <a:ext cx="8229600" cy="274320"/>
          </a:xfrm>
          <a:prstGeom prst="rect">
            <a:avLst/>
          </a:prstGeom>
          <a:noFill/>
          <a:ln/>
        </p:spPr>
        <p:txBody>
          <a:bodyPr wrap="square" lIns="0" tIns="0" rIns="0" bIns="0" rtlCol="0" anchor="ctr"/>
          <a:lstStyle/>
          <a:p>
            <a:pPr indent="0" marL="0">
              <a:buNone/>
            </a:pPr>
            <a:r>
              <a:rPr lang="en-US" sz="1200" i="1" dirty="0">
                <a:solidFill>
                  <a:srgbClr val="5B6B69"/>
                </a:solidFill>
                <a:latin typeface="Calibri" pitchFamily="34" charset="0"/>
                <a:ea typeface="Calibri" pitchFamily="34" charset="-122"/>
                <a:cs typeface="Calibri" pitchFamily="34" charset="-120"/>
              </a:rPr>
              <a:t>Four hierarchies (inheritance) plus standalone classes linked by association</a:t>
            </a:r>
            <a:endParaRPr lang="en-US" sz="1200" dirty="0"/>
          </a:p>
        </p:txBody>
      </p:sp>
      <p:sp>
        <p:nvSpPr>
          <p:cNvPr id="4" name="Text 2"/>
          <p:cNvSpPr txBox="1"/>
          <p:nvPr/>
        </p:nvSpPr>
        <p:spPr>
          <a:xfrm>
            <a:off x="5120640" y="91440"/>
            <a:ext cx="3657600" cy="228600"/>
          </a:xfrm>
          <a:prstGeom prst="rect">
            <a:avLst/>
          </a:prstGeom>
          <a:noFill/>
          <a:ln/>
        </p:spPr>
        <p:txBody>
          <a:bodyPr wrap="square" lIns="0" tIns="0" rIns="0" bIns="0" rtlCol="0" anchor="ctr"/>
          <a:lstStyle/>
          <a:p>
            <a:pPr algn="r" indent="0" marL="0">
              <a:buNone/>
            </a:pPr>
            <a:r>
              <a:rPr lang="en-US" sz="1000" dirty="0">
                <a:solidFill>
                  <a:srgbClr val="9AAAA7"/>
                </a:solidFill>
                <a:latin typeface="Calibri" pitchFamily="34" charset="0"/>
                <a:ea typeface="Calibri" pitchFamily="34" charset="-122"/>
                <a:cs typeface="Calibri" pitchFamily="34" charset="-120"/>
              </a:rPr>
              <a:t>Progress</a:t>
            </a:r>
            <a:pPr algn="r" indent="0" marL="0">
              <a:buNone/>
            </a:pPr>
            <a:r>
              <a:rPr lang="en-US" sz="1000" dirty="0">
                <a:solidFill>
                  <a:srgbClr val="9AAAA7"/>
                </a:solidFill>
                <a:latin typeface="Calibri" pitchFamily="34" charset="0"/>
                <a:ea typeface="Calibri" pitchFamily="34" charset="-122"/>
                <a:cs typeface="Calibri" pitchFamily="34" charset="-120"/>
              </a:rPr>
              <a:t>  ›  Research</a:t>
            </a:r>
            <a:pPr algn="r" indent="0" marL="0">
              <a:buNone/>
            </a:pPr>
            <a:r>
              <a:rPr lang="en-US" sz="1000" b="1" dirty="0">
                <a:solidFill>
                  <a:srgbClr val="B8862F"/>
                </a:solidFill>
                <a:latin typeface="Calibri" pitchFamily="34" charset="0"/>
                <a:ea typeface="Calibri" pitchFamily="34" charset="-122"/>
                <a:cs typeface="Calibri" pitchFamily="34" charset="-120"/>
              </a:rPr>
              <a:t>  ›  Design</a:t>
            </a:r>
            <a:pPr algn="r" indent="0" marL="0">
              <a:buNone/>
            </a:pPr>
            <a:r>
              <a:rPr lang="en-US" sz="1000" dirty="0">
                <a:solidFill>
                  <a:srgbClr val="9AAAA7"/>
                </a:solidFill>
                <a:latin typeface="Calibri" pitchFamily="34" charset="0"/>
                <a:ea typeface="Calibri" pitchFamily="34" charset="-122"/>
                <a:cs typeface="Calibri" pitchFamily="34" charset="-120"/>
              </a:rPr>
              <a:t>  ›  Build</a:t>
            </a:r>
            <a:pPr algn="r" indent="0" marL="0">
              <a:buNone/>
            </a:pPr>
            <a:r>
              <a:rPr lang="en-US" sz="1000" dirty="0">
                <a:solidFill>
                  <a:srgbClr val="9AAAA7"/>
                </a:solidFill>
                <a:latin typeface="Calibri" pitchFamily="34" charset="0"/>
                <a:ea typeface="Calibri" pitchFamily="34" charset="-122"/>
                <a:cs typeface="Calibri" pitchFamily="34" charset="-120"/>
              </a:rPr>
              <a:t>  ›  Next</a:t>
            </a:r>
            <a:endParaRPr lang="en-US" sz="1000" dirty="0"/>
          </a:p>
        </p:txBody>
      </p:sp>
      <p:pic>
        <p:nvPicPr>
          <p:cNvPr id="5" name="Image 0" descr="/home/user/commercial-banking/docs/class_diagram.png">    </p:cNvPr>
          <p:cNvPicPr>
            <a:picLocks noChangeAspect="1"/>
          </p:cNvPicPr>
          <p:nvPr/>
        </p:nvPicPr>
        <p:blipFill>
          <a:blip r:embed="rId1"/>
          <a:stretch>
            <a:fillRect/>
          </a:stretch>
        </p:blipFill>
        <p:spPr>
          <a:xfrm>
            <a:off x="380426" y="1188720"/>
            <a:ext cx="8383148" cy="3429000"/>
          </a:xfrm>
          <a:prstGeom prst="rect">
            <a:avLst/>
          </a:prstGeom>
        </p:spPr>
      </p:pic>
      <p:sp>
        <p:nvSpPr>
          <p:cNvPr id="6" name="Text 3"/>
          <p:cNvSpPr txBox="1"/>
          <p:nvPr/>
        </p:nvSpPr>
        <p:spPr>
          <a:xfrm>
            <a:off x="457200" y="4663440"/>
            <a:ext cx="8229600" cy="274320"/>
          </a:xfrm>
          <a:prstGeom prst="rect">
            <a:avLst/>
          </a:prstGeom>
          <a:noFill/>
          <a:ln/>
        </p:spPr>
        <p:txBody>
          <a:bodyPr wrap="square" lIns="0" tIns="0" rIns="0" bIns="0" rtlCol="0" anchor="ctr"/>
          <a:lstStyle/>
          <a:p>
            <a:pPr indent="0" marL="0">
              <a:buNone/>
            </a:pPr>
            <a:r>
              <a:rPr lang="en-US" sz="1050" i="1" dirty="0">
                <a:solidFill>
                  <a:srgbClr val="5B6B69"/>
                </a:solidFill>
                <a:latin typeface="Calibri" pitchFamily="34" charset="0"/>
                <a:ea typeface="Calibri" pitchFamily="34" charset="-122"/>
                <a:cs typeface="Calibri" pitchFamily="34" charset="-120"/>
              </a:rPr>
              <a:t>Inheritance only for a true “is-a”; everything else is association</a:t>
            </a:r>
            <a:endParaRPr lang="en-US" sz="10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502920"/>
          </a:xfrm>
          <a:prstGeom prst="rect">
            <a:avLst/>
          </a:prstGeom>
          <a:noFill/>
          <a:ln/>
        </p:spPr>
        <p:txBody>
          <a:bodyPr wrap="square" lIns="0" tIns="0" rIns="0" bIns="0" rtlCol="0" anchor="ctr"/>
          <a:lstStyle/>
          <a:p>
            <a:pPr indent="0" marL="0">
              <a:buNone/>
            </a:pPr>
            <a:r>
              <a:rPr lang="en-US" sz="2300" b="1" dirty="0">
                <a:solidFill>
                  <a:srgbClr val="0B4F4A"/>
                </a:solidFill>
                <a:latin typeface="Cambria" pitchFamily="34" charset="0"/>
                <a:ea typeface="Cambria" pitchFamily="34" charset="-122"/>
                <a:cs typeface="Cambria" pitchFamily="34" charset="-120"/>
              </a:rPr>
              <a:t>Multi-level inheritance, and what I rejected</a:t>
            </a:r>
            <a:endParaRPr lang="en-US" sz="2300" dirty="0"/>
          </a:p>
        </p:txBody>
      </p:sp>
      <p:sp>
        <p:nvSpPr>
          <p:cNvPr id="3" name="Text 1"/>
          <p:cNvSpPr txBox="1"/>
          <p:nvPr/>
        </p:nvSpPr>
        <p:spPr>
          <a:xfrm>
            <a:off x="457200" y="841248"/>
            <a:ext cx="8229600" cy="274320"/>
          </a:xfrm>
          <a:prstGeom prst="rect">
            <a:avLst/>
          </a:prstGeom>
          <a:noFill/>
          <a:ln/>
        </p:spPr>
        <p:txBody>
          <a:bodyPr wrap="square" lIns="0" tIns="0" rIns="0" bIns="0" rtlCol="0" anchor="ctr"/>
          <a:lstStyle/>
          <a:p>
            <a:pPr indent="0" marL="0">
              <a:buNone/>
            </a:pPr>
            <a:r>
              <a:rPr lang="en-US" sz="1200" i="1" dirty="0">
                <a:solidFill>
                  <a:srgbClr val="5B6B69"/>
                </a:solidFill>
                <a:latin typeface="Calibri" pitchFamily="34" charset="0"/>
                <a:ea typeface="Calibri" pitchFamily="34" charset="-122"/>
                <a:cs typeface="Calibri" pitchFamily="34" charset="-120"/>
              </a:rPr>
              <a:t>UML: shared data sits at the highest level where every subclass needs it</a:t>
            </a:r>
            <a:endParaRPr lang="en-US" sz="1200" dirty="0"/>
          </a:p>
        </p:txBody>
      </p:sp>
      <p:sp>
        <p:nvSpPr>
          <p:cNvPr id="4" name="Text 2"/>
          <p:cNvSpPr txBox="1"/>
          <p:nvPr/>
        </p:nvSpPr>
        <p:spPr>
          <a:xfrm>
            <a:off x="5120640" y="91440"/>
            <a:ext cx="3657600" cy="228600"/>
          </a:xfrm>
          <a:prstGeom prst="rect">
            <a:avLst/>
          </a:prstGeom>
          <a:noFill/>
          <a:ln/>
        </p:spPr>
        <p:txBody>
          <a:bodyPr wrap="square" lIns="0" tIns="0" rIns="0" bIns="0" rtlCol="0" anchor="ctr"/>
          <a:lstStyle/>
          <a:p>
            <a:pPr algn="r" indent="0" marL="0">
              <a:buNone/>
            </a:pPr>
            <a:r>
              <a:rPr lang="en-US" sz="1000" dirty="0">
                <a:solidFill>
                  <a:srgbClr val="9AAAA7"/>
                </a:solidFill>
                <a:latin typeface="Calibri" pitchFamily="34" charset="0"/>
                <a:ea typeface="Calibri" pitchFamily="34" charset="-122"/>
                <a:cs typeface="Calibri" pitchFamily="34" charset="-120"/>
              </a:rPr>
              <a:t>Progress</a:t>
            </a:r>
            <a:pPr algn="r" indent="0" marL="0">
              <a:buNone/>
            </a:pPr>
            <a:r>
              <a:rPr lang="en-US" sz="1000" dirty="0">
                <a:solidFill>
                  <a:srgbClr val="9AAAA7"/>
                </a:solidFill>
                <a:latin typeface="Calibri" pitchFamily="34" charset="0"/>
                <a:ea typeface="Calibri" pitchFamily="34" charset="-122"/>
                <a:cs typeface="Calibri" pitchFamily="34" charset="-120"/>
              </a:rPr>
              <a:t>  ›  Research</a:t>
            </a:r>
            <a:pPr algn="r" indent="0" marL="0">
              <a:buNone/>
            </a:pPr>
            <a:r>
              <a:rPr lang="en-US" sz="1000" b="1" dirty="0">
                <a:solidFill>
                  <a:srgbClr val="B8862F"/>
                </a:solidFill>
                <a:latin typeface="Calibri" pitchFamily="34" charset="0"/>
                <a:ea typeface="Calibri" pitchFamily="34" charset="-122"/>
                <a:cs typeface="Calibri" pitchFamily="34" charset="-120"/>
              </a:rPr>
              <a:t>  ›  Design</a:t>
            </a:r>
            <a:pPr algn="r" indent="0" marL="0">
              <a:buNone/>
            </a:pPr>
            <a:r>
              <a:rPr lang="en-US" sz="1000" dirty="0">
                <a:solidFill>
                  <a:srgbClr val="9AAAA7"/>
                </a:solidFill>
                <a:latin typeface="Calibri" pitchFamily="34" charset="0"/>
                <a:ea typeface="Calibri" pitchFamily="34" charset="-122"/>
                <a:cs typeface="Calibri" pitchFamily="34" charset="-120"/>
              </a:rPr>
              <a:t>  ›  Build</a:t>
            </a:r>
            <a:pPr algn="r" indent="0" marL="0">
              <a:buNone/>
            </a:pPr>
            <a:r>
              <a:rPr lang="en-US" sz="1000" dirty="0">
                <a:solidFill>
                  <a:srgbClr val="9AAAA7"/>
                </a:solidFill>
                <a:latin typeface="Calibri" pitchFamily="34" charset="0"/>
                <a:ea typeface="Calibri" pitchFamily="34" charset="-122"/>
                <a:cs typeface="Calibri" pitchFamily="34" charset="-120"/>
              </a:rPr>
              <a:t>  ›  Next</a:t>
            </a:r>
            <a:endParaRPr lang="en-US" sz="1000" dirty="0"/>
          </a:p>
        </p:txBody>
      </p:sp>
      <p:pic>
        <p:nvPicPr>
          <p:cNvPr id="5" name="Image 0" descr="/home/user/commercial-banking/docs/uml_parties.png">    </p:cNvPr>
          <p:cNvPicPr>
            <a:picLocks noChangeAspect="1"/>
          </p:cNvPicPr>
          <p:nvPr/>
        </p:nvPicPr>
        <p:blipFill>
          <a:blip r:embed="rId1"/>
          <a:stretch>
            <a:fillRect/>
          </a:stretch>
        </p:blipFill>
        <p:spPr>
          <a:xfrm>
            <a:off x="365760" y="1434093"/>
            <a:ext cx="2743200" cy="2343894"/>
          </a:xfrm>
          <a:prstGeom prst="rect">
            <a:avLst/>
          </a:prstGeom>
        </p:spPr>
      </p:pic>
      <p:pic>
        <p:nvPicPr>
          <p:cNvPr id="6" name="Image 1" descr="/home/user/commercial-banking/docs/uml_arrangements.png">    </p:cNvPr>
          <p:cNvPicPr>
            <a:picLocks noChangeAspect="1"/>
          </p:cNvPicPr>
          <p:nvPr/>
        </p:nvPicPr>
        <p:blipFill>
          <a:blip r:embed="rId2"/>
          <a:stretch>
            <a:fillRect/>
          </a:stretch>
        </p:blipFill>
        <p:spPr>
          <a:xfrm>
            <a:off x="3200400" y="1353977"/>
            <a:ext cx="2743200" cy="2504125"/>
          </a:xfrm>
          <a:prstGeom prst="rect">
            <a:avLst/>
          </a:prstGeom>
        </p:spPr>
      </p:pic>
      <p:sp>
        <p:nvSpPr>
          <p:cNvPr id="7" name="Text 3"/>
          <p:cNvSpPr txBox="1"/>
          <p:nvPr/>
        </p:nvSpPr>
        <p:spPr>
          <a:xfrm>
            <a:off x="365760" y="4069080"/>
            <a:ext cx="2743200" cy="274320"/>
          </a:xfrm>
          <a:prstGeom prst="rect">
            <a:avLst/>
          </a:prstGeom>
          <a:noFill/>
          <a:ln/>
        </p:spPr>
        <p:txBody>
          <a:bodyPr wrap="square" lIns="0" tIns="0" rIns="0" bIns="0" rtlCol="0" anchor="ctr"/>
          <a:lstStyle/>
          <a:p>
            <a:pPr algn="ctr" indent="0" marL="0">
              <a:buNone/>
            </a:pPr>
            <a:r>
              <a:rPr lang="en-US" sz="1050" b="1" dirty="0">
                <a:solidFill>
                  <a:srgbClr val="0B4F4A"/>
                </a:solidFill>
                <a:latin typeface="Calibri" pitchFamily="34" charset="0"/>
                <a:ea typeface="Calibri" pitchFamily="34" charset="-122"/>
                <a:cs typeface="Calibri" pitchFamily="34" charset="-120"/>
              </a:rPr>
              <a:t>Party › Organization › Company / Charity</a:t>
            </a:r>
            <a:endParaRPr lang="en-US" sz="1050" dirty="0"/>
          </a:p>
        </p:txBody>
      </p:sp>
      <p:sp>
        <p:nvSpPr>
          <p:cNvPr id="8" name="Text 4"/>
          <p:cNvSpPr txBox="1"/>
          <p:nvPr/>
        </p:nvSpPr>
        <p:spPr>
          <a:xfrm>
            <a:off x="3200400" y="4069080"/>
            <a:ext cx="2743200" cy="274320"/>
          </a:xfrm>
          <a:prstGeom prst="rect">
            <a:avLst/>
          </a:prstGeom>
          <a:noFill/>
          <a:ln/>
        </p:spPr>
        <p:txBody>
          <a:bodyPr wrap="square" lIns="0" tIns="0" rIns="0" bIns="0" rtlCol="0" anchor="ctr"/>
          <a:lstStyle/>
          <a:p>
            <a:pPr algn="ctr" indent="0" marL="0">
              <a:buNone/>
            </a:pPr>
            <a:r>
              <a:rPr lang="en-US" sz="1050" b="1" dirty="0">
                <a:solidFill>
                  <a:srgbClr val="0B4F4A"/>
                </a:solidFill>
                <a:latin typeface="Calibri" pitchFamily="34" charset="0"/>
                <a:ea typeface="Calibri" pitchFamily="34" charset="-122"/>
                <a:cs typeface="Calibri" pitchFamily="34" charset="-120"/>
              </a:rPr>
              <a:t>Arrangement › DepositAccount › Current / Savings / Term</a:t>
            </a:r>
            <a:endParaRPr lang="en-US" sz="1050" dirty="0"/>
          </a:p>
        </p:txBody>
      </p:sp>
      <p:sp>
        <p:nvSpPr>
          <p:cNvPr id="9" name="Shape 5"/>
          <p:cNvSpPr/>
          <p:nvPr/>
        </p:nvSpPr>
        <p:spPr>
          <a:xfrm>
            <a:off x="6172200" y="1188720"/>
            <a:ext cx="2606040" cy="3520440"/>
          </a:xfrm>
          <a:prstGeom prst="roundRect">
            <a:avLst>
              <a:gd name="adj" fmla="val 2807"/>
            </a:avLst>
          </a:prstGeom>
          <a:solidFill>
            <a:srgbClr val="E8F0EE"/>
          </a:solidFill>
          <a:ln w="12700">
            <a:solidFill>
              <a:srgbClr val="E8F0EE"/>
            </a:solidFill>
            <a:prstDash val="solid"/>
          </a:ln>
        </p:spPr>
      </p:sp>
      <p:sp>
        <p:nvSpPr>
          <p:cNvPr id="10" name="Text 6"/>
          <p:cNvSpPr txBox="1"/>
          <p:nvPr/>
        </p:nvSpPr>
        <p:spPr>
          <a:xfrm>
            <a:off x="6355080" y="1280160"/>
            <a:ext cx="2286000" cy="320040"/>
          </a:xfrm>
          <a:prstGeom prst="rect">
            <a:avLst/>
          </a:prstGeom>
          <a:noFill/>
          <a:ln/>
        </p:spPr>
        <p:txBody>
          <a:bodyPr wrap="square" lIns="0" tIns="0" rIns="0" bIns="0" rtlCol="0" anchor="ctr"/>
          <a:lstStyle/>
          <a:p>
            <a:pPr indent="0" marL="0">
              <a:buNone/>
            </a:pPr>
            <a:r>
              <a:rPr lang="en-US" sz="1500" b="1" dirty="0">
                <a:solidFill>
                  <a:srgbClr val="B8862F"/>
                </a:solidFill>
                <a:latin typeface="Cambria" pitchFamily="34" charset="0"/>
                <a:ea typeface="Cambria" pitchFamily="34" charset="-122"/>
                <a:cs typeface="Cambria" pitchFamily="34" charset="-120"/>
              </a:rPr>
              <a:t>Rejected</a:t>
            </a:r>
            <a:endParaRPr lang="en-US" sz="1500" dirty="0"/>
          </a:p>
        </p:txBody>
      </p:sp>
      <p:sp>
        <p:nvSpPr>
          <p:cNvPr id="11" name="Text 7"/>
          <p:cNvSpPr txBox="1"/>
          <p:nvPr/>
        </p:nvSpPr>
        <p:spPr>
          <a:xfrm>
            <a:off x="6309360" y="1645920"/>
            <a:ext cx="2377440" cy="3017520"/>
          </a:xfrm>
          <a:prstGeom prst="rect">
            <a:avLst/>
          </a:prstGeom>
          <a:noFill/>
          <a:ln/>
        </p:spPr>
        <p:txBody>
          <a:bodyPr wrap="square" lIns="635" tIns="635" rIns="635" bIns="635" rtlCol="0" anchor="t"/>
          <a:lstStyle/>
          <a:p>
            <a:pPr marL="342900" indent="-342900">
              <a:spcAft>
                <a:spcPts val="600"/>
              </a:spcAft>
              <a:buSzPct val="100000"/>
              <a:buChar char="•"/>
            </a:pPr>
            <a:r>
              <a:rPr lang="en-US" sz="1150" dirty="0">
                <a:solidFill>
                  <a:srgbClr val="1D2B2A"/>
                </a:solidFill>
                <a:latin typeface="Calibri" pitchFamily="34" charset="0"/>
                <a:ea typeface="Calibri" pitchFamily="34" charset="-122"/>
                <a:cs typeface="Calibri" pitchFamily="34" charset="-120"/>
              </a:rPr>
              <a:t>Customer(Person): a role that starts and ends, not a kind of person</a:t>
            </a:r>
            <a:endParaRPr lang="en-US" sz="1150" dirty="0"/>
          </a:p>
          <a:p>
            <a:pPr marL="342900" indent="-342900">
              <a:spcAft>
                <a:spcPts val="600"/>
              </a:spcAft>
              <a:buSzPct val="100000"/>
              <a:buChar char="•"/>
            </a:pPr>
            <a:r>
              <a:rPr lang="en-US" sz="1150" dirty="0">
                <a:solidFill>
                  <a:srgbClr val="1D2B2A"/>
                </a:solidFill>
                <a:latin typeface="Calibri" pitchFamily="34" charset="0"/>
                <a:ea typeface="Calibri" pitchFamily="34" charset="-122"/>
                <a:cs typeface="Calibri" pitchFamily="34" charset="-120"/>
              </a:rPr>
              <a:t>Card(Account): a card holds no money; it is linked to an account</a:t>
            </a:r>
            <a:endParaRPr lang="en-US" sz="1150" dirty="0"/>
          </a:p>
          <a:p>
            <a:pPr marL="342900" indent="-342900">
              <a:spcAft>
                <a:spcPts val="600"/>
              </a:spcAft>
              <a:buSzPct val="100000"/>
              <a:buChar char="•"/>
            </a:pPr>
            <a:r>
              <a:rPr lang="en-US" sz="1150" dirty="0">
                <a:solidFill>
                  <a:srgbClr val="1D2B2A"/>
                </a:solidFill>
                <a:latin typeface="Calibri" pitchFamily="34" charset="0"/>
                <a:ea typeface="Calibri" pitchFamily="34" charset="-122"/>
                <a:cs typeface="Calibri" pitchFamily="34" charset="-120"/>
              </a:rPr>
              <a:t>SoleTrader(Organization): legally the person is liable</a:t>
            </a:r>
            <a:endParaRPr lang="en-US" sz="1150" dirty="0"/>
          </a:p>
          <a:p>
            <a:pPr marL="342900" indent="-342900">
              <a:spcAft>
                <a:spcPts val="600"/>
              </a:spcAft>
              <a:buSzPct val="100000"/>
              <a:buChar char="•"/>
            </a:pPr>
            <a:r>
              <a:rPr lang="en-US" sz="1150" dirty="0">
                <a:solidFill>
                  <a:srgbClr val="1D2B2A"/>
                </a:solidFill>
                <a:latin typeface="Calibri" pitchFamily="34" charset="0"/>
                <a:ea typeface="Calibri" pitchFamily="34" charset="-122"/>
                <a:cs typeface="Calibri" pitchFamily="34" charset="-120"/>
              </a:rPr>
              <a:t>MerchantRefund(Reversal): the purchase stays valid</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502920"/>
          </a:xfrm>
          <a:prstGeom prst="rect">
            <a:avLst/>
          </a:prstGeom>
          <a:noFill/>
          <a:ln/>
        </p:spPr>
        <p:txBody>
          <a:bodyPr wrap="square" lIns="0" tIns="0" rIns="0" bIns="0" rtlCol="0" anchor="ctr"/>
          <a:lstStyle/>
          <a:p>
            <a:pPr indent="0" marL="0">
              <a:buNone/>
            </a:pPr>
            <a:r>
              <a:rPr lang="en-US" sz="2300" b="1" dirty="0">
                <a:solidFill>
                  <a:srgbClr val="0B4F4A"/>
                </a:solidFill>
                <a:latin typeface="Cambria" pitchFamily="34" charset="0"/>
                <a:ea typeface="Cambria" pitchFamily="34" charset="-122"/>
                <a:cs typeface="Cambria" pitchFamily="34" charset="-120"/>
              </a:rPr>
              <a:t>One workflow end to end: a large transfer</a:t>
            </a:r>
            <a:endParaRPr lang="en-US" sz="2300" dirty="0"/>
          </a:p>
        </p:txBody>
      </p:sp>
      <p:sp>
        <p:nvSpPr>
          <p:cNvPr id="3" name="Text 1"/>
          <p:cNvSpPr txBox="1"/>
          <p:nvPr/>
        </p:nvSpPr>
        <p:spPr>
          <a:xfrm>
            <a:off x="457200" y="841248"/>
            <a:ext cx="8229600" cy="274320"/>
          </a:xfrm>
          <a:prstGeom prst="rect">
            <a:avLst/>
          </a:prstGeom>
          <a:noFill/>
          <a:ln/>
        </p:spPr>
        <p:txBody>
          <a:bodyPr wrap="square" lIns="0" tIns="0" rIns="0" bIns="0" rtlCol="0" anchor="ctr"/>
          <a:lstStyle/>
          <a:p>
            <a:pPr indent="0" marL="0">
              <a:buNone/>
            </a:pPr>
            <a:r>
              <a:rPr lang="en-US" sz="1200" i="1" dirty="0">
                <a:solidFill>
                  <a:srgbClr val="5B6B69"/>
                </a:solidFill>
                <a:latin typeface="Calibri" pitchFamily="34" charset="0"/>
                <a:ea typeface="Calibri" pitchFamily="34" charset="-122"/>
                <a:cs typeface="Calibri" pitchFamily="34" charset="-120"/>
              </a:rPr>
              <a:t>Flowchart in standard symbols, in the order the rules are checked</a:t>
            </a:r>
            <a:endParaRPr lang="en-US" sz="1200" dirty="0"/>
          </a:p>
        </p:txBody>
      </p:sp>
      <p:sp>
        <p:nvSpPr>
          <p:cNvPr id="4" name="Text 2"/>
          <p:cNvSpPr txBox="1"/>
          <p:nvPr/>
        </p:nvSpPr>
        <p:spPr>
          <a:xfrm>
            <a:off x="5120640" y="91440"/>
            <a:ext cx="3657600" cy="228600"/>
          </a:xfrm>
          <a:prstGeom prst="rect">
            <a:avLst/>
          </a:prstGeom>
          <a:noFill/>
          <a:ln/>
        </p:spPr>
        <p:txBody>
          <a:bodyPr wrap="square" lIns="0" tIns="0" rIns="0" bIns="0" rtlCol="0" anchor="ctr"/>
          <a:lstStyle/>
          <a:p>
            <a:pPr algn="r" indent="0" marL="0">
              <a:buNone/>
            </a:pPr>
            <a:r>
              <a:rPr lang="en-US" sz="1000" dirty="0">
                <a:solidFill>
                  <a:srgbClr val="9AAAA7"/>
                </a:solidFill>
                <a:latin typeface="Calibri" pitchFamily="34" charset="0"/>
                <a:ea typeface="Calibri" pitchFamily="34" charset="-122"/>
                <a:cs typeface="Calibri" pitchFamily="34" charset="-120"/>
              </a:rPr>
              <a:t>Progress</a:t>
            </a:r>
            <a:pPr algn="r" indent="0" marL="0">
              <a:buNone/>
            </a:pPr>
            <a:r>
              <a:rPr lang="en-US" sz="1000" dirty="0">
                <a:solidFill>
                  <a:srgbClr val="9AAAA7"/>
                </a:solidFill>
                <a:latin typeface="Calibri" pitchFamily="34" charset="0"/>
                <a:ea typeface="Calibri" pitchFamily="34" charset="-122"/>
                <a:cs typeface="Calibri" pitchFamily="34" charset="-120"/>
              </a:rPr>
              <a:t>  ›  Research</a:t>
            </a:r>
            <a:pPr algn="r" indent="0" marL="0">
              <a:buNone/>
            </a:pPr>
            <a:r>
              <a:rPr lang="en-US" sz="1000" b="1" dirty="0">
                <a:solidFill>
                  <a:srgbClr val="B8862F"/>
                </a:solidFill>
                <a:latin typeface="Calibri" pitchFamily="34" charset="0"/>
                <a:ea typeface="Calibri" pitchFamily="34" charset="-122"/>
                <a:cs typeface="Calibri" pitchFamily="34" charset="-120"/>
              </a:rPr>
              <a:t>  ›  Design</a:t>
            </a:r>
            <a:pPr algn="r" indent="0" marL="0">
              <a:buNone/>
            </a:pPr>
            <a:r>
              <a:rPr lang="en-US" sz="1000" dirty="0">
                <a:solidFill>
                  <a:srgbClr val="9AAAA7"/>
                </a:solidFill>
                <a:latin typeface="Calibri" pitchFamily="34" charset="0"/>
                <a:ea typeface="Calibri" pitchFamily="34" charset="-122"/>
                <a:cs typeface="Calibri" pitchFamily="34" charset="-120"/>
              </a:rPr>
              <a:t>  ›  Build</a:t>
            </a:r>
            <a:pPr algn="r" indent="0" marL="0">
              <a:buNone/>
            </a:pPr>
            <a:r>
              <a:rPr lang="en-US" sz="1000" dirty="0">
                <a:solidFill>
                  <a:srgbClr val="9AAAA7"/>
                </a:solidFill>
                <a:latin typeface="Calibri" pitchFamily="34" charset="0"/>
                <a:ea typeface="Calibri" pitchFamily="34" charset="-122"/>
                <a:cs typeface="Calibri" pitchFamily="34" charset="-120"/>
              </a:rPr>
              <a:t>  ›  Next</a:t>
            </a:r>
            <a:endParaRPr lang="en-US" sz="1000" dirty="0"/>
          </a:p>
        </p:txBody>
      </p:sp>
      <p:pic>
        <p:nvPicPr>
          <p:cNvPr id="5" name="Image 0" descr="/home/user/commercial-banking/docs/flowchart_3_transfer.png">    </p:cNvPr>
          <p:cNvPicPr>
            <a:picLocks noChangeAspect="1"/>
          </p:cNvPicPr>
          <p:nvPr/>
        </p:nvPicPr>
        <p:blipFill>
          <a:blip r:embed="rId1"/>
          <a:stretch>
            <a:fillRect/>
          </a:stretch>
        </p:blipFill>
        <p:spPr>
          <a:xfrm>
            <a:off x="635801" y="1143000"/>
            <a:ext cx="2751758" cy="3749040"/>
          </a:xfrm>
          <a:prstGeom prst="rect">
            <a:avLst/>
          </a:prstGeom>
        </p:spPr>
      </p:pic>
      <p:sp>
        <p:nvSpPr>
          <p:cNvPr id="6" name="Shape 3"/>
          <p:cNvSpPr/>
          <p:nvPr/>
        </p:nvSpPr>
        <p:spPr>
          <a:xfrm>
            <a:off x="4023360" y="1234440"/>
            <a:ext cx="365760" cy="365760"/>
          </a:xfrm>
          <a:prstGeom prst="ellipse">
            <a:avLst/>
          </a:prstGeom>
          <a:solidFill>
            <a:srgbClr val="B8862F"/>
          </a:solidFill>
          <a:ln/>
        </p:spPr>
      </p:sp>
      <p:sp>
        <p:nvSpPr>
          <p:cNvPr id="7" name="Text 4"/>
          <p:cNvSpPr txBox="1"/>
          <p:nvPr/>
        </p:nvSpPr>
        <p:spPr>
          <a:xfrm>
            <a:off x="4023360" y="123444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1</a:t>
            </a:r>
            <a:endParaRPr lang="en-US" sz="1300" dirty="0"/>
          </a:p>
        </p:txBody>
      </p:sp>
      <p:sp>
        <p:nvSpPr>
          <p:cNvPr id="8" name="Text 5"/>
          <p:cNvSpPr txBox="1"/>
          <p:nvPr/>
        </p:nvSpPr>
        <p:spPr>
          <a:xfrm>
            <a:off x="4572000" y="1188720"/>
            <a:ext cx="4114800" cy="658368"/>
          </a:xfrm>
          <a:prstGeom prst="rect">
            <a:avLst/>
          </a:prstGeom>
          <a:noFill/>
          <a:ln/>
        </p:spPr>
        <p:txBody>
          <a:bodyPr wrap="square" lIns="0" tIns="0" rIns="0" bIns="0" rtlCol="0" anchor="t"/>
          <a:lstStyle/>
          <a:p>
            <a:pPr indent="0" marL="0">
              <a:buNone/>
            </a:pPr>
            <a:r>
              <a:rPr lang="en-US" sz="1200" b="1" dirty="0">
                <a:solidFill>
                  <a:srgbClr val="0B4F4A"/>
                </a:solidFill>
                <a:latin typeface="Calibri" pitchFamily="34" charset="0"/>
                <a:ea typeface="Calibri" pitchFamily="34" charset="-122"/>
                <a:cs typeface="Calibri" pitchFamily="34" charset="-120"/>
              </a:rPr>
              <a:t>Authority</a:t>
            </a:r>
            <a:endParaRPr lang="en-US" sz="1200" dirty="0"/>
          </a:p>
          <a:p>
            <a:pPr indent="0" marL="0">
              <a:buNone/>
            </a:pPr>
            <a:r>
              <a:rPr lang="en-US" sz="1200" dirty="0">
                <a:solidFill>
                  <a:srgbClr val="1D2B2A"/>
                </a:solidFill>
                <a:latin typeface="Calibri" pitchFamily="34" charset="0"/>
                <a:ea typeface="Calibri" pitchFamily="34" charset="-122"/>
                <a:cs typeface="Calibri" pitchFamily="34" charset="-120"/>
              </a:rPr>
              <a:t>Does this person hold a live payments mandate?</a:t>
            </a:r>
            <a:endParaRPr lang="en-US" sz="1200" dirty="0"/>
          </a:p>
        </p:txBody>
      </p:sp>
      <p:sp>
        <p:nvSpPr>
          <p:cNvPr id="9" name="Shape 6"/>
          <p:cNvSpPr/>
          <p:nvPr/>
        </p:nvSpPr>
        <p:spPr>
          <a:xfrm>
            <a:off x="4023360" y="1965960"/>
            <a:ext cx="365760" cy="365760"/>
          </a:xfrm>
          <a:prstGeom prst="ellipse">
            <a:avLst/>
          </a:prstGeom>
          <a:solidFill>
            <a:srgbClr val="B8862F"/>
          </a:solidFill>
          <a:ln/>
        </p:spPr>
      </p:sp>
      <p:sp>
        <p:nvSpPr>
          <p:cNvPr id="10" name="Text 7"/>
          <p:cNvSpPr txBox="1"/>
          <p:nvPr/>
        </p:nvSpPr>
        <p:spPr>
          <a:xfrm>
            <a:off x="4023360" y="196596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2</a:t>
            </a:r>
            <a:endParaRPr lang="en-US" sz="1300" dirty="0"/>
          </a:p>
        </p:txBody>
      </p:sp>
      <p:sp>
        <p:nvSpPr>
          <p:cNvPr id="11" name="Text 8"/>
          <p:cNvSpPr txBox="1"/>
          <p:nvPr/>
        </p:nvSpPr>
        <p:spPr>
          <a:xfrm>
            <a:off x="4572000" y="1920240"/>
            <a:ext cx="4114800" cy="658368"/>
          </a:xfrm>
          <a:prstGeom prst="rect">
            <a:avLst/>
          </a:prstGeom>
          <a:noFill/>
          <a:ln/>
        </p:spPr>
        <p:txBody>
          <a:bodyPr wrap="square" lIns="0" tIns="0" rIns="0" bIns="0" rtlCol="0" anchor="t"/>
          <a:lstStyle/>
          <a:p>
            <a:pPr indent="0" marL="0">
              <a:buNone/>
            </a:pPr>
            <a:r>
              <a:rPr lang="en-US" sz="1200" b="1" dirty="0">
                <a:solidFill>
                  <a:srgbClr val="0B4F4A"/>
                </a:solidFill>
                <a:latin typeface="Calibri" pitchFamily="34" charset="0"/>
                <a:ea typeface="Calibri" pitchFamily="34" charset="-122"/>
                <a:cs typeface="Calibri" pitchFamily="34" charset="-120"/>
              </a:rPr>
              <a:t>Funds and limits</a:t>
            </a:r>
            <a:endParaRPr lang="en-US" sz="1200" dirty="0"/>
          </a:p>
          <a:p>
            <a:pPr indent="0" marL="0">
              <a:buNone/>
            </a:pPr>
            <a:r>
              <a:rPr lang="en-US" sz="1200" dirty="0">
                <a:solidFill>
                  <a:srgbClr val="1D2B2A"/>
                </a:solidFill>
                <a:latin typeface="Calibri" pitchFamily="34" charset="0"/>
                <a:ea typeface="Calibri" pitchFamily="34" charset="-122"/>
                <a:cs typeface="Calibri" pitchFamily="34" charset="-120"/>
              </a:rPr>
              <a:t>Enough available balance, within the mandate limit?</a:t>
            </a:r>
            <a:endParaRPr lang="en-US" sz="1200" dirty="0"/>
          </a:p>
        </p:txBody>
      </p:sp>
      <p:sp>
        <p:nvSpPr>
          <p:cNvPr id="12" name="Shape 9"/>
          <p:cNvSpPr/>
          <p:nvPr/>
        </p:nvSpPr>
        <p:spPr>
          <a:xfrm>
            <a:off x="4023360" y="2697480"/>
            <a:ext cx="365760" cy="365760"/>
          </a:xfrm>
          <a:prstGeom prst="ellipse">
            <a:avLst/>
          </a:prstGeom>
          <a:solidFill>
            <a:srgbClr val="B8862F"/>
          </a:solidFill>
          <a:ln/>
        </p:spPr>
      </p:sp>
      <p:sp>
        <p:nvSpPr>
          <p:cNvPr id="13" name="Text 10"/>
          <p:cNvSpPr txBox="1"/>
          <p:nvPr/>
        </p:nvSpPr>
        <p:spPr>
          <a:xfrm>
            <a:off x="4023360" y="269748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3</a:t>
            </a:r>
            <a:endParaRPr lang="en-US" sz="1300" dirty="0"/>
          </a:p>
        </p:txBody>
      </p:sp>
      <p:sp>
        <p:nvSpPr>
          <p:cNvPr id="14" name="Text 11"/>
          <p:cNvSpPr txBox="1"/>
          <p:nvPr/>
        </p:nvSpPr>
        <p:spPr>
          <a:xfrm>
            <a:off x="4572000" y="2651760"/>
            <a:ext cx="4114800" cy="658368"/>
          </a:xfrm>
          <a:prstGeom prst="rect">
            <a:avLst/>
          </a:prstGeom>
          <a:noFill/>
          <a:ln/>
        </p:spPr>
        <p:txBody>
          <a:bodyPr wrap="square" lIns="0" tIns="0" rIns="0" bIns="0" rtlCol="0" anchor="t"/>
          <a:lstStyle/>
          <a:p>
            <a:pPr indent="0" marL="0">
              <a:buNone/>
            </a:pPr>
            <a:r>
              <a:rPr lang="en-US" sz="1200" b="1" dirty="0">
                <a:solidFill>
                  <a:srgbClr val="0B4F4A"/>
                </a:solidFill>
                <a:latin typeface="Calibri" pitchFamily="34" charset="0"/>
                <a:ea typeface="Calibri" pitchFamily="34" charset="-122"/>
                <a:cs typeface="Calibri" pitchFamily="34" charset="-120"/>
              </a:rPr>
              <a:t>Dual control</a:t>
            </a:r>
            <a:endParaRPr lang="en-US" sz="1200" dirty="0"/>
          </a:p>
          <a:p>
            <a:pPr indent="0" marL="0">
              <a:buNone/>
            </a:pPr>
            <a:r>
              <a:rPr lang="en-US" sz="1200" dirty="0">
                <a:solidFill>
                  <a:srgbClr val="1D2B2A"/>
                </a:solidFill>
                <a:latin typeface="Calibri" pitchFamily="34" charset="0"/>
                <a:ea typeface="Calibri" pitchFamily="34" charset="-122"/>
                <a:cs typeface="Calibri" pitchFamily="34" charset="-120"/>
              </a:rPr>
              <a:t>Above the threshold, a second signatory must approve</a:t>
            </a:r>
            <a:endParaRPr lang="en-US" sz="1200" dirty="0"/>
          </a:p>
        </p:txBody>
      </p:sp>
      <p:sp>
        <p:nvSpPr>
          <p:cNvPr id="15" name="Shape 12"/>
          <p:cNvSpPr/>
          <p:nvPr/>
        </p:nvSpPr>
        <p:spPr>
          <a:xfrm>
            <a:off x="4023360" y="3429000"/>
            <a:ext cx="365760" cy="365760"/>
          </a:xfrm>
          <a:prstGeom prst="ellipse">
            <a:avLst/>
          </a:prstGeom>
          <a:solidFill>
            <a:srgbClr val="B8862F"/>
          </a:solidFill>
          <a:ln/>
        </p:spPr>
      </p:sp>
      <p:sp>
        <p:nvSpPr>
          <p:cNvPr id="16" name="Text 13"/>
          <p:cNvSpPr txBox="1"/>
          <p:nvPr/>
        </p:nvSpPr>
        <p:spPr>
          <a:xfrm>
            <a:off x="4023360" y="342900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4</a:t>
            </a:r>
            <a:endParaRPr lang="en-US" sz="1300" dirty="0"/>
          </a:p>
        </p:txBody>
      </p:sp>
      <p:sp>
        <p:nvSpPr>
          <p:cNvPr id="17" name="Text 14"/>
          <p:cNvSpPr txBox="1"/>
          <p:nvPr/>
        </p:nvSpPr>
        <p:spPr>
          <a:xfrm>
            <a:off x="4572000" y="3383280"/>
            <a:ext cx="4114800" cy="658368"/>
          </a:xfrm>
          <a:prstGeom prst="rect">
            <a:avLst/>
          </a:prstGeom>
          <a:noFill/>
          <a:ln/>
        </p:spPr>
        <p:txBody>
          <a:bodyPr wrap="square" lIns="0" tIns="0" rIns="0" bIns="0" rtlCol="0" anchor="t"/>
          <a:lstStyle/>
          <a:p>
            <a:pPr indent="0" marL="0">
              <a:buNone/>
            </a:pPr>
            <a:r>
              <a:rPr lang="en-US" sz="1200" b="1" dirty="0">
                <a:solidFill>
                  <a:srgbClr val="0B4F4A"/>
                </a:solidFill>
                <a:latin typeface="Calibri" pitchFamily="34" charset="0"/>
                <a:ea typeface="Calibri" pitchFamily="34" charset="-122"/>
                <a:cs typeface="Calibri" pitchFamily="34" charset="-120"/>
              </a:rPr>
              <a:t>Compliance hold</a:t>
            </a:r>
            <a:endParaRPr lang="en-US" sz="1200" dirty="0"/>
          </a:p>
          <a:p>
            <a:pPr indent="0" marL="0">
              <a:buNone/>
            </a:pPr>
            <a:r>
              <a:rPr lang="en-US" sz="1200" dirty="0">
                <a:solidFill>
                  <a:srgbClr val="1D2B2A"/>
                </a:solidFill>
                <a:latin typeface="Calibri" pitchFamily="34" charset="0"/>
                <a:ea typeface="Calibri" pitchFamily="34" charset="-122"/>
                <a:cs typeface="Calibri" pitchFamily="34" charset="-120"/>
              </a:rPr>
              <a:t>Very large transfers wait for review, then release</a:t>
            </a:r>
            <a:endParaRPr lang="en-US" sz="1200" dirty="0"/>
          </a:p>
        </p:txBody>
      </p:sp>
      <p:sp>
        <p:nvSpPr>
          <p:cNvPr id="18" name="Shape 15"/>
          <p:cNvSpPr/>
          <p:nvPr/>
        </p:nvSpPr>
        <p:spPr>
          <a:xfrm>
            <a:off x="4023360" y="4160520"/>
            <a:ext cx="365760" cy="365760"/>
          </a:xfrm>
          <a:prstGeom prst="ellipse">
            <a:avLst/>
          </a:prstGeom>
          <a:solidFill>
            <a:srgbClr val="B8862F"/>
          </a:solidFill>
          <a:ln/>
        </p:spPr>
      </p:sp>
      <p:sp>
        <p:nvSpPr>
          <p:cNvPr id="19" name="Text 16"/>
          <p:cNvSpPr txBox="1"/>
          <p:nvPr/>
        </p:nvSpPr>
        <p:spPr>
          <a:xfrm>
            <a:off x="4023360" y="4160520"/>
            <a:ext cx="3657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mbria" pitchFamily="34" charset="0"/>
                <a:ea typeface="Cambria" pitchFamily="34" charset="-122"/>
                <a:cs typeface="Cambria" pitchFamily="34" charset="-120"/>
              </a:rPr>
              <a:t>5</a:t>
            </a:r>
            <a:endParaRPr lang="en-US" sz="1300" dirty="0"/>
          </a:p>
        </p:txBody>
      </p:sp>
      <p:sp>
        <p:nvSpPr>
          <p:cNvPr id="20" name="Text 17"/>
          <p:cNvSpPr txBox="1"/>
          <p:nvPr/>
        </p:nvSpPr>
        <p:spPr>
          <a:xfrm>
            <a:off x="4572000" y="4114800"/>
            <a:ext cx="4114800" cy="658368"/>
          </a:xfrm>
          <a:prstGeom prst="rect">
            <a:avLst/>
          </a:prstGeom>
          <a:noFill/>
          <a:ln/>
        </p:spPr>
        <p:txBody>
          <a:bodyPr wrap="square" lIns="0" tIns="0" rIns="0" bIns="0" rtlCol="0" anchor="t"/>
          <a:lstStyle/>
          <a:p>
            <a:pPr indent="0" marL="0">
              <a:buNone/>
            </a:pPr>
            <a:r>
              <a:rPr lang="en-US" sz="1200" b="1" dirty="0">
                <a:solidFill>
                  <a:srgbClr val="0B4F4A"/>
                </a:solidFill>
                <a:latin typeface="Calibri" pitchFamily="34" charset="0"/>
                <a:ea typeface="Calibri" pitchFamily="34" charset="-122"/>
                <a:cs typeface="Calibri" pitchFamily="34" charset="-120"/>
              </a:rPr>
              <a:t>Refused?</a:t>
            </a:r>
            <a:endParaRPr lang="en-US" sz="1200" dirty="0"/>
          </a:p>
          <a:p>
            <a:pPr indent="0" marL="0">
              <a:buNone/>
            </a:pPr>
            <a:r>
              <a:rPr lang="en-US" sz="1200" dirty="0">
                <a:solidFill>
                  <a:srgbClr val="1D2B2A"/>
                </a:solidFill>
                <a:latin typeface="Calibri" pitchFamily="34" charset="0"/>
                <a:ea typeface="Calibri" pitchFamily="34" charset="-122"/>
                <a:cs typeface="Calibri" pitchFamily="34" charset="-120"/>
              </a:rPr>
              <a:t>Kept on record as FAILED, with the rule that stopped it</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502920"/>
          </a:xfrm>
          <a:prstGeom prst="rect">
            <a:avLst/>
          </a:prstGeom>
          <a:noFill/>
          <a:ln/>
        </p:spPr>
        <p:txBody>
          <a:bodyPr wrap="square" lIns="0" tIns="0" rIns="0" bIns="0" rtlCol="0" anchor="ctr"/>
          <a:lstStyle/>
          <a:p>
            <a:pPr indent="0" marL="0">
              <a:buNone/>
            </a:pPr>
            <a:r>
              <a:rPr lang="en-US" sz="2300" b="1" dirty="0">
                <a:solidFill>
                  <a:srgbClr val="0B4F4A"/>
                </a:solidFill>
                <a:latin typeface="Cambria" pitchFamily="34" charset="0"/>
                <a:ea typeface="Cambria" pitchFamily="34" charset="-122"/>
                <a:cs typeface="Cambria" pitchFamily="34" charset="-120"/>
              </a:rPr>
              <a:t>Implementation and GUI: built and tested</a:t>
            </a:r>
            <a:endParaRPr lang="en-US" sz="2300" dirty="0"/>
          </a:p>
        </p:txBody>
      </p:sp>
      <p:sp>
        <p:nvSpPr>
          <p:cNvPr id="3" name="Text 1"/>
          <p:cNvSpPr txBox="1"/>
          <p:nvPr/>
        </p:nvSpPr>
        <p:spPr>
          <a:xfrm>
            <a:off x="457200" y="841248"/>
            <a:ext cx="8229600" cy="274320"/>
          </a:xfrm>
          <a:prstGeom prst="rect">
            <a:avLst/>
          </a:prstGeom>
          <a:noFill/>
          <a:ln/>
        </p:spPr>
        <p:txBody>
          <a:bodyPr wrap="square" lIns="0" tIns="0" rIns="0" bIns="0" rtlCol="0" anchor="ctr"/>
          <a:lstStyle/>
          <a:p>
            <a:pPr indent="0" marL="0">
              <a:buNone/>
            </a:pPr>
            <a:r>
              <a:rPr lang="en-US" sz="1200" i="1" dirty="0">
                <a:solidFill>
                  <a:srgbClr val="5B6B69"/>
                </a:solidFill>
                <a:latin typeface="Calibri" pitchFamily="34" charset="0"/>
                <a:ea typeface="Calibri" pitchFamily="34" charset="-122"/>
                <a:cs typeface="Calibri" pitchFamily="34" charset="-120"/>
              </a:rPr>
              <a:t>Python, standard library only; GUI in Tkinter</a:t>
            </a:r>
            <a:endParaRPr lang="en-US" sz="1200" dirty="0"/>
          </a:p>
        </p:txBody>
      </p:sp>
      <p:sp>
        <p:nvSpPr>
          <p:cNvPr id="4" name="Text 2"/>
          <p:cNvSpPr txBox="1"/>
          <p:nvPr/>
        </p:nvSpPr>
        <p:spPr>
          <a:xfrm>
            <a:off x="5120640" y="91440"/>
            <a:ext cx="3657600" cy="228600"/>
          </a:xfrm>
          <a:prstGeom prst="rect">
            <a:avLst/>
          </a:prstGeom>
          <a:noFill/>
          <a:ln/>
        </p:spPr>
        <p:txBody>
          <a:bodyPr wrap="square" lIns="0" tIns="0" rIns="0" bIns="0" rtlCol="0" anchor="ctr"/>
          <a:lstStyle/>
          <a:p>
            <a:pPr algn="r" indent="0" marL="0">
              <a:buNone/>
            </a:pPr>
            <a:r>
              <a:rPr lang="en-US" sz="1000" dirty="0">
                <a:solidFill>
                  <a:srgbClr val="9AAAA7"/>
                </a:solidFill>
                <a:latin typeface="Calibri" pitchFamily="34" charset="0"/>
                <a:ea typeface="Calibri" pitchFamily="34" charset="-122"/>
                <a:cs typeface="Calibri" pitchFamily="34" charset="-120"/>
              </a:rPr>
              <a:t>Progress</a:t>
            </a:r>
            <a:pPr algn="r" indent="0" marL="0">
              <a:buNone/>
            </a:pPr>
            <a:r>
              <a:rPr lang="en-US" sz="1000" dirty="0">
                <a:solidFill>
                  <a:srgbClr val="9AAAA7"/>
                </a:solidFill>
                <a:latin typeface="Calibri" pitchFamily="34" charset="0"/>
                <a:ea typeface="Calibri" pitchFamily="34" charset="-122"/>
                <a:cs typeface="Calibri" pitchFamily="34" charset="-120"/>
              </a:rPr>
              <a:t>  ›  Research</a:t>
            </a:r>
            <a:pPr algn="r" indent="0" marL="0">
              <a:buNone/>
            </a:pPr>
            <a:r>
              <a:rPr lang="en-US" sz="1000" dirty="0">
                <a:solidFill>
                  <a:srgbClr val="9AAAA7"/>
                </a:solidFill>
                <a:latin typeface="Calibri" pitchFamily="34" charset="0"/>
                <a:ea typeface="Calibri" pitchFamily="34" charset="-122"/>
                <a:cs typeface="Calibri" pitchFamily="34" charset="-120"/>
              </a:rPr>
              <a:t>  ›  Design</a:t>
            </a:r>
            <a:pPr algn="r" indent="0" marL="0">
              <a:buNone/>
            </a:pPr>
            <a:r>
              <a:rPr lang="en-US" sz="1000" b="1" dirty="0">
                <a:solidFill>
                  <a:srgbClr val="B8862F"/>
                </a:solidFill>
                <a:latin typeface="Calibri" pitchFamily="34" charset="0"/>
                <a:ea typeface="Calibri" pitchFamily="34" charset="-122"/>
                <a:cs typeface="Calibri" pitchFamily="34" charset="-120"/>
              </a:rPr>
              <a:t>  ›  Build</a:t>
            </a:r>
            <a:pPr algn="r" indent="0" marL="0">
              <a:buNone/>
            </a:pPr>
            <a:r>
              <a:rPr lang="en-US" sz="1000" dirty="0">
                <a:solidFill>
                  <a:srgbClr val="9AAAA7"/>
                </a:solidFill>
                <a:latin typeface="Calibri" pitchFamily="34" charset="0"/>
                <a:ea typeface="Calibri" pitchFamily="34" charset="-122"/>
                <a:cs typeface="Calibri" pitchFamily="34" charset="-120"/>
              </a:rPr>
              <a:t>  ›  Next</a:t>
            </a:r>
            <a:endParaRPr lang="en-US" sz="1000" dirty="0"/>
          </a:p>
        </p:txBody>
      </p:sp>
      <p:pic>
        <p:nvPicPr>
          <p:cNvPr id="5" name="Image 0" descr="/home/user/commercial-banking/docs/screenshots/gui_02_overview.png">    </p:cNvPr>
          <p:cNvPicPr>
            <a:picLocks noChangeAspect="1"/>
          </p:cNvPicPr>
          <p:nvPr/>
        </p:nvPicPr>
        <p:blipFill>
          <a:blip r:embed="rId1"/>
          <a:stretch>
            <a:fillRect/>
          </a:stretch>
        </p:blipFill>
        <p:spPr>
          <a:xfrm>
            <a:off x="365760" y="1300480"/>
            <a:ext cx="4572000" cy="2794000"/>
          </a:xfrm>
          <a:prstGeom prst="rect">
            <a:avLst/>
          </a:prstGeom>
        </p:spPr>
      </p:pic>
      <p:sp>
        <p:nvSpPr>
          <p:cNvPr id="6" name="Text 3"/>
          <p:cNvSpPr txBox="1"/>
          <p:nvPr/>
        </p:nvSpPr>
        <p:spPr>
          <a:xfrm>
            <a:off x="365760" y="4206240"/>
            <a:ext cx="4572000" cy="274320"/>
          </a:xfrm>
          <a:prstGeom prst="rect">
            <a:avLst/>
          </a:prstGeom>
          <a:noFill/>
          <a:ln/>
        </p:spPr>
        <p:txBody>
          <a:bodyPr wrap="square" lIns="0" tIns="0" rIns="0" bIns="0" rtlCol="0" anchor="ctr"/>
          <a:lstStyle/>
          <a:p>
            <a:pPr algn="ctr" indent="0" marL="0">
              <a:buNone/>
            </a:pPr>
            <a:r>
              <a:rPr lang="en-US" sz="1050" i="1" dirty="0">
                <a:solidFill>
                  <a:srgbClr val="5B6B69"/>
                </a:solidFill>
                <a:latin typeface="Calibri" pitchFamily="34" charset="0"/>
                <a:ea typeface="Calibri" pitchFamily="34" charset="-122"/>
                <a:cs typeface="Calibri" pitchFamily="34" charset="-120"/>
              </a:rPr>
              <a:t>GUI prototype: staff overview screen</a:t>
            </a:r>
            <a:endParaRPr lang="en-US" sz="1050" dirty="0"/>
          </a:p>
        </p:txBody>
      </p:sp>
      <p:sp>
        <p:nvSpPr>
          <p:cNvPr id="7" name="Shape 4"/>
          <p:cNvSpPr/>
          <p:nvPr/>
        </p:nvSpPr>
        <p:spPr>
          <a:xfrm>
            <a:off x="5212080" y="1234440"/>
            <a:ext cx="1188720" cy="310896"/>
          </a:xfrm>
          <a:prstGeom prst="roundRect">
            <a:avLst>
              <a:gd name="adj" fmla="val 23529"/>
            </a:avLst>
          </a:prstGeom>
          <a:solidFill>
            <a:srgbClr val="2E7D4F"/>
          </a:solidFill>
          <a:ln w="12700">
            <a:solidFill>
              <a:srgbClr val="2E7D4F"/>
            </a:solidFill>
            <a:prstDash val="solid"/>
          </a:ln>
        </p:spPr>
      </p:sp>
      <p:sp>
        <p:nvSpPr>
          <p:cNvPr id="8" name="Text 5"/>
          <p:cNvSpPr txBox="1"/>
          <p:nvPr/>
        </p:nvSpPr>
        <p:spPr>
          <a:xfrm>
            <a:off x="5212080" y="1234440"/>
            <a:ext cx="118872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Built</a:t>
            </a:r>
            <a:endParaRPr lang="en-US" sz="1150" dirty="0"/>
          </a:p>
        </p:txBody>
      </p:sp>
      <p:sp>
        <p:nvSpPr>
          <p:cNvPr id="9" name="Text 6"/>
          <p:cNvSpPr txBox="1"/>
          <p:nvPr/>
        </p:nvSpPr>
        <p:spPr>
          <a:xfrm>
            <a:off x="5212080" y="1618488"/>
            <a:ext cx="3566160" cy="1536192"/>
          </a:xfrm>
          <a:prstGeom prst="rect">
            <a:avLst/>
          </a:prstGeom>
          <a:noFill/>
          <a:ln/>
        </p:spPr>
        <p:txBody>
          <a:bodyPr wrap="square" lIns="635" tIns="635" rIns="635" bIns="635" rtlCol="0" anchor="t"/>
          <a:lstStyle/>
          <a:p>
            <a:pPr marL="342900" indent="-342900">
              <a:spcAft>
                <a:spcPts val="600"/>
              </a:spcAft>
              <a:buSzPct val="100000"/>
              <a:buChar char="•"/>
            </a:pPr>
            <a:r>
              <a:rPr lang="en-US" sz="1200" dirty="0">
                <a:solidFill>
                  <a:srgbClr val="1D2B2A"/>
                </a:solidFill>
                <a:latin typeface="Calibri" pitchFamily="34" charset="0"/>
                <a:ea typeface="Calibri" pitchFamily="34" charset="-122"/>
                <a:cs typeface="Calibri" pitchFamily="34" charset="-120"/>
              </a:rPr>
              <a:t>Four hierarchies; double-entry ledger that always balances</a:t>
            </a:r>
            <a:endParaRPr lang="en-US" sz="1200" dirty="0"/>
          </a:p>
          <a:p>
            <a:pPr marL="342900" indent="-342900">
              <a:spcAft>
                <a:spcPts val="600"/>
              </a:spcAft>
              <a:buSzPct val="100000"/>
              <a:buChar char="•"/>
            </a:pPr>
            <a:r>
              <a:rPr lang="en-US" sz="1200" dirty="0">
                <a:solidFill>
                  <a:srgbClr val="1D2B2A"/>
                </a:solidFill>
                <a:latin typeface="Calibri" pitchFamily="34" charset="0"/>
                <a:ea typeface="Calibri" pitchFamily="34" charset="-122"/>
                <a:cs typeface="Calibri" pitchFamily="34" charset="-120"/>
              </a:rPr>
              <a:t>16 exception scenarios, 73 automated tests</a:t>
            </a:r>
            <a:endParaRPr lang="en-US" sz="1200" dirty="0"/>
          </a:p>
          <a:p>
            <a:pPr marL="342900" indent="-342900">
              <a:spcAft>
                <a:spcPts val="600"/>
              </a:spcAft>
              <a:buSzPct val="100000"/>
              <a:buChar char="•"/>
            </a:pPr>
            <a:r>
              <a:rPr lang="en-US" sz="1200" dirty="0">
                <a:solidFill>
                  <a:srgbClr val="1D2B2A"/>
                </a:solidFill>
                <a:latin typeface="Calibri" pitchFamily="34" charset="0"/>
                <a:ea typeface="Calibri" pitchFamily="34" charset="-122"/>
                <a:cs typeface="Calibri" pitchFamily="34" charset="-120"/>
              </a:rPr>
              <a:t>GUI for staff and for customers</a:t>
            </a:r>
            <a:endParaRPr lang="en-US" sz="1200" dirty="0"/>
          </a:p>
          <a:p>
            <a:pPr marL="342900" indent="-342900">
              <a:spcAft>
                <a:spcPts val="600"/>
              </a:spcAft>
              <a:buSzPct val="100000"/>
              <a:buChar char="•"/>
            </a:pPr>
            <a:r>
              <a:rPr lang="en-US" sz="1200" dirty="0">
                <a:solidFill>
                  <a:srgbClr val="1D2B2A"/>
                </a:solidFill>
                <a:latin typeface="Calibri" pitchFamily="34" charset="0"/>
                <a:ea typeface="Calibri" pitchFamily="34" charset="-122"/>
                <a:cs typeface="Calibri" pitchFamily="34" charset="-120"/>
              </a:rPr>
              <a:t>AI assistant (Claude) that answers from the records</a:t>
            </a:r>
            <a:endParaRPr lang="en-US" sz="1200" dirty="0"/>
          </a:p>
        </p:txBody>
      </p:sp>
      <p:sp>
        <p:nvSpPr>
          <p:cNvPr id="10" name="Shape 7"/>
          <p:cNvSpPr/>
          <p:nvPr/>
        </p:nvSpPr>
        <p:spPr>
          <a:xfrm>
            <a:off x="5212080" y="3383280"/>
            <a:ext cx="1188720" cy="310896"/>
          </a:xfrm>
          <a:prstGeom prst="roundRect">
            <a:avLst>
              <a:gd name="adj" fmla="val 23529"/>
            </a:avLst>
          </a:prstGeom>
          <a:solidFill>
            <a:srgbClr val="C98A12"/>
          </a:solidFill>
          <a:ln w="12700">
            <a:solidFill>
              <a:srgbClr val="C98A12"/>
            </a:solidFill>
            <a:prstDash val="solid"/>
          </a:ln>
        </p:spPr>
      </p:sp>
      <p:sp>
        <p:nvSpPr>
          <p:cNvPr id="11" name="Text 8"/>
          <p:cNvSpPr txBox="1"/>
          <p:nvPr/>
        </p:nvSpPr>
        <p:spPr>
          <a:xfrm>
            <a:off x="5212080" y="3383280"/>
            <a:ext cx="1188720" cy="310896"/>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Now refining</a:t>
            </a:r>
            <a:endParaRPr lang="en-US" sz="1150" dirty="0"/>
          </a:p>
        </p:txBody>
      </p:sp>
      <p:sp>
        <p:nvSpPr>
          <p:cNvPr id="12" name="Text 9"/>
          <p:cNvSpPr txBox="1"/>
          <p:nvPr/>
        </p:nvSpPr>
        <p:spPr>
          <a:xfrm>
            <a:off x="5212080" y="3767328"/>
            <a:ext cx="3566160" cy="1152144"/>
          </a:xfrm>
          <a:prstGeom prst="rect">
            <a:avLst/>
          </a:prstGeom>
          <a:noFill/>
          <a:ln/>
        </p:spPr>
        <p:txBody>
          <a:bodyPr wrap="square" lIns="635" tIns="635" rIns="635" bIns="635" rtlCol="0" anchor="t"/>
          <a:lstStyle/>
          <a:p>
            <a:pPr marL="342900" indent="-342900">
              <a:spcAft>
                <a:spcPts val="600"/>
              </a:spcAft>
              <a:buSzPct val="100000"/>
              <a:buChar char="•"/>
            </a:pPr>
            <a:r>
              <a:rPr lang="en-US" sz="1200" dirty="0">
                <a:solidFill>
                  <a:srgbClr val="1D2B2A"/>
                </a:solidFill>
                <a:latin typeface="Calibri" pitchFamily="34" charset="0"/>
                <a:ea typeface="Calibri" pitchFamily="34" charset="-122"/>
                <a:cs typeface="Calibri" pitchFamily="34" charset="-120"/>
              </a:rPr>
              <a:t>Saving and loading records (files / JSON)</a:t>
            </a:r>
            <a:endParaRPr lang="en-US" sz="1200" dirty="0"/>
          </a:p>
          <a:p>
            <a:pPr marL="342900" indent="-342900">
              <a:spcAft>
                <a:spcPts val="600"/>
              </a:spcAft>
              <a:buSzPct val="100000"/>
              <a:buChar char="•"/>
            </a:pPr>
            <a:r>
              <a:rPr lang="en-US" sz="1200" dirty="0">
                <a:solidFill>
                  <a:srgbClr val="1D2B2A"/>
                </a:solidFill>
                <a:latin typeface="Calibri" pitchFamily="34" charset="0"/>
                <a:ea typeface="Calibri" pitchFamily="34" charset="-122"/>
                <a:cs typeface="Calibri" pitchFamily="34" charset="-120"/>
              </a:rPr>
              <a:t>Design review against SOLID</a:t>
            </a:r>
            <a:endParaRPr lang="en-US" sz="1200" dirty="0"/>
          </a:p>
          <a:p>
            <a:pPr marL="342900" indent="-342900">
              <a:spcAft>
                <a:spcPts val="600"/>
              </a:spcAft>
              <a:buSzPct val="100000"/>
              <a:buChar char="•"/>
            </a:pPr>
            <a:r>
              <a:rPr lang="en-US" sz="1200" dirty="0">
                <a:solidFill>
                  <a:srgbClr val="1D2B2A"/>
                </a:solidFill>
                <a:latin typeface="Calibri" pitchFamily="34" charset="0"/>
                <a:ea typeface="Calibri" pitchFamily="34" charset="-122"/>
                <a:cs typeface="Calibri" pitchFamily="34" charset="-120"/>
              </a:rPr>
              <a:t>Clearer diagrams for the final presentation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txBox="1"/>
          <p:nvPr/>
        </p:nvSpPr>
        <p:spPr>
          <a:xfrm>
            <a:off x="457200" y="347472"/>
            <a:ext cx="8229600" cy="502920"/>
          </a:xfrm>
          <a:prstGeom prst="rect">
            <a:avLst/>
          </a:prstGeom>
          <a:noFill/>
          <a:ln/>
        </p:spPr>
        <p:txBody>
          <a:bodyPr wrap="square" lIns="0" tIns="0" rIns="0" bIns="0" rtlCol="0" anchor="ctr"/>
          <a:lstStyle/>
          <a:p>
            <a:pPr indent="0" marL="0">
              <a:buNone/>
            </a:pPr>
            <a:r>
              <a:rPr lang="en-US" sz="2600" b="1" dirty="0">
                <a:solidFill>
                  <a:srgbClr val="0B4F4A"/>
                </a:solidFill>
                <a:latin typeface="Cambria" pitchFamily="34" charset="0"/>
                <a:ea typeface="Cambria" pitchFamily="34" charset="-122"/>
                <a:cs typeface="Cambria" pitchFamily="34" charset="-120"/>
              </a:rPr>
              <a:t>Next steps to the final submission</a:t>
            </a:r>
            <a:endParaRPr lang="en-US" sz="2600" dirty="0"/>
          </a:p>
        </p:txBody>
      </p:sp>
      <p:sp>
        <p:nvSpPr>
          <p:cNvPr id="3" name="Text 1"/>
          <p:cNvSpPr txBox="1"/>
          <p:nvPr/>
        </p:nvSpPr>
        <p:spPr>
          <a:xfrm>
            <a:off x="457200" y="841248"/>
            <a:ext cx="8229600" cy="274320"/>
          </a:xfrm>
          <a:prstGeom prst="rect">
            <a:avLst/>
          </a:prstGeom>
          <a:noFill/>
          <a:ln/>
        </p:spPr>
        <p:txBody>
          <a:bodyPr wrap="square" lIns="0" tIns="0" rIns="0" bIns="0" rtlCol="0" anchor="ctr"/>
          <a:lstStyle/>
          <a:p>
            <a:pPr indent="0" marL="0">
              <a:buNone/>
            </a:pPr>
            <a:r>
              <a:rPr lang="en-US" sz="1200" i="1" dirty="0">
                <a:solidFill>
                  <a:srgbClr val="5B6B69"/>
                </a:solidFill>
                <a:latin typeface="Calibri" pitchFamily="34" charset="0"/>
                <a:ea typeface="Calibri" pitchFamily="34" charset="-122"/>
                <a:cs typeface="Calibri" pitchFamily="34" charset="-120"/>
              </a:rPr>
              <a:t>What remains, in order</a:t>
            </a:r>
            <a:endParaRPr lang="en-US" sz="1200" dirty="0"/>
          </a:p>
        </p:txBody>
      </p:sp>
      <p:sp>
        <p:nvSpPr>
          <p:cNvPr id="4" name="Text 2"/>
          <p:cNvSpPr txBox="1"/>
          <p:nvPr/>
        </p:nvSpPr>
        <p:spPr>
          <a:xfrm>
            <a:off x="5120640" y="91440"/>
            <a:ext cx="3657600" cy="228600"/>
          </a:xfrm>
          <a:prstGeom prst="rect">
            <a:avLst/>
          </a:prstGeom>
          <a:noFill/>
          <a:ln/>
        </p:spPr>
        <p:txBody>
          <a:bodyPr wrap="square" lIns="0" tIns="0" rIns="0" bIns="0" rtlCol="0" anchor="ctr"/>
          <a:lstStyle/>
          <a:p>
            <a:pPr algn="r" indent="0" marL="0">
              <a:buNone/>
            </a:pPr>
            <a:r>
              <a:rPr lang="en-US" sz="1000" dirty="0">
                <a:solidFill>
                  <a:srgbClr val="9AAAA7"/>
                </a:solidFill>
                <a:latin typeface="Calibri" pitchFamily="34" charset="0"/>
                <a:ea typeface="Calibri" pitchFamily="34" charset="-122"/>
                <a:cs typeface="Calibri" pitchFamily="34" charset="-120"/>
              </a:rPr>
              <a:t>Progress</a:t>
            </a:r>
            <a:pPr algn="r" indent="0" marL="0">
              <a:buNone/>
            </a:pPr>
            <a:r>
              <a:rPr lang="en-US" sz="1000" dirty="0">
                <a:solidFill>
                  <a:srgbClr val="9AAAA7"/>
                </a:solidFill>
                <a:latin typeface="Calibri" pitchFamily="34" charset="0"/>
                <a:ea typeface="Calibri" pitchFamily="34" charset="-122"/>
                <a:cs typeface="Calibri" pitchFamily="34" charset="-120"/>
              </a:rPr>
              <a:t>  ›  Research</a:t>
            </a:r>
            <a:pPr algn="r" indent="0" marL="0">
              <a:buNone/>
            </a:pPr>
            <a:r>
              <a:rPr lang="en-US" sz="1000" dirty="0">
                <a:solidFill>
                  <a:srgbClr val="9AAAA7"/>
                </a:solidFill>
                <a:latin typeface="Calibri" pitchFamily="34" charset="0"/>
                <a:ea typeface="Calibri" pitchFamily="34" charset="-122"/>
                <a:cs typeface="Calibri" pitchFamily="34" charset="-120"/>
              </a:rPr>
              <a:t>  ›  Design</a:t>
            </a:r>
            <a:pPr algn="r" indent="0" marL="0">
              <a:buNone/>
            </a:pPr>
            <a:r>
              <a:rPr lang="en-US" sz="1000" dirty="0">
                <a:solidFill>
                  <a:srgbClr val="9AAAA7"/>
                </a:solidFill>
                <a:latin typeface="Calibri" pitchFamily="34" charset="0"/>
                <a:ea typeface="Calibri" pitchFamily="34" charset="-122"/>
                <a:cs typeface="Calibri" pitchFamily="34" charset="-120"/>
              </a:rPr>
              <a:t>  ›  Build</a:t>
            </a:r>
            <a:pPr algn="r" indent="0" marL="0">
              <a:buNone/>
            </a:pPr>
            <a:r>
              <a:rPr lang="en-US" sz="1000" b="1" dirty="0">
                <a:solidFill>
                  <a:srgbClr val="B8862F"/>
                </a:solidFill>
                <a:latin typeface="Calibri" pitchFamily="34" charset="0"/>
                <a:ea typeface="Calibri" pitchFamily="34" charset="-122"/>
                <a:cs typeface="Calibri" pitchFamily="34" charset="-120"/>
              </a:rPr>
              <a:t>  ›  Next</a:t>
            </a:r>
            <a:endParaRPr lang="en-US" sz="1000" dirty="0"/>
          </a:p>
        </p:txBody>
      </p:sp>
      <p:sp>
        <p:nvSpPr>
          <p:cNvPr id="5" name="Shape 3"/>
          <p:cNvSpPr/>
          <p:nvPr/>
        </p:nvSpPr>
        <p:spPr>
          <a:xfrm>
            <a:off x="457200" y="1280160"/>
            <a:ext cx="8229600" cy="640080"/>
          </a:xfrm>
          <a:prstGeom prst="roundRect">
            <a:avLst>
              <a:gd name="adj" fmla="val 11429"/>
            </a:avLst>
          </a:prstGeom>
          <a:solidFill>
            <a:srgbClr val="E8F0EE"/>
          </a:solidFill>
          <a:ln w="12700">
            <a:solidFill>
              <a:srgbClr val="E8F0EE"/>
            </a:solidFill>
            <a:prstDash val="solid"/>
          </a:ln>
        </p:spPr>
      </p:sp>
      <p:sp>
        <p:nvSpPr>
          <p:cNvPr id="6" name="Shape 4"/>
          <p:cNvSpPr/>
          <p:nvPr/>
        </p:nvSpPr>
        <p:spPr>
          <a:xfrm>
            <a:off x="594360" y="1417320"/>
            <a:ext cx="822960" cy="365760"/>
          </a:xfrm>
          <a:prstGeom prst="roundRect">
            <a:avLst>
              <a:gd name="adj" fmla="val 20000"/>
            </a:avLst>
          </a:prstGeom>
          <a:solidFill>
            <a:srgbClr val="C98A12"/>
          </a:solidFill>
          <a:ln w="12700">
            <a:solidFill>
              <a:srgbClr val="FFFFFF"/>
            </a:solidFill>
            <a:prstDash val="solid"/>
          </a:ln>
        </p:spPr>
      </p:sp>
      <p:sp>
        <p:nvSpPr>
          <p:cNvPr id="7" name="Text 5"/>
          <p:cNvSpPr txBox="1"/>
          <p:nvPr/>
        </p:nvSpPr>
        <p:spPr>
          <a:xfrm>
            <a:off x="594360" y="1417320"/>
            <a:ext cx="8229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Now</a:t>
            </a:r>
            <a:endParaRPr lang="en-US" sz="1200" dirty="0"/>
          </a:p>
        </p:txBody>
      </p:sp>
      <p:sp>
        <p:nvSpPr>
          <p:cNvPr id="8" name="Text 6"/>
          <p:cNvSpPr txBox="1"/>
          <p:nvPr/>
        </p:nvSpPr>
        <p:spPr>
          <a:xfrm>
            <a:off x="1645920" y="1280160"/>
            <a:ext cx="6858000" cy="640080"/>
          </a:xfrm>
          <a:prstGeom prst="rect">
            <a:avLst/>
          </a:prstGeom>
          <a:noFill/>
          <a:ln/>
        </p:spPr>
        <p:txBody>
          <a:bodyPr wrap="square" lIns="0" tIns="0" rIns="0" bIns="0" rtlCol="0" anchor="ctr"/>
          <a:lstStyle/>
          <a:p>
            <a:pPr indent="0" marL="0">
              <a:buNone/>
            </a:pPr>
            <a:r>
              <a:rPr lang="en-US" sz="1400" dirty="0">
                <a:solidFill>
                  <a:srgbClr val="1D2B2A"/>
                </a:solidFill>
                <a:latin typeface="Calibri" pitchFamily="34" charset="0"/>
                <a:ea typeface="Calibri" pitchFamily="34" charset="-122"/>
                <a:cs typeface="Calibri" pitchFamily="34" charset="-120"/>
              </a:rPr>
              <a:t>Save and load the bank's records with files / JSON (weeks 6, 11)</a:t>
            </a:r>
            <a:endParaRPr lang="en-US" sz="1400" dirty="0"/>
          </a:p>
        </p:txBody>
      </p:sp>
      <p:sp>
        <p:nvSpPr>
          <p:cNvPr id="9" name="Shape 7"/>
          <p:cNvSpPr/>
          <p:nvPr/>
        </p:nvSpPr>
        <p:spPr>
          <a:xfrm>
            <a:off x="457200" y="2057400"/>
            <a:ext cx="8229600" cy="640080"/>
          </a:xfrm>
          <a:prstGeom prst="roundRect">
            <a:avLst>
              <a:gd name="adj" fmla="val 11429"/>
            </a:avLst>
          </a:prstGeom>
          <a:solidFill>
            <a:srgbClr val="E8F0EE"/>
          </a:solidFill>
          <a:ln w="12700">
            <a:solidFill>
              <a:srgbClr val="E8F0EE"/>
            </a:solidFill>
            <a:prstDash val="solid"/>
          </a:ln>
        </p:spPr>
      </p:sp>
      <p:sp>
        <p:nvSpPr>
          <p:cNvPr id="10" name="Shape 8"/>
          <p:cNvSpPr/>
          <p:nvPr/>
        </p:nvSpPr>
        <p:spPr>
          <a:xfrm>
            <a:off x="594360" y="2194560"/>
            <a:ext cx="822960" cy="365760"/>
          </a:xfrm>
          <a:prstGeom prst="roundRect">
            <a:avLst>
              <a:gd name="adj" fmla="val 20000"/>
            </a:avLst>
          </a:prstGeom>
          <a:solidFill>
            <a:srgbClr val="1F6F68"/>
          </a:solidFill>
          <a:ln w="12700">
            <a:solidFill>
              <a:srgbClr val="FFFFFF"/>
            </a:solidFill>
            <a:prstDash val="solid"/>
          </a:ln>
        </p:spPr>
      </p:sp>
      <p:sp>
        <p:nvSpPr>
          <p:cNvPr id="11" name="Text 9"/>
          <p:cNvSpPr txBox="1"/>
          <p:nvPr/>
        </p:nvSpPr>
        <p:spPr>
          <a:xfrm>
            <a:off x="594360" y="2194560"/>
            <a:ext cx="8229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Next</a:t>
            </a:r>
            <a:endParaRPr lang="en-US" sz="1200" dirty="0"/>
          </a:p>
        </p:txBody>
      </p:sp>
      <p:sp>
        <p:nvSpPr>
          <p:cNvPr id="12" name="Text 10"/>
          <p:cNvSpPr txBox="1"/>
          <p:nvPr/>
        </p:nvSpPr>
        <p:spPr>
          <a:xfrm>
            <a:off x="1645920" y="2057400"/>
            <a:ext cx="6858000" cy="640080"/>
          </a:xfrm>
          <a:prstGeom prst="rect">
            <a:avLst/>
          </a:prstGeom>
          <a:noFill/>
          <a:ln/>
        </p:spPr>
        <p:txBody>
          <a:bodyPr wrap="square" lIns="0" tIns="0" rIns="0" bIns="0" rtlCol="0" anchor="ctr"/>
          <a:lstStyle/>
          <a:p>
            <a:pPr indent="0" marL="0">
              <a:buNone/>
            </a:pPr>
            <a:r>
              <a:rPr lang="en-US" sz="1400" dirty="0">
                <a:solidFill>
                  <a:srgbClr val="1D2B2A"/>
                </a:solidFill>
                <a:latin typeface="Calibri" pitchFamily="34" charset="0"/>
                <a:ea typeface="Calibri" pitchFamily="34" charset="-122"/>
                <a:cs typeface="Calibri" pitchFamily="34" charset="-120"/>
              </a:rPr>
              <a:t>Review the design against SOLID and the design patterns (weeks 10, 11)</a:t>
            </a:r>
            <a:endParaRPr lang="en-US" sz="1400" dirty="0"/>
          </a:p>
        </p:txBody>
      </p:sp>
      <p:sp>
        <p:nvSpPr>
          <p:cNvPr id="13" name="Shape 11"/>
          <p:cNvSpPr/>
          <p:nvPr/>
        </p:nvSpPr>
        <p:spPr>
          <a:xfrm>
            <a:off x="457200" y="2834640"/>
            <a:ext cx="8229600" cy="640080"/>
          </a:xfrm>
          <a:prstGeom prst="roundRect">
            <a:avLst>
              <a:gd name="adj" fmla="val 11429"/>
            </a:avLst>
          </a:prstGeom>
          <a:solidFill>
            <a:srgbClr val="E8F0EE"/>
          </a:solidFill>
          <a:ln w="12700">
            <a:solidFill>
              <a:srgbClr val="E8F0EE"/>
            </a:solidFill>
            <a:prstDash val="solid"/>
          </a:ln>
        </p:spPr>
      </p:sp>
      <p:sp>
        <p:nvSpPr>
          <p:cNvPr id="14" name="Shape 12"/>
          <p:cNvSpPr/>
          <p:nvPr/>
        </p:nvSpPr>
        <p:spPr>
          <a:xfrm>
            <a:off x="594360" y="2971800"/>
            <a:ext cx="822960" cy="365760"/>
          </a:xfrm>
          <a:prstGeom prst="roundRect">
            <a:avLst>
              <a:gd name="adj" fmla="val 20000"/>
            </a:avLst>
          </a:prstGeom>
          <a:solidFill>
            <a:srgbClr val="1F6F68"/>
          </a:solidFill>
          <a:ln w="12700">
            <a:solidFill>
              <a:srgbClr val="FFFFFF"/>
            </a:solidFill>
            <a:prstDash val="solid"/>
          </a:ln>
        </p:spPr>
      </p:sp>
      <p:sp>
        <p:nvSpPr>
          <p:cNvPr id="15" name="Text 13"/>
          <p:cNvSpPr txBox="1"/>
          <p:nvPr/>
        </p:nvSpPr>
        <p:spPr>
          <a:xfrm>
            <a:off x="594360" y="2971800"/>
            <a:ext cx="8229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Next</a:t>
            </a:r>
            <a:endParaRPr lang="en-US" sz="1200" dirty="0"/>
          </a:p>
        </p:txBody>
      </p:sp>
      <p:sp>
        <p:nvSpPr>
          <p:cNvPr id="16" name="Text 14"/>
          <p:cNvSpPr txBox="1"/>
          <p:nvPr/>
        </p:nvSpPr>
        <p:spPr>
          <a:xfrm>
            <a:off x="1645920" y="2834640"/>
            <a:ext cx="6858000" cy="640080"/>
          </a:xfrm>
          <a:prstGeom prst="rect">
            <a:avLst/>
          </a:prstGeom>
          <a:noFill/>
          <a:ln/>
        </p:spPr>
        <p:txBody>
          <a:bodyPr wrap="square" lIns="0" tIns="0" rIns="0" bIns="0" rtlCol="0" anchor="ctr"/>
          <a:lstStyle/>
          <a:p>
            <a:pPr indent="0" marL="0">
              <a:buNone/>
            </a:pPr>
            <a:r>
              <a:rPr lang="en-US" sz="1400" dirty="0">
                <a:solidFill>
                  <a:srgbClr val="1D2B2A"/>
                </a:solidFill>
                <a:latin typeface="Calibri" pitchFamily="34" charset="0"/>
                <a:ea typeface="Calibri" pitchFamily="34" charset="-122"/>
                <a:cs typeface="Calibri" pitchFamily="34" charset="-120"/>
              </a:rPr>
              <a:t>Apply the feedback from this checkpoint</a:t>
            </a:r>
            <a:endParaRPr lang="en-US" sz="1400" dirty="0"/>
          </a:p>
        </p:txBody>
      </p:sp>
      <p:sp>
        <p:nvSpPr>
          <p:cNvPr id="17" name="Shape 15"/>
          <p:cNvSpPr/>
          <p:nvPr/>
        </p:nvSpPr>
        <p:spPr>
          <a:xfrm>
            <a:off x="457200" y="3611880"/>
            <a:ext cx="8229600" cy="640080"/>
          </a:xfrm>
          <a:prstGeom prst="roundRect">
            <a:avLst>
              <a:gd name="adj" fmla="val 11429"/>
            </a:avLst>
          </a:prstGeom>
          <a:solidFill>
            <a:srgbClr val="E8F0EE"/>
          </a:solidFill>
          <a:ln w="12700">
            <a:solidFill>
              <a:srgbClr val="E8F0EE"/>
            </a:solidFill>
            <a:prstDash val="solid"/>
          </a:ln>
        </p:spPr>
      </p:sp>
      <p:sp>
        <p:nvSpPr>
          <p:cNvPr id="18" name="Shape 16"/>
          <p:cNvSpPr/>
          <p:nvPr/>
        </p:nvSpPr>
        <p:spPr>
          <a:xfrm>
            <a:off x="594360" y="3749040"/>
            <a:ext cx="822960" cy="365760"/>
          </a:xfrm>
          <a:prstGeom prst="roundRect">
            <a:avLst>
              <a:gd name="adj" fmla="val 20000"/>
            </a:avLst>
          </a:prstGeom>
          <a:solidFill>
            <a:srgbClr val="0B4F4A"/>
          </a:solidFill>
          <a:ln w="12700">
            <a:solidFill>
              <a:srgbClr val="FFFFFF"/>
            </a:solidFill>
            <a:prstDash val="solid"/>
          </a:ln>
        </p:spPr>
      </p:sp>
      <p:sp>
        <p:nvSpPr>
          <p:cNvPr id="19" name="Text 17"/>
          <p:cNvSpPr txBox="1"/>
          <p:nvPr/>
        </p:nvSpPr>
        <p:spPr>
          <a:xfrm>
            <a:off x="594360" y="3749040"/>
            <a:ext cx="8229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Final</a:t>
            </a:r>
            <a:endParaRPr lang="en-US" sz="1200" dirty="0"/>
          </a:p>
        </p:txBody>
      </p:sp>
      <p:sp>
        <p:nvSpPr>
          <p:cNvPr id="20" name="Text 18"/>
          <p:cNvSpPr txBox="1"/>
          <p:nvPr/>
        </p:nvSpPr>
        <p:spPr>
          <a:xfrm>
            <a:off x="1645920" y="3611880"/>
            <a:ext cx="6858000" cy="640080"/>
          </a:xfrm>
          <a:prstGeom prst="rect">
            <a:avLst/>
          </a:prstGeom>
          <a:noFill/>
          <a:ln/>
        </p:spPr>
        <p:txBody>
          <a:bodyPr wrap="square" lIns="0" tIns="0" rIns="0" bIns="0" rtlCol="0" anchor="ctr"/>
          <a:lstStyle/>
          <a:p>
            <a:pPr indent="0" marL="0">
              <a:buNone/>
            </a:pPr>
            <a:r>
              <a:rPr lang="en-US" sz="1400" dirty="0">
                <a:solidFill>
                  <a:srgbClr val="1D2B2A"/>
                </a:solidFill>
                <a:latin typeface="Calibri" pitchFamily="34" charset="0"/>
                <a:ea typeface="Calibri" pitchFamily="34" charset="-122"/>
                <a:cs typeface="Calibri" pitchFamily="34" charset="-120"/>
              </a:rPr>
              <a:t>Complete the design report and diagrams; prepare the viva</a:t>
            </a:r>
            <a:endParaRPr lang="en-US" sz="1400" dirty="0"/>
          </a:p>
        </p:txBody>
      </p:sp>
      <p:sp>
        <p:nvSpPr>
          <p:cNvPr id="21" name="Text 19"/>
          <p:cNvSpPr txBox="1"/>
          <p:nvPr/>
        </p:nvSpPr>
        <p:spPr>
          <a:xfrm>
            <a:off x="457200" y="4480560"/>
            <a:ext cx="8229600" cy="365760"/>
          </a:xfrm>
          <a:prstGeom prst="rect">
            <a:avLst/>
          </a:prstGeom>
          <a:noFill/>
          <a:ln/>
        </p:spPr>
        <p:txBody>
          <a:bodyPr wrap="square" lIns="0" tIns="0" rIns="0" bIns="0" rtlCol="0" anchor="ctr"/>
          <a:lstStyle/>
          <a:p>
            <a:pPr indent="0" marL="0">
              <a:buNone/>
            </a:pPr>
            <a:r>
              <a:rPr lang="en-US" sz="1600" b="1" dirty="0">
                <a:solidFill>
                  <a:srgbClr val="B8862F"/>
                </a:solidFill>
                <a:latin typeface="Cambria" pitchFamily="34" charset="0"/>
                <a:ea typeface="Cambria" pitchFamily="34" charset="-122"/>
                <a:cs typeface="Cambria" pitchFamily="34" charset="-120"/>
              </a:rPr>
              <a:t>Shukriya — questions welcome</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Problem 4 - Progress presentation 1</dc:title>
  <dc:subject>PptxGenJS Presentation</dc:subject>
  <dc:creator>Khizar Rizwan</dc:creator>
  <cp:lastModifiedBy>Khizar Rizwan</cp:lastModifiedBy>
  <cp:revision>1</cp:revision>
  <dcterms:created xsi:type="dcterms:W3CDTF">2026-10-20T01:28:03Z</dcterms:created>
  <dcterms:modified xsi:type="dcterms:W3CDTF">2026-10-20T01:28:03Z</dcterms:modified>
</cp:coreProperties>
</file>