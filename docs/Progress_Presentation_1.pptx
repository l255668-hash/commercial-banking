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Mera naam Khizar Rizwan hai, roll number 25L-5668. Mera project Problem 4 hai: ek commercial bank ka object-oriented model, jis mein customers, loans, payments, cards aur compliance sab shamil hain. Agle paanch minute mein main aap ko apni research, design, ab tak ki progress aur agle steps dikhaunga.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[0:20-0:55] Main ne project ko chhe phases mein plan kiya. Pehle chaar phases mukammal hain: research aur assumptions, class aur inheritance design, tests ke saath Python implementation, aur GUI ke saath AI assistant. Is waqt paanchwan phase, yani refinement, jaari hai, aur aakhri phase final report aur viva hai. Neeche diye gaye numbers code se liye gaye hain: aath sources, ikhattar business classes, athanve operations, solah exception scenarios, aur sattattar automated tests jo sab pass hote hain. Brief kam az kam tees classes aur tees operations maangta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[0:55-1:40] Brief kehta hai ke model banane se pehle industry ko samjho. Is liye main ne aath sources study kiye. FATF Recommendations aur State Bank of Pakistan ki AML regulations se customer due diligence aur beneficial ownership samjha. Basel Committee se risk management. ISO 20022 se payment ka lifecycle, ke payment sirf "hui" ya "nahi hui" nahi hoti, balkay pending, held, posted aur failed jaise statuses se guzarti hai. Visa aur Mastercard ke dispute rules se reversal, refund aur chargeback ka farq. IFRS 9 se loan restructuring, BIAN se product aur customer agreement ka farq, aur Martin Fowler ki Analysis Patterns se roles aur time-dated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Is research ne mera design badal diya. Pehle mera khayal tha ke Customer, Person ki subclass hogi. Lekin KYC rules batate hain ke customer, director, owner aur signatory ek hi insaan ke roles hain. Is liye ek Person class hai, aur roles alag, dated objects hain. Doosra: bank kabhi galat payment ko mitata nahi, balkay nayi entry post karta hai. Is liye Reversal aur Chargeback nayi transactions hain. Teesra: product band ho jaye to purane customers apni purani terms par rehte hain, is liye ProductDefinition aur customer ka Arrangement alag classes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Yeh research ke baad ka class diagram hai. Is mein chaar hierarchies hain: Party, Arrangement, BankTransaction aur Case. Baqi cheezen, jaise cards, mandates, branches aur employees, association se jurri hain, kyunke woh ek doosre se related hain magar ek doosre ki qism nahi. Mera usool yeh tha: inheritance sirf wahan jahan sach mein "is-a" rishta 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[2:50-3:25] Yeh do multi-level hierarchies UML mein hain. Party se Organization, aur Organization se Company aur Charity. Aur Arrangement se DepositAccount, phir Current, Savings aur Term Deposit. Shared data hamesha us sab se oonche level par hai jahan har subclass ko us ki zaroorat hai. Daayen taraf woh inheritance hai jo main ne soch kar reject ki: card account nahi kyunke us mein paisa nahi hota, sole trader alag legal entity nahi, aur merchant refund reversal nahi kyunke asal purchase valid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[3:25-3:55] Yeh flowchart ek poora workflow dikhata hai: digital banking se ek bara transfer, jo brief ka apna case hai. Pehle authority check hoti hai, phir funds aur limit, phir dual control jahan doosre signatory ki approval chahiye, aur phir compliance review. Agar koi rule fail ho to payment mitti nahi, balkay wajah ke saath record mein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Ab implementation. Model Python mein ban chuka hai: chaaron hierarchies, double-entry ledger jo hamesha balance rehta hai, aur brief ke solah exception scenarios, jo sattattar automated tests se check hote hain. Tkinter mein GUI bhi ban chuka hai, yeh us ki screen hai, jahan staff aur customer dono apne role ke hisaab se kaam karte hain. Aur ek AI assistant bhi hai, jo Claude API se bank ke records parh kar sawalon ka jawab deta hai, magar khud koi record nahi badal sakta. Poora bank ek JSON file mein save aur dobara load bhi ho jata hai. Is waqt main refinement kar raha hoon: SOLID aur design patterns ke mutabiq review, aur final presentation ki tayyari.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[4:35-5:00] Agle steps: pehle SOLID aur design patterns ke mutabiq design review, phir aaj ke feedback par amal, phir final presentation aur live demo ki tayyari. Aakhir mein final report aur viva. Shukriya, main sawalat ke liye hazir hoon.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383280"/>
            <a:ext cx="804672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  •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Six planned phases: four complete, refinement under way, then the final submission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868680" y="1737360"/>
            <a:ext cx="7406640" cy="0"/>
          </a:xfrm>
          <a:prstGeom prst="line">
            <a:avLst/>
          </a:prstGeom>
          <a:noFill/>
          <a:ln w="25400">
            <a:solidFill>
              <a:srgbClr val="C9D6D3"/>
            </a:solidFill>
            <a:prstDash val="solid"/>
          </a:ln>
        </p:spPr>
      </p:sp>
      <p:sp>
        <p:nvSpPr>
          <p:cNvPr id="6" name="Shape 4"/>
          <p:cNvSpPr/>
          <p:nvPr/>
        </p:nvSpPr>
        <p:spPr>
          <a:xfrm>
            <a:off x="68580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8288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Domain research &amp; assumptions</a:t>
            </a:r>
            <a:endParaRPr lang="en-US" sz="1100" dirty="0"/>
          </a:p>
        </p:txBody>
      </p:sp>
      <p:sp>
        <p:nvSpPr>
          <p:cNvPr id="9" name="Text 7"/>
          <p:cNvSpPr txBox="1"/>
          <p:nvPr/>
        </p:nvSpPr>
        <p:spPr>
          <a:xfrm>
            <a:off x="182880"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0" name="Shape 8"/>
          <p:cNvSpPr/>
          <p:nvPr/>
        </p:nvSpPr>
        <p:spPr>
          <a:xfrm>
            <a:off x="216712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216712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664208"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Class &amp; inheritance design</a:t>
            </a:r>
            <a:endParaRPr lang="en-US" sz="1100" dirty="0"/>
          </a:p>
        </p:txBody>
      </p:sp>
      <p:sp>
        <p:nvSpPr>
          <p:cNvPr id="13" name="Text 11"/>
          <p:cNvSpPr txBox="1"/>
          <p:nvPr/>
        </p:nvSpPr>
        <p:spPr>
          <a:xfrm>
            <a:off x="1664208"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4" name="Shape 12"/>
          <p:cNvSpPr/>
          <p:nvPr/>
        </p:nvSpPr>
        <p:spPr>
          <a:xfrm>
            <a:off x="364845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364845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3145536"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Implementation + tests</a:t>
            </a:r>
            <a:endParaRPr lang="en-US" sz="1100" dirty="0"/>
          </a:p>
        </p:txBody>
      </p:sp>
      <p:sp>
        <p:nvSpPr>
          <p:cNvPr id="17" name="Text 15"/>
          <p:cNvSpPr txBox="1"/>
          <p:nvPr/>
        </p:nvSpPr>
        <p:spPr>
          <a:xfrm>
            <a:off x="3145536"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8" name="Shape 16"/>
          <p:cNvSpPr/>
          <p:nvPr/>
        </p:nvSpPr>
        <p:spPr>
          <a:xfrm>
            <a:off x="5129784" y="1554480"/>
            <a:ext cx="365760" cy="365760"/>
          </a:xfrm>
          <a:prstGeom prst="ellipse">
            <a:avLst/>
          </a:prstGeom>
          <a:solidFill>
            <a:srgbClr val="2E7D4F"/>
          </a:solidFill>
          <a:ln w="25400">
            <a:solidFill>
              <a:srgbClr val="FFFFFF"/>
            </a:solidFill>
            <a:prstDash val="solid"/>
          </a:ln>
        </p:spPr>
      </p:sp>
      <p:sp>
        <p:nvSpPr>
          <p:cNvPr id="19" name="Text 17"/>
          <p:cNvSpPr txBox="1"/>
          <p:nvPr/>
        </p:nvSpPr>
        <p:spPr>
          <a:xfrm>
            <a:off x="5129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4626864"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GUI + AI assistant</a:t>
            </a:r>
            <a:endParaRPr lang="en-US" sz="1100" dirty="0"/>
          </a:p>
        </p:txBody>
      </p:sp>
      <p:sp>
        <p:nvSpPr>
          <p:cNvPr id="21" name="Text 19"/>
          <p:cNvSpPr txBox="1"/>
          <p:nvPr/>
        </p:nvSpPr>
        <p:spPr>
          <a:xfrm>
            <a:off x="4626864"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22" name="Shape 20"/>
          <p:cNvSpPr/>
          <p:nvPr/>
        </p:nvSpPr>
        <p:spPr>
          <a:xfrm>
            <a:off x="6611112" y="1554480"/>
            <a:ext cx="365760" cy="365760"/>
          </a:xfrm>
          <a:prstGeom prst="ellipse">
            <a:avLst/>
          </a:prstGeom>
          <a:solidFill>
            <a:srgbClr val="C98A12"/>
          </a:solidFill>
          <a:ln w="25400">
            <a:solidFill>
              <a:srgbClr val="FFFFFF"/>
            </a:solidFill>
            <a:prstDash val="solid"/>
          </a:ln>
        </p:spPr>
      </p:sp>
      <p:sp>
        <p:nvSpPr>
          <p:cNvPr id="23" name="Text 21"/>
          <p:cNvSpPr txBox="1"/>
          <p:nvPr/>
        </p:nvSpPr>
        <p:spPr>
          <a:xfrm>
            <a:off x="661111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6108192"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Refinement: SOLID review</a:t>
            </a:r>
            <a:endParaRPr lang="en-US" sz="1100" dirty="0"/>
          </a:p>
        </p:txBody>
      </p:sp>
      <p:sp>
        <p:nvSpPr>
          <p:cNvPr id="25" name="Text 23"/>
          <p:cNvSpPr txBox="1"/>
          <p:nvPr/>
        </p:nvSpPr>
        <p:spPr>
          <a:xfrm>
            <a:off x="6108192"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6" name="Shape 24"/>
          <p:cNvSpPr/>
          <p:nvPr/>
        </p:nvSpPr>
        <p:spPr>
          <a:xfrm>
            <a:off x="8092440" y="1554480"/>
            <a:ext cx="365760" cy="365760"/>
          </a:xfrm>
          <a:prstGeom prst="ellipse">
            <a:avLst/>
          </a:prstGeom>
          <a:solidFill>
            <a:srgbClr val="9AAAA7"/>
          </a:solidFill>
          <a:ln w="25400">
            <a:solidFill>
              <a:srgbClr val="FFFFFF"/>
            </a:solidFill>
            <a:prstDash val="solid"/>
          </a:ln>
        </p:spPr>
      </p:sp>
      <p:sp>
        <p:nvSpPr>
          <p:cNvPr id="27" name="Text 25"/>
          <p:cNvSpPr txBox="1"/>
          <p:nvPr/>
        </p:nvSpPr>
        <p:spPr>
          <a:xfrm>
            <a:off x="809244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758952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Final report &amp; viva</a:t>
            </a:r>
            <a:endParaRPr lang="en-US" sz="1100" dirty="0"/>
          </a:p>
        </p:txBody>
      </p:sp>
      <p:sp>
        <p:nvSpPr>
          <p:cNvPr id="29" name="Text 27"/>
          <p:cNvSpPr txBox="1"/>
          <p:nvPr/>
        </p:nvSpPr>
        <p:spPr>
          <a:xfrm>
            <a:off x="7589520" y="2514600"/>
            <a:ext cx="1371600" cy="228600"/>
          </a:xfrm>
          <a:prstGeom prst="rect">
            <a:avLst/>
          </a:prstGeom>
          <a:noFill/>
          <a:ln/>
        </p:spPr>
        <p:txBody>
          <a:bodyPr wrap="square" lIns="0" tIns="0" rIns="0" bIns="0" rtlCol="0" anchor="ctr"/>
          <a:lstStyle/>
          <a:p>
            <a:pPr algn="ctr" indent="0" marL="0">
              <a:buNone/>
            </a:pPr>
            <a:r>
              <a:rPr lang="en-US" sz="1050" dirty="0">
                <a:solidFill>
                  <a:srgbClr val="9AAAA7"/>
                </a:solidFill>
                <a:latin typeface="Calibri" pitchFamily="34" charset="0"/>
                <a:ea typeface="Calibri" pitchFamily="34" charset="-122"/>
                <a:cs typeface="Calibri" pitchFamily="34" charset="-120"/>
              </a:rPr>
              <a:t>Next</a:t>
            </a:r>
            <a:endParaRPr lang="en-US" sz="1050" dirty="0"/>
          </a:p>
        </p:txBody>
      </p:sp>
      <p:sp>
        <p:nvSpPr>
          <p:cNvPr id="30" name="Shape 28"/>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1" name="Text 29"/>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a:t>
            </a:r>
            <a:endParaRPr lang="en-US" sz="3400" dirty="0"/>
          </a:p>
        </p:txBody>
      </p:sp>
      <p:sp>
        <p:nvSpPr>
          <p:cNvPr id="32" name="Text 30"/>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sources studied</a:t>
            </a:r>
            <a:endParaRPr lang="en-US" sz="1150" dirty="0"/>
          </a:p>
        </p:txBody>
      </p:sp>
      <p:sp>
        <p:nvSpPr>
          <p:cNvPr id="33" name="Shape 31"/>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4" name="Text 32"/>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71</a:t>
            </a:r>
            <a:endParaRPr lang="en-US" sz="3400" dirty="0"/>
          </a:p>
        </p:txBody>
      </p:sp>
      <p:sp>
        <p:nvSpPr>
          <p:cNvPr id="35" name="Text 33"/>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business classes</a:t>
            </a:r>
            <a:endParaRPr lang="en-US" sz="1150" dirty="0"/>
          </a:p>
        </p:txBody>
      </p:sp>
      <p:sp>
        <p:nvSpPr>
          <p:cNvPr id="36" name="Shape 34"/>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37" name="Text 35"/>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98</a:t>
            </a:r>
            <a:endParaRPr lang="en-US" sz="3400" dirty="0"/>
          </a:p>
        </p:txBody>
      </p:sp>
      <p:sp>
        <p:nvSpPr>
          <p:cNvPr id="38" name="Text 36"/>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operations</a:t>
            </a:r>
            <a:endParaRPr lang="en-US" sz="1150" dirty="0"/>
          </a:p>
        </p:txBody>
      </p:sp>
      <p:sp>
        <p:nvSpPr>
          <p:cNvPr id="39" name="Shape 37"/>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0" name="Text 38"/>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16</a:t>
            </a:r>
            <a:endParaRPr lang="en-US" sz="3400" dirty="0"/>
          </a:p>
        </p:txBody>
      </p:sp>
      <p:sp>
        <p:nvSpPr>
          <p:cNvPr id="41" name="Text 39"/>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exception scenarios</a:t>
            </a:r>
            <a:endParaRPr lang="en-US" sz="1150" dirty="0"/>
          </a:p>
        </p:txBody>
      </p:sp>
      <p:sp>
        <p:nvSpPr>
          <p:cNvPr id="42" name="Shape 40"/>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3" name="Text 41"/>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77</a:t>
            </a:r>
            <a:endParaRPr lang="en-US" sz="3400" dirty="0"/>
          </a:p>
        </p:txBody>
      </p:sp>
      <p:sp>
        <p:nvSpPr>
          <p:cNvPr id="44" name="Text 42"/>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automated tests</a:t>
            </a:r>
            <a:endParaRPr lang="en-US" sz="1150" dirty="0"/>
          </a:p>
        </p:txBody>
      </p:sp>
      <p:sp>
        <p:nvSpPr>
          <p:cNvPr id="45" name="Text 43"/>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The brief asks for at least 30 meaningful classes, 30 operations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Domain research: what I studied</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Eight sources, chosen to cover every research area the brief lists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6" name="Text 4"/>
          <p:cNvSpPr txBox="1"/>
          <p:nvPr/>
        </p:nvSpPr>
        <p:spPr>
          <a:xfrm>
            <a:off x="594360"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594360"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 (Rec. 10, 24, 25)</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Text 8"/>
          <p:cNvSpPr txBox="1"/>
          <p:nvPr/>
        </p:nvSpPr>
        <p:spPr>
          <a:xfrm>
            <a:off x="2679192"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2679192"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2" name="Text 10"/>
          <p:cNvSpPr txBox="1"/>
          <p:nvPr/>
        </p:nvSpPr>
        <p:spPr>
          <a:xfrm>
            <a:off x="2679192"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3" name="Shape 11"/>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764024"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4764024"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6" name="Text 14"/>
          <p:cNvSpPr txBox="1"/>
          <p:nvPr/>
        </p:nvSpPr>
        <p:spPr>
          <a:xfrm>
            <a:off x="4764024"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 in banks</a:t>
            </a:r>
            <a:endParaRPr lang="en-US" sz="1100" dirty="0"/>
          </a:p>
        </p:txBody>
      </p:sp>
      <p:sp>
        <p:nvSpPr>
          <p:cNvPr id="17" name="Shape 15"/>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18" name="Text 16"/>
          <p:cNvSpPr txBox="1"/>
          <p:nvPr/>
        </p:nvSpPr>
        <p:spPr>
          <a:xfrm>
            <a:off x="6848856"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848856"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0" name="Text 18"/>
          <p:cNvSpPr txBox="1"/>
          <p:nvPr/>
        </p:nvSpPr>
        <p:spPr>
          <a:xfrm>
            <a:off x="6848856"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1" name="Shape 19"/>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2" name="Text 20"/>
          <p:cNvSpPr txBox="1"/>
          <p:nvPr/>
        </p:nvSpPr>
        <p:spPr>
          <a:xfrm>
            <a:off x="594360"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5</a:t>
            </a:r>
            <a:endParaRPr lang="en-US" sz="1800" dirty="0"/>
          </a:p>
        </p:txBody>
      </p:sp>
      <p:sp>
        <p:nvSpPr>
          <p:cNvPr id="23" name="Text 21"/>
          <p:cNvSpPr txBox="1"/>
          <p:nvPr/>
        </p:nvSpPr>
        <p:spPr>
          <a:xfrm>
            <a:off x="594360"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4" name="Text 22"/>
          <p:cNvSpPr txBox="1"/>
          <p:nvPr/>
        </p:nvSpPr>
        <p:spPr>
          <a:xfrm>
            <a:off x="594360"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5" name="Shape 23"/>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26" name="Text 24"/>
          <p:cNvSpPr txBox="1"/>
          <p:nvPr/>
        </p:nvSpPr>
        <p:spPr>
          <a:xfrm>
            <a:off x="2679192"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6</a:t>
            </a:r>
            <a:endParaRPr lang="en-US" sz="1800" dirty="0"/>
          </a:p>
        </p:txBody>
      </p:sp>
      <p:sp>
        <p:nvSpPr>
          <p:cNvPr id="27" name="Text 25"/>
          <p:cNvSpPr txBox="1"/>
          <p:nvPr/>
        </p:nvSpPr>
        <p:spPr>
          <a:xfrm>
            <a:off x="2679192"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28" name="Text 26"/>
          <p:cNvSpPr txBox="1"/>
          <p:nvPr/>
        </p:nvSpPr>
        <p:spPr>
          <a:xfrm>
            <a:off x="2679192"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29" name="Shape 27"/>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0" name="Text 28"/>
          <p:cNvSpPr txBox="1"/>
          <p:nvPr/>
        </p:nvSpPr>
        <p:spPr>
          <a:xfrm>
            <a:off x="4764024"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7</a:t>
            </a:r>
            <a:endParaRPr lang="en-US" sz="1800" dirty="0"/>
          </a:p>
        </p:txBody>
      </p:sp>
      <p:sp>
        <p:nvSpPr>
          <p:cNvPr id="31" name="Text 29"/>
          <p:cNvSpPr txBox="1"/>
          <p:nvPr/>
        </p:nvSpPr>
        <p:spPr>
          <a:xfrm>
            <a:off x="4764024"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2" name="Text 30"/>
          <p:cNvSpPr txBox="1"/>
          <p:nvPr/>
        </p:nvSpPr>
        <p:spPr>
          <a:xfrm>
            <a:off x="4764024"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3" name="Shape 31"/>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34" name="Text 32"/>
          <p:cNvSpPr txBox="1"/>
          <p:nvPr/>
        </p:nvSpPr>
        <p:spPr>
          <a:xfrm>
            <a:off x="6848856"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8</a:t>
            </a:r>
            <a:endParaRPr lang="en-US" sz="1800" dirty="0"/>
          </a:p>
        </p:txBody>
      </p:sp>
      <p:sp>
        <p:nvSpPr>
          <p:cNvPr id="35" name="Text 33"/>
          <p:cNvSpPr txBox="1"/>
          <p:nvPr/>
        </p:nvSpPr>
        <p:spPr>
          <a:xfrm>
            <a:off x="6848856"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36" name="Text 34"/>
          <p:cNvSpPr txBox="1"/>
          <p:nvPr/>
        </p:nvSpPr>
        <p:spPr>
          <a:xfrm>
            <a:off x="6848856"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and time-dated records</a:t>
            </a:r>
            <a:endParaRPr lang="en-US" sz="1100" dirty="0"/>
          </a:p>
        </p:txBody>
      </p:sp>
      <p:sp>
        <p:nvSpPr>
          <p:cNvPr id="37" name="Text 35"/>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are in the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How the research changed my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My first idea, what the research showed, and the design I adopted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8" name="Text 6"/>
          <p:cNvSpPr txBox="1"/>
          <p:nvPr/>
        </p:nvSpPr>
        <p:spPr>
          <a:xfrm>
            <a:off x="64008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Customer, Director, Signatory as subclasses of Person</a:t>
            </a:r>
            <a:endParaRPr lang="en-US" sz="1200" dirty="0"/>
          </a:p>
        </p:txBody>
      </p:sp>
      <p:sp>
        <p:nvSpPr>
          <p:cNvPr id="9" name="Text 7"/>
          <p:cNvSpPr txBox="1"/>
          <p:nvPr/>
        </p:nvSpPr>
        <p:spPr>
          <a:xfrm>
            <a:off x="64008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0" name="Text 8"/>
          <p:cNvSpPr txBox="1"/>
          <p:nvPr/>
        </p:nvSpPr>
        <p:spPr>
          <a:xfrm>
            <a:off x="64008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One Person record; roles are dated objects (Mandate, OfficerRole)</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14" name="Text 12"/>
          <p:cNvSpPr txBox="1"/>
          <p:nvPr/>
        </p:nvSpPr>
        <p:spPr>
          <a:xfrm>
            <a:off x="342900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Mark a wrong payment as “refunded”</a:t>
            </a:r>
            <a:endParaRPr lang="en-US" sz="1200" dirty="0"/>
          </a:p>
        </p:txBody>
      </p:sp>
      <p:sp>
        <p:nvSpPr>
          <p:cNvPr id="15" name="Text 13"/>
          <p:cNvSpPr txBox="1"/>
          <p:nvPr/>
        </p:nvSpPr>
        <p:spPr>
          <a:xfrm>
            <a:off x="342900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6" name="Text 14"/>
          <p:cNvSpPr txBox="1"/>
          <p:nvPr/>
        </p:nvSpPr>
        <p:spPr>
          <a:xfrm>
            <a:off x="342900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Reversal and Chargeback: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Offer ≠ what a customer holds</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20" name="Text 18"/>
          <p:cNvSpPr txBox="1"/>
          <p:nvPr/>
        </p:nvSpPr>
        <p:spPr>
          <a:xfrm>
            <a:off x="621792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One class for a product and a customer’s account</a:t>
            </a:r>
            <a:endParaRPr lang="en-US" sz="1200" dirty="0"/>
          </a:p>
        </p:txBody>
      </p:sp>
      <p:sp>
        <p:nvSpPr>
          <p:cNvPr id="21" name="Text 19"/>
          <p:cNvSpPr txBox="1"/>
          <p:nvPr/>
        </p:nvSpPr>
        <p:spPr>
          <a:xfrm>
            <a:off x="621792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22" name="Text 20"/>
          <p:cNvSpPr txBox="1"/>
          <p:nvPr/>
        </p:nvSpPr>
        <p:spPr>
          <a:xfrm>
            <a:off x="621792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ProductDefinition (versioned terms) vs Arrangement (pins its version)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lide_overview.png">    </p:cNvPr>
          <p:cNvPicPr>
            <a:picLocks noChangeAspect="1"/>
          </p:cNvPicPr>
          <p:nvPr/>
        </p:nvPicPr>
        <p:blipFill>
          <a:blip r:embed="rId1"/>
          <a:stretch>
            <a:fillRect/>
          </a:stretch>
        </p:blipFill>
        <p:spPr>
          <a:xfrm>
            <a:off x="1524000" y="1188720"/>
            <a:ext cx="6096000"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Inheritance only for a true “is-a”; everything else is association. Full UML in the design report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53977"/>
            <a:ext cx="2743200" cy="2504125"/>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rules are checked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Implementation and GUI: built and tested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Python, standard library only; GUI in Tkinter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creenshots/gui_02_overview.png">    </p:cNvPr>
          <p:cNvPicPr>
            <a:picLocks noChangeAspect="1"/>
          </p:cNvPicPr>
          <p:nvPr/>
        </p:nvPicPr>
        <p:blipFill>
          <a:blip r:embed="rId1"/>
          <a:stretch>
            <a:fillRect/>
          </a:stretch>
        </p:blipFill>
        <p:spPr>
          <a:xfrm>
            <a:off x="365760" y="1300480"/>
            <a:ext cx="4572000" cy="2794000"/>
          </a:xfrm>
          <a:prstGeom prst="rect">
            <a:avLst/>
          </a:prstGeom>
        </p:spPr>
      </p:pic>
      <p:sp>
        <p:nvSpPr>
          <p:cNvPr id="6" name="Text 3"/>
          <p:cNvSpPr txBox="1"/>
          <p:nvPr/>
        </p:nvSpPr>
        <p:spPr>
          <a:xfrm>
            <a:off x="365760" y="4206240"/>
            <a:ext cx="4572000" cy="274320"/>
          </a:xfrm>
          <a:prstGeom prst="rect">
            <a:avLst/>
          </a:prstGeom>
          <a:noFill/>
          <a:ln/>
        </p:spPr>
        <p:txBody>
          <a:bodyPr wrap="square" lIns="0" tIns="0" rIns="0" bIns="0" rtlCol="0" anchor="ctr"/>
          <a:lstStyle/>
          <a:p>
            <a:pPr algn="ctr" indent="0" marL="0">
              <a:buNone/>
            </a:pPr>
            <a:r>
              <a:rPr lang="en-US" sz="1050" i="1" dirty="0">
                <a:solidFill>
                  <a:srgbClr val="5B6B69"/>
                </a:solidFill>
                <a:latin typeface="Calibri" pitchFamily="34" charset="0"/>
                <a:ea typeface="Calibri" pitchFamily="34" charset="-122"/>
                <a:cs typeface="Calibri" pitchFamily="34" charset="-120"/>
              </a:rPr>
              <a:t>GUI prototype: staff overview screen</a:t>
            </a:r>
            <a:endParaRPr lang="en-US" sz="1050" dirty="0"/>
          </a:p>
        </p:txBody>
      </p:sp>
      <p:sp>
        <p:nvSpPr>
          <p:cNvPr id="7" name="Shape 4"/>
          <p:cNvSpPr/>
          <p:nvPr/>
        </p:nvSpPr>
        <p:spPr>
          <a:xfrm>
            <a:off x="5212080" y="1234440"/>
            <a:ext cx="1188720" cy="310896"/>
          </a:xfrm>
          <a:prstGeom prst="roundRect">
            <a:avLst>
              <a:gd name="adj" fmla="val 23529"/>
            </a:avLst>
          </a:prstGeom>
          <a:solidFill>
            <a:srgbClr val="2E7D4F"/>
          </a:solidFill>
          <a:ln w="12700">
            <a:solidFill>
              <a:srgbClr val="2E7D4F"/>
            </a:solidFill>
            <a:prstDash val="solid"/>
          </a:ln>
        </p:spPr>
      </p:sp>
      <p:sp>
        <p:nvSpPr>
          <p:cNvPr id="8" name="Text 5"/>
          <p:cNvSpPr txBox="1"/>
          <p:nvPr/>
        </p:nvSpPr>
        <p:spPr>
          <a:xfrm>
            <a:off x="5212080" y="123444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Built</a:t>
            </a:r>
            <a:endParaRPr lang="en-US" sz="1150" dirty="0"/>
          </a:p>
        </p:txBody>
      </p:sp>
      <p:sp>
        <p:nvSpPr>
          <p:cNvPr id="9" name="Text 6"/>
          <p:cNvSpPr txBox="1"/>
          <p:nvPr/>
        </p:nvSpPr>
        <p:spPr>
          <a:xfrm>
            <a:off x="5212080" y="1618488"/>
            <a:ext cx="3566160" cy="1536192"/>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Four hierarchies; double-entry ledger that always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16 exception scenarios, 77 automated tests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for staff and customers; AI assistant</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Save and load the whole bank (JSON file)</a:t>
            </a:r>
            <a:endParaRPr lang="en-US" sz="1200" dirty="0"/>
          </a:p>
        </p:txBody>
      </p:sp>
      <p:sp>
        <p:nvSpPr>
          <p:cNvPr id="10" name="Shape 7"/>
          <p:cNvSpPr/>
          <p:nvPr/>
        </p:nvSpPr>
        <p:spPr>
          <a:xfrm>
            <a:off x="5212080" y="3383280"/>
            <a:ext cx="1188720" cy="310896"/>
          </a:xfrm>
          <a:prstGeom prst="roundRect">
            <a:avLst>
              <a:gd name="adj" fmla="val 23529"/>
            </a:avLst>
          </a:prstGeom>
          <a:solidFill>
            <a:srgbClr val="C98A12"/>
          </a:solidFill>
          <a:ln w="12700">
            <a:solidFill>
              <a:srgbClr val="C98A12"/>
            </a:solidFill>
            <a:prstDash val="solid"/>
          </a:ln>
        </p:spPr>
      </p:sp>
      <p:sp>
        <p:nvSpPr>
          <p:cNvPr id="11" name="Text 8"/>
          <p:cNvSpPr txBox="1"/>
          <p:nvPr/>
        </p:nvSpPr>
        <p:spPr>
          <a:xfrm>
            <a:off x="5212080" y="338328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Now refining</a:t>
            </a:r>
            <a:endParaRPr lang="en-US" sz="1150" dirty="0"/>
          </a:p>
        </p:txBody>
      </p:sp>
      <p:sp>
        <p:nvSpPr>
          <p:cNvPr id="12" name="Text 9"/>
          <p:cNvSpPr txBox="1"/>
          <p:nvPr/>
        </p:nvSpPr>
        <p:spPr>
          <a:xfrm>
            <a:off x="5212080" y="3767328"/>
            <a:ext cx="3566160" cy="768096"/>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Design review against SOLID and design patterns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The final 30-minute presentation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Review the design against SOLID and the design patterns (weeks 10, 11)</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Apply the feedback from this checkpoint</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Prepare the final 30-minute presentation and live demonstration</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Shukriya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2026-10-20T01:37:00Z</dcterms:created>
  <dcterms:modified xsi:type="dcterms:W3CDTF">2026-10-20T01:37:00Z</dcterms:modified>
</cp:coreProperties>
</file>