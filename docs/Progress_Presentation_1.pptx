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Assalam-o-Alaikum. I am Khizar Rizwan, and my project is Problem 4: a commercial bank modelled with classes and inheritance. In five minutes I will show where the project stands, the research behind the design, the class and inheritance diagrams, one workflow and one lifecycle, and what I will do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[0:20-1:05] Here is my progress. I planned seven phases. The first five are complete: research, assumptions, the class design, the core implementation with tests, and a seeded demonstration with a desktop interface. The numbers underneath are measured from the code: 71 business classes, 98 operations, four multi-level inheritance hierarchies, 16 scenarios where the normal workflow breaks, and 73 automated tests that all pass. The brief asks for at least 30 classes and 30 operations, so the minimum is covered. I am now in phase six, refining the design with your feedback, and phase seven is the final report and viva.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[1:05-1:50] Before designing I researched how banks actually work, and three findings changed my design. First, know-your-customer rules treat customer, director, owner and signatory as roles of one person. So I have one Person class, and the roles are separate dated objects, not subclasses. Second, banks never erase a wrong payment; they post a new entry that counteracts it. So a Reversal, and a card Chargeback, are new transactions linked to the original. Third, a bank product can stop being sold while existing customers keep it on their old terms. So I separated the product definition from the customer's own arrangement.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[1:50-2:30] This is the class diagram. It is generated from the code itself, so it always matches the program. There are four hierarchies: parties, arrangements, transactions and cases. Everything else, like cards, mandates, branches and employees, is a standalone class connected by association, because those things are related to each other but are not kinds of each other. That distinction was my main rule: inheritance only for an is-a relationship where the parent's data genuinely belongs to every child.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[2:30-3:15] Here are two of the multi-level hierarchies as UML. Party, then Organization, then Company and Charity: an organization adds registration and officers, and each subclass adds its own rule, for example a charity needs two trustees. Arrangement, then DepositAccount, then current, savings and term deposit: every deposit account has a ledger and balance, and each subclass changes only one behaviour. On the right are tempting inheritances I rejected. A customer is a role with a start and an end, not a kind of person. A card holds no money, so it is not an account. A sole trader is legally the person. And a merchant refund is not a reversal, because the original purchase stays valid.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[3:15-3:50] This flowchart shows one complete workflow, a large transfer from the company account through digital banking, exactly the case in the brief. The code checks the rules in this order: authority, then funds and limits, then dual control, where a second signatory must approve, then the compliance hold for review. If any rule fails, the payment is not thrown away; it is kept as a failed transaction with the reason, so the history is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[3:50-4:30] Records also change over time, so each class declares its lifecycle. This UML state machine for a card is drawn from that declaration, and the same declaration is enforced in the code. It covers the brief's critical case: a card is reported stolen and blocked, replaced with a different limit, and when the old card is found it is destroyed, never re-activated. Every old payment still names the exact card that was used, and an illegal move, like destroyed back to active, is refused.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[4:30-5:00] To finish, my next steps. Now, I will refine the model with your feedback from today. Next, I will add saving and loading the bank's records with files and JSON, which we cover in the course, and review the design against SOLID and the design patterns we will study. Finally, I will complete the report and prepare for the viva.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4F4A"/>
        </a:solidFill>
      </p:bgPr>
    </p:bg>
    <p:spTree>
      <p:nvGrpSpPr>
        <p:cNvPr id="1" name=""/>
        <p:cNvGrpSpPr/>
        <p:nvPr/>
      </p:nvGrpSpPr>
      <p:grpSpPr>
        <a:xfrm>
          <a:off x="0" y="0"/>
          <a:ext cx="0" cy="0"/>
          <a:chOff x="0" y="0"/>
          <a:chExt cx="0" cy="0"/>
        </a:xfrm>
      </p:grpSpPr>
      <p:sp>
        <p:nvSpPr>
          <p:cNvPr id="2" name="Text 0"/>
          <p:cNvSpPr txBox="1"/>
          <p:nvPr/>
        </p:nvSpPr>
        <p:spPr>
          <a:xfrm>
            <a:off x="548640" y="731520"/>
            <a:ext cx="8046720" cy="365760"/>
          </a:xfrm>
          <a:prstGeom prst="rect">
            <a:avLst/>
          </a:prstGeom>
          <a:noFill/>
          <a:ln/>
        </p:spPr>
        <p:txBody>
          <a:bodyPr wrap="square" lIns="0" tIns="0" rIns="0" bIns="0" rtlCol="0" anchor="ctr"/>
          <a:lstStyle/>
          <a:p>
            <a:pPr indent="0" marL="0">
              <a:buNone/>
            </a:pPr>
            <a:r>
              <a:rPr lang="en-US" sz="1600" dirty="0">
                <a:solidFill>
                  <a:srgbClr val="CFE3DF"/>
                </a:solidFill>
                <a:latin typeface="Calibri" pitchFamily="34" charset="0"/>
                <a:ea typeface="Calibri" pitchFamily="34" charset="-122"/>
                <a:cs typeface="Calibri" pitchFamily="34" charset="-120"/>
              </a:rPr>
              <a:t>Project Presentation 1  •  Progress checkpoint</a:t>
            </a:r>
            <a:endParaRPr lang="en-US" sz="1600" dirty="0"/>
          </a:p>
        </p:txBody>
      </p:sp>
      <p:sp>
        <p:nvSpPr>
          <p:cNvPr id="3" name="Text 1"/>
          <p:cNvSpPr txBox="1"/>
          <p:nvPr/>
        </p:nvSpPr>
        <p:spPr>
          <a:xfrm>
            <a:off x="548640" y="1143000"/>
            <a:ext cx="8046720" cy="11887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Problem 4: Commercial Banking, Lending, Payments and Compliance</a:t>
            </a:r>
            <a:endParaRPr lang="en-US" sz="3200" dirty="0"/>
          </a:p>
        </p:txBody>
      </p:sp>
      <p:sp>
        <p:nvSpPr>
          <p:cNvPr id="4" name="Text 2"/>
          <p:cNvSpPr txBox="1"/>
          <p:nvPr/>
        </p:nvSpPr>
        <p:spPr>
          <a:xfrm>
            <a:off x="548640" y="2377440"/>
            <a:ext cx="8046720" cy="411480"/>
          </a:xfrm>
          <a:prstGeom prst="rect">
            <a:avLst/>
          </a:prstGeom>
          <a:noFill/>
          <a:ln/>
        </p:spPr>
        <p:txBody>
          <a:bodyPr wrap="square" lIns="0" tIns="0" rIns="0" bIns="0" rtlCol="0" anchor="ctr"/>
          <a:lstStyle/>
          <a:p>
            <a:pPr indent="0" marL="0">
              <a:buNone/>
            </a:pPr>
            <a:r>
              <a:rPr lang="en-US" sz="1500" i="1" dirty="0">
                <a:solidFill>
                  <a:srgbClr val="E9D3A6"/>
                </a:solidFill>
                <a:latin typeface="Calibri" pitchFamily="34" charset="0"/>
                <a:ea typeface="Calibri" pitchFamily="34" charset="-122"/>
                <a:cs typeface="Calibri" pitchFamily="34" charset="-120"/>
              </a:rPr>
              <a:t>Modelling a bank with classes and inheritance, without reducing everything to “account”</a:t>
            </a:r>
            <a:endParaRPr lang="en-US" sz="1500" dirty="0"/>
          </a:p>
        </p:txBody>
      </p:sp>
      <p:sp>
        <p:nvSpPr>
          <p:cNvPr id="5" name="Text 3"/>
          <p:cNvSpPr txBox="1"/>
          <p:nvPr/>
        </p:nvSpPr>
        <p:spPr>
          <a:xfrm>
            <a:off x="548640" y="3291840"/>
            <a:ext cx="8046720" cy="109728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Khizar Rizwan</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Roll number: ________________</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CS2012 Introduction to Object-Oriented Programming  •  Instructor: Bilal Nadeem</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600" b="1" dirty="0">
                <a:solidFill>
                  <a:srgbClr val="0B4F4A"/>
                </a:solidFill>
                <a:latin typeface="Cambria" pitchFamily="34" charset="0"/>
                <a:ea typeface="Cambria" pitchFamily="34" charset="-122"/>
                <a:cs typeface="Cambria" pitchFamily="34" charset="-120"/>
              </a:rPr>
              <a:t>Where the project stands</a:t>
            </a:r>
            <a:endParaRPr lang="en-US" sz="26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Seven phases, planned from the course outline; five done, two ahead</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b="1" dirty="0">
                <a:solidFill>
                  <a:srgbClr val="B8862F"/>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dirty="0">
                <a:solidFill>
                  <a:srgbClr val="9AAAA7"/>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sp>
        <p:nvSpPr>
          <p:cNvPr id="5" name="Shape 3"/>
          <p:cNvSpPr/>
          <p:nvPr/>
        </p:nvSpPr>
        <p:spPr>
          <a:xfrm>
            <a:off x="685800" y="1737360"/>
            <a:ext cx="6967728" cy="0"/>
          </a:xfrm>
          <a:prstGeom prst="line">
            <a:avLst/>
          </a:prstGeom>
          <a:noFill/>
          <a:ln w="25400">
            <a:solidFill>
              <a:srgbClr val="C9D6D3"/>
            </a:solidFill>
            <a:prstDash val="solid"/>
          </a:ln>
        </p:spPr>
      </p:sp>
      <p:sp>
        <p:nvSpPr>
          <p:cNvPr id="6" name="Shape 4"/>
          <p:cNvSpPr/>
          <p:nvPr/>
        </p:nvSpPr>
        <p:spPr>
          <a:xfrm>
            <a:off x="502920" y="1554480"/>
            <a:ext cx="365760" cy="365760"/>
          </a:xfrm>
          <a:prstGeom prst="ellipse">
            <a:avLst/>
          </a:prstGeom>
          <a:solidFill>
            <a:srgbClr val="2E7D4F"/>
          </a:solidFill>
          <a:ln w="25400">
            <a:solidFill>
              <a:srgbClr val="FFFFFF"/>
            </a:solidFill>
            <a:prstDash val="solid"/>
          </a:ln>
        </p:spPr>
      </p:sp>
      <p:sp>
        <p:nvSpPr>
          <p:cNvPr id="7" name="Text 5"/>
          <p:cNvSpPr txBox="1"/>
          <p:nvPr/>
        </p:nvSpPr>
        <p:spPr>
          <a:xfrm>
            <a:off x="502920"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txBox="1"/>
          <p:nvPr/>
        </p:nvSpPr>
        <p:spPr>
          <a:xfrm>
            <a:off x="137160" y="2011680"/>
            <a:ext cx="1097280" cy="502920"/>
          </a:xfrm>
          <a:prstGeom prst="rect">
            <a:avLst/>
          </a:prstGeom>
          <a:noFill/>
          <a:ln/>
        </p:spPr>
        <p:txBody>
          <a:bodyPr wrap="square" lIns="0" tIns="0" rIns="0" bIns="0" rtlCol="0" anchor="t"/>
          <a:lstStyle/>
          <a:p>
            <a:pPr algn="ctr" indent="0" marL="0">
              <a:buNone/>
            </a:pPr>
            <a:r>
              <a:rPr lang="en-US" sz="1050" b="1" dirty="0">
                <a:solidFill>
                  <a:srgbClr val="1D2B2A"/>
                </a:solidFill>
                <a:latin typeface="Calibri" pitchFamily="34" charset="0"/>
                <a:ea typeface="Calibri" pitchFamily="34" charset="-122"/>
                <a:cs typeface="Calibri" pitchFamily="34" charset="-120"/>
              </a:rPr>
              <a:t>Domain research</a:t>
            </a:r>
            <a:endParaRPr lang="en-US" sz="1050" dirty="0"/>
          </a:p>
        </p:txBody>
      </p:sp>
      <p:sp>
        <p:nvSpPr>
          <p:cNvPr id="9" name="Text 7"/>
          <p:cNvSpPr txBox="1"/>
          <p:nvPr/>
        </p:nvSpPr>
        <p:spPr>
          <a:xfrm>
            <a:off x="137160" y="2514600"/>
            <a:ext cx="1097280" cy="228600"/>
          </a:xfrm>
          <a:prstGeom prst="rect">
            <a:avLst/>
          </a:prstGeom>
          <a:noFill/>
          <a:ln/>
        </p:spPr>
        <p:txBody>
          <a:bodyPr wrap="square" lIns="0" tIns="0" rIns="0" bIns="0" rtlCol="0" anchor="ctr"/>
          <a:lstStyle/>
          <a:p>
            <a:pPr algn="ctr" indent="0" marL="0">
              <a:buNone/>
            </a:pPr>
            <a:r>
              <a:rPr lang="en-US" sz="1000" dirty="0">
                <a:solidFill>
                  <a:srgbClr val="2E7D4F"/>
                </a:solidFill>
                <a:latin typeface="Calibri" pitchFamily="34" charset="0"/>
                <a:ea typeface="Calibri" pitchFamily="34" charset="-122"/>
                <a:cs typeface="Calibri" pitchFamily="34" charset="-120"/>
              </a:rPr>
              <a:t>Done</a:t>
            </a:r>
            <a:endParaRPr lang="en-US" sz="1000" dirty="0"/>
          </a:p>
        </p:txBody>
      </p:sp>
      <p:sp>
        <p:nvSpPr>
          <p:cNvPr id="10" name="Shape 8"/>
          <p:cNvSpPr/>
          <p:nvPr/>
        </p:nvSpPr>
        <p:spPr>
          <a:xfrm>
            <a:off x="1664208" y="1554480"/>
            <a:ext cx="365760" cy="365760"/>
          </a:xfrm>
          <a:prstGeom prst="ellipse">
            <a:avLst/>
          </a:prstGeom>
          <a:solidFill>
            <a:srgbClr val="2E7D4F"/>
          </a:solidFill>
          <a:ln w="25400">
            <a:solidFill>
              <a:srgbClr val="FFFFFF"/>
            </a:solidFill>
            <a:prstDash val="solid"/>
          </a:ln>
        </p:spPr>
      </p:sp>
      <p:sp>
        <p:nvSpPr>
          <p:cNvPr id="11" name="Text 9"/>
          <p:cNvSpPr txBox="1"/>
          <p:nvPr/>
        </p:nvSpPr>
        <p:spPr>
          <a:xfrm>
            <a:off x="1664208"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2" name="Text 10"/>
          <p:cNvSpPr txBox="1"/>
          <p:nvPr/>
        </p:nvSpPr>
        <p:spPr>
          <a:xfrm>
            <a:off x="1298448" y="2011680"/>
            <a:ext cx="1097280" cy="502920"/>
          </a:xfrm>
          <a:prstGeom prst="rect">
            <a:avLst/>
          </a:prstGeom>
          <a:noFill/>
          <a:ln/>
        </p:spPr>
        <p:txBody>
          <a:bodyPr wrap="square" lIns="0" tIns="0" rIns="0" bIns="0" rtlCol="0" anchor="t"/>
          <a:lstStyle/>
          <a:p>
            <a:pPr algn="ctr" indent="0" marL="0">
              <a:buNone/>
            </a:pPr>
            <a:r>
              <a:rPr lang="en-US" sz="1050" b="1" dirty="0">
                <a:solidFill>
                  <a:srgbClr val="1D2B2A"/>
                </a:solidFill>
                <a:latin typeface="Calibri" pitchFamily="34" charset="0"/>
                <a:ea typeface="Calibri" pitchFamily="34" charset="-122"/>
                <a:cs typeface="Calibri" pitchFamily="34" charset="-120"/>
              </a:rPr>
              <a:t>Assumptions &amp; requirements</a:t>
            </a:r>
            <a:endParaRPr lang="en-US" sz="1050" dirty="0"/>
          </a:p>
        </p:txBody>
      </p:sp>
      <p:sp>
        <p:nvSpPr>
          <p:cNvPr id="13" name="Text 11"/>
          <p:cNvSpPr txBox="1"/>
          <p:nvPr/>
        </p:nvSpPr>
        <p:spPr>
          <a:xfrm>
            <a:off x="1298448" y="2514600"/>
            <a:ext cx="1097280" cy="228600"/>
          </a:xfrm>
          <a:prstGeom prst="rect">
            <a:avLst/>
          </a:prstGeom>
          <a:noFill/>
          <a:ln/>
        </p:spPr>
        <p:txBody>
          <a:bodyPr wrap="square" lIns="0" tIns="0" rIns="0" bIns="0" rtlCol="0" anchor="ctr"/>
          <a:lstStyle/>
          <a:p>
            <a:pPr algn="ctr" indent="0" marL="0">
              <a:buNone/>
            </a:pPr>
            <a:r>
              <a:rPr lang="en-US" sz="1000" dirty="0">
                <a:solidFill>
                  <a:srgbClr val="2E7D4F"/>
                </a:solidFill>
                <a:latin typeface="Calibri" pitchFamily="34" charset="0"/>
                <a:ea typeface="Calibri" pitchFamily="34" charset="-122"/>
                <a:cs typeface="Calibri" pitchFamily="34" charset="-120"/>
              </a:rPr>
              <a:t>Done</a:t>
            </a:r>
            <a:endParaRPr lang="en-US" sz="1000" dirty="0"/>
          </a:p>
        </p:txBody>
      </p:sp>
      <p:sp>
        <p:nvSpPr>
          <p:cNvPr id="14" name="Shape 12"/>
          <p:cNvSpPr/>
          <p:nvPr/>
        </p:nvSpPr>
        <p:spPr>
          <a:xfrm>
            <a:off x="2825496" y="1554480"/>
            <a:ext cx="365760" cy="365760"/>
          </a:xfrm>
          <a:prstGeom prst="ellipse">
            <a:avLst/>
          </a:prstGeom>
          <a:solidFill>
            <a:srgbClr val="2E7D4F"/>
          </a:solidFill>
          <a:ln w="25400">
            <a:solidFill>
              <a:srgbClr val="FFFFFF"/>
            </a:solidFill>
            <a:prstDash val="solid"/>
          </a:ln>
        </p:spPr>
      </p:sp>
      <p:sp>
        <p:nvSpPr>
          <p:cNvPr id="15" name="Text 13"/>
          <p:cNvSpPr txBox="1"/>
          <p:nvPr/>
        </p:nvSpPr>
        <p:spPr>
          <a:xfrm>
            <a:off x="2825496"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6" name="Text 14"/>
          <p:cNvSpPr txBox="1"/>
          <p:nvPr/>
        </p:nvSpPr>
        <p:spPr>
          <a:xfrm>
            <a:off x="2459736" y="2011680"/>
            <a:ext cx="1097280" cy="502920"/>
          </a:xfrm>
          <a:prstGeom prst="rect">
            <a:avLst/>
          </a:prstGeom>
          <a:noFill/>
          <a:ln/>
        </p:spPr>
        <p:txBody>
          <a:bodyPr wrap="square" lIns="0" tIns="0" rIns="0" bIns="0" rtlCol="0" anchor="t"/>
          <a:lstStyle/>
          <a:p>
            <a:pPr algn="ctr" indent="0" marL="0">
              <a:buNone/>
            </a:pPr>
            <a:r>
              <a:rPr lang="en-US" sz="1050" b="1" dirty="0">
                <a:solidFill>
                  <a:srgbClr val="1D2B2A"/>
                </a:solidFill>
                <a:latin typeface="Calibri" pitchFamily="34" charset="0"/>
                <a:ea typeface="Calibri" pitchFamily="34" charset="-122"/>
                <a:cs typeface="Calibri" pitchFamily="34" charset="-120"/>
              </a:rPr>
              <a:t>Class &amp; inheritance design</a:t>
            </a:r>
            <a:endParaRPr lang="en-US" sz="1050" dirty="0"/>
          </a:p>
        </p:txBody>
      </p:sp>
      <p:sp>
        <p:nvSpPr>
          <p:cNvPr id="17" name="Text 15"/>
          <p:cNvSpPr txBox="1"/>
          <p:nvPr/>
        </p:nvSpPr>
        <p:spPr>
          <a:xfrm>
            <a:off x="2459736" y="2514600"/>
            <a:ext cx="1097280" cy="228600"/>
          </a:xfrm>
          <a:prstGeom prst="rect">
            <a:avLst/>
          </a:prstGeom>
          <a:noFill/>
          <a:ln/>
        </p:spPr>
        <p:txBody>
          <a:bodyPr wrap="square" lIns="0" tIns="0" rIns="0" bIns="0" rtlCol="0" anchor="ctr"/>
          <a:lstStyle/>
          <a:p>
            <a:pPr algn="ctr" indent="0" marL="0">
              <a:buNone/>
            </a:pPr>
            <a:r>
              <a:rPr lang="en-US" sz="1000" dirty="0">
                <a:solidFill>
                  <a:srgbClr val="2E7D4F"/>
                </a:solidFill>
                <a:latin typeface="Calibri" pitchFamily="34" charset="0"/>
                <a:ea typeface="Calibri" pitchFamily="34" charset="-122"/>
                <a:cs typeface="Calibri" pitchFamily="34" charset="-120"/>
              </a:rPr>
              <a:t>Done</a:t>
            </a:r>
            <a:endParaRPr lang="en-US" sz="1000" dirty="0"/>
          </a:p>
        </p:txBody>
      </p:sp>
      <p:sp>
        <p:nvSpPr>
          <p:cNvPr id="18" name="Shape 16"/>
          <p:cNvSpPr/>
          <p:nvPr/>
        </p:nvSpPr>
        <p:spPr>
          <a:xfrm>
            <a:off x="3986784" y="1554480"/>
            <a:ext cx="365760" cy="365760"/>
          </a:xfrm>
          <a:prstGeom prst="ellipse">
            <a:avLst/>
          </a:prstGeom>
          <a:solidFill>
            <a:srgbClr val="2E7D4F"/>
          </a:solidFill>
          <a:ln w="25400">
            <a:solidFill>
              <a:srgbClr val="FFFFFF"/>
            </a:solidFill>
            <a:prstDash val="solid"/>
          </a:ln>
        </p:spPr>
      </p:sp>
      <p:sp>
        <p:nvSpPr>
          <p:cNvPr id="19" name="Text 17"/>
          <p:cNvSpPr txBox="1"/>
          <p:nvPr/>
        </p:nvSpPr>
        <p:spPr>
          <a:xfrm>
            <a:off x="3986784"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0" name="Text 18"/>
          <p:cNvSpPr txBox="1"/>
          <p:nvPr/>
        </p:nvSpPr>
        <p:spPr>
          <a:xfrm>
            <a:off x="3621024" y="2011680"/>
            <a:ext cx="1097280" cy="502920"/>
          </a:xfrm>
          <a:prstGeom prst="rect">
            <a:avLst/>
          </a:prstGeom>
          <a:noFill/>
          <a:ln/>
        </p:spPr>
        <p:txBody>
          <a:bodyPr wrap="square" lIns="0" tIns="0" rIns="0" bIns="0" rtlCol="0" anchor="t"/>
          <a:lstStyle/>
          <a:p>
            <a:pPr algn="ctr" indent="0" marL="0">
              <a:buNone/>
            </a:pPr>
            <a:r>
              <a:rPr lang="en-US" sz="1050" b="1" dirty="0">
                <a:solidFill>
                  <a:srgbClr val="1D2B2A"/>
                </a:solidFill>
                <a:latin typeface="Calibri" pitchFamily="34" charset="0"/>
                <a:ea typeface="Calibri" pitchFamily="34" charset="-122"/>
                <a:cs typeface="Calibri" pitchFamily="34" charset="-120"/>
              </a:rPr>
              <a:t>Core implementation + tests</a:t>
            </a:r>
            <a:endParaRPr lang="en-US" sz="1050" dirty="0"/>
          </a:p>
        </p:txBody>
      </p:sp>
      <p:sp>
        <p:nvSpPr>
          <p:cNvPr id="21" name="Text 19"/>
          <p:cNvSpPr txBox="1"/>
          <p:nvPr/>
        </p:nvSpPr>
        <p:spPr>
          <a:xfrm>
            <a:off x="3621024" y="2514600"/>
            <a:ext cx="1097280" cy="228600"/>
          </a:xfrm>
          <a:prstGeom prst="rect">
            <a:avLst/>
          </a:prstGeom>
          <a:noFill/>
          <a:ln/>
        </p:spPr>
        <p:txBody>
          <a:bodyPr wrap="square" lIns="0" tIns="0" rIns="0" bIns="0" rtlCol="0" anchor="ctr"/>
          <a:lstStyle/>
          <a:p>
            <a:pPr algn="ctr" indent="0" marL="0">
              <a:buNone/>
            </a:pPr>
            <a:r>
              <a:rPr lang="en-US" sz="1000" dirty="0">
                <a:solidFill>
                  <a:srgbClr val="2E7D4F"/>
                </a:solidFill>
                <a:latin typeface="Calibri" pitchFamily="34" charset="0"/>
                <a:ea typeface="Calibri" pitchFamily="34" charset="-122"/>
                <a:cs typeface="Calibri" pitchFamily="34" charset="-120"/>
              </a:rPr>
              <a:t>Done</a:t>
            </a:r>
            <a:endParaRPr lang="en-US" sz="1000" dirty="0"/>
          </a:p>
        </p:txBody>
      </p:sp>
      <p:sp>
        <p:nvSpPr>
          <p:cNvPr id="22" name="Shape 20"/>
          <p:cNvSpPr/>
          <p:nvPr/>
        </p:nvSpPr>
        <p:spPr>
          <a:xfrm>
            <a:off x="5148072" y="1554480"/>
            <a:ext cx="365760" cy="365760"/>
          </a:xfrm>
          <a:prstGeom prst="ellipse">
            <a:avLst/>
          </a:prstGeom>
          <a:solidFill>
            <a:srgbClr val="2E7D4F"/>
          </a:solidFill>
          <a:ln w="25400">
            <a:solidFill>
              <a:srgbClr val="FFFFFF"/>
            </a:solidFill>
            <a:prstDash val="solid"/>
          </a:ln>
        </p:spPr>
      </p:sp>
      <p:sp>
        <p:nvSpPr>
          <p:cNvPr id="23" name="Text 21"/>
          <p:cNvSpPr txBox="1"/>
          <p:nvPr/>
        </p:nvSpPr>
        <p:spPr>
          <a:xfrm>
            <a:off x="5148072"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4" name="Text 22"/>
          <p:cNvSpPr txBox="1"/>
          <p:nvPr/>
        </p:nvSpPr>
        <p:spPr>
          <a:xfrm>
            <a:off x="4782312" y="2011680"/>
            <a:ext cx="1097280" cy="502920"/>
          </a:xfrm>
          <a:prstGeom prst="rect">
            <a:avLst/>
          </a:prstGeom>
          <a:noFill/>
          <a:ln/>
        </p:spPr>
        <p:txBody>
          <a:bodyPr wrap="square" lIns="0" tIns="0" rIns="0" bIns="0" rtlCol="0" anchor="t"/>
          <a:lstStyle/>
          <a:p>
            <a:pPr algn="ctr" indent="0" marL="0">
              <a:buNone/>
            </a:pPr>
            <a:r>
              <a:rPr lang="en-US" sz="1050" b="1" dirty="0">
                <a:solidFill>
                  <a:srgbClr val="1D2B2A"/>
                </a:solidFill>
                <a:latin typeface="Calibri" pitchFamily="34" charset="0"/>
                <a:ea typeface="Calibri" pitchFamily="34" charset="-122"/>
                <a:cs typeface="Calibri" pitchFamily="34" charset="-120"/>
              </a:rPr>
              <a:t>Scenario demo + GUI</a:t>
            </a:r>
            <a:endParaRPr lang="en-US" sz="1050" dirty="0"/>
          </a:p>
        </p:txBody>
      </p:sp>
      <p:sp>
        <p:nvSpPr>
          <p:cNvPr id="25" name="Text 23"/>
          <p:cNvSpPr txBox="1"/>
          <p:nvPr/>
        </p:nvSpPr>
        <p:spPr>
          <a:xfrm>
            <a:off x="4782312" y="2514600"/>
            <a:ext cx="1097280" cy="228600"/>
          </a:xfrm>
          <a:prstGeom prst="rect">
            <a:avLst/>
          </a:prstGeom>
          <a:noFill/>
          <a:ln/>
        </p:spPr>
        <p:txBody>
          <a:bodyPr wrap="square" lIns="0" tIns="0" rIns="0" bIns="0" rtlCol="0" anchor="ctr"/>
          <a:lstStyle/>
          <a:p>
            <a:pPr algn="ctr" indent="0" marL="0">
              <a:buNone/>
            </a:pPr>
            <a:r>
              <a:rPr lang="en-US" sz="1000" dirty="0">
                <a:solidFill>
                  <a:srgbClr val="2E7D4F"/>
                </a:solidFill>
                <a:latin typeface="Calibri" pitchFamily="34" charset="0"/>
                <a:ea typeface="Calibri" pitchFamily="34" charset="-122"/>
                <a:cs typeface="Calibri" pitchFamily="34" charset="-120"/>
              </a:rPr>
              <a:t>Done</a:t>
            </a:r>
            <a:endParaRPr lang="en-US" sz="1000" dirty="0"/>
          </a:p>
        </p:txBody>
      </p:sp>
      <p:sp>
        <p:nvSpPr>
          <p:cNvPr id="26" name="Shape 24"/>
          <p:cNvSpPr/>
          <p:nvPr/>
        </p:nvSpPr>
        <p:spPr>
          <a:xfrm>
            <a:off x="6309360" y="1554480"/>
            <a:ext cx="365760" cy="365760"/>
          </a:xfrm>
          <a:prstGeom prst="ellipse">
            <a:avLst/>
          </a:prstGeom>
          <a:solidFill>
            <a:srgbClr val="C98A12"/>
          </a:solidFill>
          <a:ln w="25400">
            <a:solidFill>
              <a:srgbClr val="FFFFFF"/>
            </a:solidFill>
            <a:prstDash val="solid"/>
          </a:ln>
        </p:spPr>
      </p:sp>
      <p:sp>
        <p:nvSpPr>
          <p:cNvPr id="27" name="Text 25"/>
          <p:cNvSpPr txBox="1"/>
          <p:nvPr/>
        </p:nvSpPr>
        <p:spPr>
          <a:xfrm>
            <a:off x="6309360"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6</a:t>
            </a:r>
            <a:endParaRPr lang="en-US" sz="1300" dirty="0"/>
          </a:p>
        </p:txBody>
      </p:sp>
      <p:sp>
        <p:nvSpPr>
          <p:cNvPr id="28" name="Text 26"/>
          <p:cNvSpPr txBox="1"/>
          <p:nvPr/>
        </p:nvSpPr>
        <p:spPr>
          <a:xfrm>
            <a:off x="5943600" y="2011680"/>
            <a:ext cx="1097280" cy="502920"/>
          </a:xfrm>
          <a:prstGeom prst="rect">
            <a:avLst/>
          </a:prstGeom>
          <a:noFill/>
          <a:ln/>
        </p:spPr>
        <p:txBody>
          <a:bodyPr wrap="square" lIns="0" tIns="0" rIns="0" bIns="0" rtlCol="0" anchor="t"/>
          <a:lstStyle/>
          <a:p>
            <a:pPr algn="ctr" indent="0" marL="0">
              <a:buNone/>
            </a:pPr>
            <a:r>
              <a:rPr lang="en-US" sz="1050" b="1" dirty="0">
                <a:solidFill>
                  <a:srgbClr val="1D2B2A"/>
                </a:solidFill>
                <a:latin typeface="Calibri" pitchFamily="34" charset="0"/>
                <a:ea typeface="Calibri" pitchFamily="34" charset="-122"/>
                <a:cs typeface="Calibri" pitchFamily="34" charset="-120"/>
              </a:rPr>
              <a:t>Feedback &amp; refinement</a:t>
            </a:r>
            <a:endParaRPr lang="en-US" sz="1050" dirty="0"/>
          </a:p>
        </p:txBody>
      </p:sp>
      <p:sp>
        <p:nvSpPr>
          <p:cNvPr id="29" name="Text 27"/>
          <p:cNvSpPr txBox="1"/>
          <p:nvPr/>
        </p:nvSpPr>
        <p:spPr>
          <a:xfrm>
            <a:off x="5943600" y="2514600"/>
            <a:ext cx="1097280" cy="228600"/>
          </a:xfrm>
          <a:prstGeom prst="rect">
            <a:avLst/>
          </a:prstGeom>
          <a:noFill/>
          <a:ln/>
        </p:spPr>
        <p:txBody>
          <a:bodyPr wrap="square" lIns="0" tIns="0" rIns="0" bIns="0" rtlCol="0" anchor="ctr"/>
          <a:lstStyle/>
          <a:p>
            <a:pPr algn="ctr" indent="0" marL="0">
              <a:buNone/>
            </a:pPr>
            <a:r>
              <a:rPr lang="en-US" sz="1000" dirty="0">
                <a:solidFill>
                  <a:srgbClr val="C98A12"/>
                </a:solidFill>
                <a:latin typeface="Calibri" pitchFamily="34" charset="0"/>
                <a:ea typeface="Calibri" pitchFamily="34" charset="-122"/>
                <a:cs typeface="Calibri" pitchFamily="34" charset="-120"/>
              </a:rPr>
              <a:t>In progress</a:t>
            </a:r>
            <a:endParaRPr lang="en-US" sz="1000" dirty="0"/>
          </a:p>
        </p:txBody>
      </p:sp>
      <p:sp>
        <p:nvSpPr>
          <p:cNvPr id="30" name="Shape 28"/>
          <p:cNvSpPr/>
          <p:nvPr/>
        </p:nvSpPr>
        <p:spPr>
          <a:xfrm>
            <a:off x="7470648" y="1554480"/>
            <a:ext cx="365760" cy="365760"/>
          </a:xfrm>
          <a:prstGeom prst="ellipse">
            <a:avLst/>
          </a:prstGeom>
          <a:solidFill>
            <a:srgbClr val="9AAAA7"/>
          </a:solidFill>
          <a:ln w="25400">
            <a:solidFill>
              <a:srgbClr val="FFFFFF"/>
            </a:solidFill>
            <a:prstDash val="solid"/>
          </a:ln>
        </p:spPr>
      </p:sp>
      <p:sp>
        <p:nvSpPr>
          <p:cNvPr id="31" name="Text 29"/>
          <p:cNvSpPr txBox="1"/>
          <p:nvPr/>
        </p:nvSpPr>
        <p:spPr>
          <a:xfrm>
            <a:off x="7470648"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7</a:t>
            </a:r>
            <a:endParaRPr lang="en-US" sz="1300" dirty="0"/>
          </a:p>
        </p:txBody>
      </p:sp>
      <p:sp>
        <p:nvSpPr>
          <p:cNvPr id="32" name="Text 30"/>
          <p:cNvSpPr txBox="1"/>
          <p:nvPr/>
        </p:nvSpPr>
        <p:spPr>
          <a:xfrm>
            <a:off x="7104888" y="2011680"/>
            <a:ext cx="1097280" cy="502920"/>
          </a:xfrm>
          <a:prstGeom prst="rect">
            <a:avLst/>
          </a:prstGeom>
          <a:noFill/>
          <a:ln/>
        </p:spPr>
        <p:txBody>
          <a:bodyPr wrap="square" lIns="0" tIns="0" rIns="0" bIns="0" rtlCol="0" anchor="t"/>
          <a:lstStyle/>
          <a:p>
            <a:pPr algn="ctr" indent="0" marL="0">
              <a:buNone/>
            </a:pPr>
            <a:r>
              <a:rPr lang="en-US" sz="1050" b="1" dirty="0">
                <a:solidFill>
                  <a:srgbClr val="1D2B2A"/>
                </a:solidFill>
                <a:latin typeface="Calibri" pitchFamily="34" charset="0"/>
                <a:ea typeface="Calibri" pitchFamily="34" charset="-122"/>
                <a:cs typeface="Calibri" pitchFamily="34" charset="-120"/>
              </a:rPr>
              <a:t>Final report &amp; viva</a:t>
            </a:r>
            <a:endParaRPr lang="en-US" sz="1050" dirty="0"/>
          </a:p>
        </p:txBody>
      </p:sp>
      <p:sp>
        <p:nvSpPr>
          <p:cNvPr id="33" name="Text 31"/>
          <p:cNvSpPr txBox="1"/>
          <p:nvPr/>
        </p:nvSpPr>
        <p:spPr>
          <a:xfrm>
            <a:off x="7104888" y="2514600"/>
            <a:ext cx="1097280" cy="228600"/>
          </a:xfrm>
          <a:prstGeom prst="rect">
            <a:avLst/>
          </a:prstGeom>
          <a:noFill/>
          <a:ln/>
        </p:spPr>
        <p:txBody>
          <a:bodyPr wrap="square" lIns="0" tIns="0" rIns="0" bIns="0" rtlCol="0" anchor="ctr"/>
          <a:lstStyle/>
          <a:p>
            <a:pPr algn="ctr" indent="0" marL="0">
              <a:buNone/>
            </a:pPr>
            <a:r>
              <a:rPr lang="en-US" sz="1000" dirty="0">
                <a:solidFill>
                  <a:srgbClr val="9AAAA7"/>
                </a:solidFill>
                <a:latin typeface="Calibri" pitchFamily="34" charset="0"/>
                <a:ea typeface="Calibri" pitchFamily="34" charset="-122"/>
                <a:cs typeface="Calibri" pitchFamily="34" charset="-120"/>
              </a:rPr>
              <a:t>Next</a:t>
            </a:r>
            <a:endParaRPr lang="en-US" sz="1000" dirty="0"/>
          </a:p>
        </p:txBody>
      </p:sp>
      <p:sp>
        <p:nvSpPr>
          <p:cNvPr id="34" name="Shape 32"/>
          <p:cNvSpPr/>
          <p:nvPr/>
        </p:nvSpPr>
        <p:spPr>
          <a:xfrm>
            <a:off x="457200" y="3154680"/>
            <a:ext cx="1554480" cy="1325880"/>
          </a:xfrm>
          <a:prstGeom prst="roundRect">
            <a:avLst>
              <a:gd name="adj" fmla="val 5517"/>
            </a:avLst>
          </a:prstGeom>
          <a:solidFill>
            <a:srgbClr val="E8F0EE"/>
          </a:solidFill>
          <a:ln w="12700">
            <a:solidFill>
              <a:srgbClr val="E8F0EE"/>
            </a:solidFill>
            <a:prstDash val="solid"/>
          </a:ln>
        </p:spPr>
      </p:sp>
      <p:sp>
        <p:nvSpPr>
          <p:cNvPr id="35" name="Text 33"/>
          <p:cNvSpPr txBox="1"/>
          <p:nvPr/>
        </p:nvSpPr>
        <p:spPr>
          <a:xfrm>
            <a:off x="457200" y="3246120"/>
            <a:ext cx="1554480" cy="685800"/>
          </a:xfrm>
          <a:prstGeom prst="rect">
            <a:avLst/>
          </a:prstGeom>
          <a:noFill/>
          <a:ln/>
        </p:spPr>
        <p:txBody>
          <a:bodyPr wrap="square" lIns="0" tIns="0" rIns="0" bIns="0" rtlCol="0" anchor="ctr"/>
          <a:lstStyle/>
          <a:p>
            <a:pPr algn="ctr" indent="0" marL="0">
              <a:buNone/>
            </a:pPr>
            <a:r>
              <a:rPr lang="en-US" sz="3400" b="1" dirty="0">
                <a:solidFill>
                  <a:srgbClr val="0B4F4A"/>
                </a:solidFill>
                <a:latin typeface="Cambria" pitchFamily="34" charset="0"/>
                <a:ea typeface="Cambria" pitchFamily="34" charset="-122"/>
                <a:cs typeface="Cambria" pitchFamily="34" charset="-120"/>
              </a:rPr>
              <a:t>71</a:t>
            </a:r>
            <a:endParaRPr lang="en-US" sz="3400" dirty="0"/>
          </a:p>
        </p:txBody>
      </p:sp>
      <p:sp>
        <p:nvSpPr>
          <p:cNvPr id="36" name="Text 34"/>
          <p:cNvSpPr txBox="1"/>
          <p:nvPr/>
        </p:nvSpPr>
        <p:spPr>
          <a:xfrm>
            <a:off x="457200" y="3931920"/>
            <a:ext cx="1554480" cy="365760"/>
          </a:xfrm>
          <a:prstGeom prst="rect">
            <a:avLst/>
          </a:prstGeom>
          <a:noFill/>
          <a:ln/>
        </p:spPr>
        <p:txBody>
          <a:bodyPr wrap="square" lIns="0" tIns="0" rIns="0" bIns="0" rtlCol="0" anchor="ctr"/>
          <a:lstStyle/>
          <a:p>
            <a:pPr algn="ctr" indent="0" marL="0">
              <a:buNone/>
            </a:pPr>
            <a:r>
              <a:rPr lang="en-US" sz="1150" dirty="0">
                <a:solidFill>
                  <a:srgbClr val="5B6B69"/>
                </a:solidFill>
                <a:latin typeface="Calibri" pitchFamily="34" charset="0"/>
                <a:ea typeface="Calibri" pitchFamily="34" charset="-122"/>
                <a:cs typeface="Calibri" pitchFamily="34" charset="-120"/>
              </a:rPr>
              <a:t>business classes</a:t>
            </a:r>
            <a:endParaRPr lang="en-US" sz="1150" dirty="0"/>
          </a:p>
        </p:txBody>
      </p:sp>
      <p:sp>
        <p:nvSpPr>
          <p:cNvPr id="37" name="Shape 35"/>
          <p:cNvSpPr/>
          <p:nvPr/>
        </p:nvSpPr>
        <p:spPr>
          <a:xfrm>
            <a:off x="2139696" y="3154680"/>
            <a:ext cx="1554480" cy="1325880"/>
          </a:xfrm>
          <a:prstGeom prst="roundRect">
            <a:avLst>
              <a:gd name="adj" fmla="val 5517"/>
            </a:avLst>
          </a:prstGeom>
          <a:solidFill>
            <a:srgbClr val="E8F0EE"/>
          </a:solidFill>
          <a:ln w="12700">
            <a:solidFill>
              <a:srgbClr val="E8F0EE"/>
            </a:solidFill>
            <a:prstDash val="solid"/>
          </a:ln>
        </p:spPr>
      </p:sp>
      <p:sp>
        <p:nvSpPr>
          <p:cNvPr id="38" name="Text 36"/>
          <p:cNvSpPr txBox="1"/>
          <p:nvPr/>
        </p:nvSpPr>
        <p:spPr>
          <a:xfrm>
            <a:off x="2139696" y="3246120"/>
            <a:ext cx="1554480" cy="685800"/>
          </a:xfrm>
          <a:prstGeom prst="rect">
            <a:avLst/>
          </a:prstGeom>
          <a:noFill/>
          <a:ln/>
        </p:spPr>
        <p:txBody>
          <a:bodyPr wrap="square" lIns="0" tIns="0" rIns="0" bIns="0" rtlCol="0" anchor="ctr"/>
          <a:lstStyle/>
          <a:p>
            <a:pPr algn="ctr" indent="0" marL="0">
              <a:buNone/>
            </a:pPr>
            <a:r>
              <a:rPr lang="en-US" sz="3400" b="1" dirty="0">
                <a:solidFill>
                  <a:srgbClr val="0B4F4A"/>
                </a:solidFill>
                <a:latin typeface="Cambria" pitchFamily="34" charset="0"/>
                <a:ea typeface="Cambria" pitchFamily="34" charset="-122"/>
                <a:cs typeface="Cambria" pitchFamily="34" charset="-120"/>
              </a:rPr>
              <a:t>98</a:t>
            </a:r>
            <a:endParaRPr lang="en-US" sz="3400" dirty="0"/>
          </a:p>
        </p:txBody>
      </p:sp>
      <p:sp>
        <p:nvSpPr>
          <p:cNvPr id="39" name="Text 37"/>
          <p:cNvSpPr txBox="1"/>
          <p:nvPr/>
        </p:nvSpPr>
        <p:spPr>
          <a:xfrm>
            <a:off x="2139696" y="3931920"/>
            <a:ext cx="1554480" cy="365760"/>
          </a:xfrm>
          <a:prstGeom prst="rect">
            <a:avLst/>
          </a:prstGeom>
          <a:noFill/>
          <a:ln/>
        </p:spPr>
        <p:txBody>
          <a:bodyPr wrap="square" lIns="0" tIns="0" rIns="0" bIns="0" rtlCol="0" anchor="ctr"/>
          <a:lstStyle/>
          <a:p>
            <a:pPr algn="ctr" indent="0" marL="0">
              <a:buNone/>
            </a:pPr>
            <a:r>
              <a:rPr lang="en-US" sz="1150" dirty="0">
                <a:solidFill>
                  <a:srgbClr val="5B6B69"/>
                </a:solidFill>
                <a:latin typeface="Calibri" pitchFamily="34" charset="0"/>
                <a:ea typeface="Calibri" pitchFamily="34" charset="-122"/>
                <a:cs typeface="Calibri" pitchFamily="34" charset="-120"/>
              </a:rPr>
              <a:t>Bank operations</a:t>
            </a:r>
            <a:endParaRPr lang="en-US" sz="1150" dirty="0"/>
          </a:p>
        </p:txBody>
      </p:sp>
      <p:sp>
        <p:nvSpPr>
          <p:cNvPr id="40" name="Shape 38"/>
          <p:cNvSpPr/>
          <p:nvPr/>
        </p:nvSpPr>
        <p:spPr>
          <a:xfrm>
            <a:off x="3822192" y="3154680"/>
            <a:ext cx="1554480" cy="1325880"/>
          </a:xfrm>
          <a:prstGeom prst="roundRect">
            <a:avLst>
              <a:gd name="adj" fmla="val 5517"/>
            </a:avLst>
          </a:prstGeom>
          <a:solidFill>
            <a:srgbClr val="E8F0EE"/>
          </a:solidFill>
          <a:ln w="12700">
            <a:solidFill>
              <a:srgbClr val="E8F0EE"/>
            </a:solidFill>
            <a:prstDash val="solid"/>
          </a:ln>
        </p:spPr>
      </p:sp>
      <p:sp>
        <p:nvSpPr>
          <p:cNvPr id="41" name="Text 39"/>
          <p:cNvSpPr txBox="1"/>
          <p:nvPr/>
        </p:nvSpPr>
        <p:spPr>
          <a:xfrm>
            <a:off x="3822192" y="3246120"/>
            <a:ext cx="1554480" cy="685800"/>
          </a:xfrm>
          <a:prstGeom prst="rect">
            <a:avLst/>
          </a:prstGeom>
          <a:noFill/>
          <a:ln/>
        </p:spPr>
        <p:txBody>
          <a:bodyPr wrap="square" lIns="0" tIns="0" rIns="0" bIns="0" rtlCol="0" anchor="ctr"/>
          <a:lstStyle/>
          <a:p>
            <a:pPr algn="ctr" indent="0" marL="0">
              <a:buNone/>
            </a:pPr>
            <a:r>
              <a:rPr lang="en-US" sz="3400" b="1" dirty="0">
                <a:solidFill>
                  <a:srgbClr val="0B4F4A"/>
                </a:solidFill>
                <a:latin typeface="Cambria" pitchFamily="34" charset="0"/>
                <a:ea typeface="Cambria" pitchFamily="34" charset="-122"/>
                <a:cs typeface="Cambria" pitchFamily="34" charset="-120"/>
              </a:rPr>
              <a:t>4</a:t>
            </a:r>
            <a:endParaRPr lang="en-US" sz="3400" dirty="0"/>
          </a:p>
        </p:txBody>
      </p:sp>
      <p:sp>
        <p:nvSpPr>
          <p:cNvPr id="42" name="Text 40"/>
          <p:cNvSpPr txBox="1"/>
          <p:nvPr/>
        </p:nvSpPr>
        <p:spPr>
          <a:xfrm>
            <a:off x="3822192" y="3931920"/>
            <a:ext cx="1554480" cy="365760"/>
          </a:xfrm>
          <a:prstGeom prst="rect">
            <a:avLst/>
          </a:prstGeom>
          <a:noFill/>
          <a:ln/>
        </p:spPr>
        <p:txBody>
          <a:bodyPr wrap="square" lIns="0" tIns="0" rIns="0" bIns="0" rtlCol="0" anchor="ctr"/>
          <a:lstStyle/>
          <a:p>
            <a:pPr algn="ctr" indent="0" marL="0">
              <a:buNone/>
            </a:pPr>
            <a:r>
              <a:rPr lang="en-US" sz="1150" dirty="0">
                <a:solidFill>
                  <a:srgbClr val="5B6B69"/>
                </a:solidFill>
                <a:latin typeface="Calibri" pitchFamily="34" charset="0"/>
                <a:ea typeface="Calibri" pitchFamily="34" charset="-122"/>
                <a:cs typeface="Calibri" pitchFamily="34" charset="-120"/>
              </a:rPr>
              <a:t>multi-level hierarchies</a:t>
            </a:r>
            <a:endParaRPr lang="en-US" sz="1150" dirty="0"/>
          </a:p>
        </p:txBody>
      </p:sp>
      <p:sp>
        <p:nvSpPr>
          <p:cNvPr id="43" name="Shape 41"/>
          <p:cNvSpPr/>
          <p:nvPr/>
        </p:nvSpPr>
        <p:spPr>
          <a:xfrm>
            <a:off x="5504688" y="3154680"/>
            <a:ext cx="1554480" cy="1325880"/>
          </a:xfrm>
          <a:prstGeom prst="roundRect">
            <a:avLst>
              <a:gd name="adj" fmla="val 5517"/>
            </a:avLst>
          </a:prstGeom>
          <a:solidFill>
            <a:srgbClr val="E8F0EE"/>
          </a:solidFill>
          <a:ln w="12700">
            <a:solidFill>
              <a:srgbClr val="E8F0EE"/>
            </a:solidFill>
            <a:prstDash val="solid"/>
          </a:ln>
        </p:spPr>
      </p:sp>
      <p:sp>
        <p:nvSpPr>
          <p:cNvPr id="44" name="Text 42"/>
          <p:cNvSpPr txBox="1"/>
          <p:nvPr/>
        </p:nvSpPr>
        <p:spPr>
          <a:xfrm>
            <a:off x="5504688" y="3246120"/>
            <a:ext cx="1554480" cy="685800"/>
          </a:xfrm>
          <a:prstGeom prst="rect">
            <a:avLst/>
          </a:prstGeom>
          <a:noFill/>
          <a:ln/>
        </p:spPr>
        <p:txBody>
          <a:bodyPr wrap="square" lIns="0" tIns="0" rIns="0" bIns="0" rtlCol="0" anchor="ctr"/>
          <a:lstStyle/>
          <a:p>
            <a:pPr algn="ctr" indent="0" marL="0">
              <a:buNone/>
            </a:pPr>
            <a:r>
              <a:rPr lang="en-US" sz="3400" b="1" dirty="0">
                <a:solidFill>
                  <a:srgbClr val="0B4F4A"/>
                </a:solidFill>
                <a:latin typeface="Cambria" pitchFamily="34" charset="0"/>
                <a:ea typeface="Cambria" pitchFamily="34" charset="-122"/>
                <a:cs typeface="Cambria" pitchFamily="34" charset="-120"/>
              </a:rPr>
              <a:t>16</a:t>
            </a:r>
            <a:endParaRPr lang="en-US" sz="3400" dirty="0"/>
          </a:p>
        </p:txBody>
      </p:sp>
      <p:sp>
        <p:nvSpPr>
          <p:cNvPr id="45" name="Text 43"/>
          <p:cNvSpPr txBox="1"/>
          <p:nvPr/>
        </p:nvSpPr>
        <p:spPr>
          <a:xfrm>
            <a:off x="5504688" y="3931920"/>
            <a:ext cx="1554480" cy="365760"/>
          </a:xfrm>
          <a:prstGeom prst="rect">
            <a:avLst/>
          </a:prstGeom>
          <a:noFill/>
          <a:ln/>
        </p:spPr>
        <p:txBody>
          <a:bodyPr wrap="square" lIns="0" tIns="0" rIns="0" bIns="0" rtlCol="0" anchor="ctr"/>
          <a:lstStyle/>
          <a:p>
            <a:pPr algn="ctr" indent="0" marL="0">
              <a:buNone/>
            </a:pPr>
            <a:r>
              <a:rPr lang="en-US" sz="1150" dirty="0">
                <a:solidFill>
                  <a:srgbClr val="5B6B69"/>
                </a:solidFill>
                <a:latin typeface="Calibri" pitchFamily="34" charset="0"/>
                <a:ea typeface="Calibri" pitchFamily="34" charset="-122"/>
                <a:cs typeface="Calibri" pitchFamily="34" charset="-120"/>
              </a:rPr>
              <a:t>exception scenarios</a:t>
            </a:r>
            <a:endParaRPr lang="en-US" sz="1150" dirty="0"/>
          </a:p>
        </p:txBody>
      </p:sp>
      <p:sp>
        <p:nvSpPr>
          <p:cNvPr id="46" name="Shape 44"/>
          <p:cNvSpPr/>
          <p:nvPr/>
        </p:nvSpPr>
        <p:spPr>
          <a:xfrm>
            <a:off x="7187184" y="3154680"/>
            <a:ext cx="1554480" cy="1325880"/>
          </a:xfrm>
          <a:prstGeom prst="roundRect">
            <a:avLst>
              <a:gd name="adj" fmla="val 5517"/>
            </a:avLst>
          </a:prstGeom>
          <a:solidFill>
            <a:srgbClr val="E8F0EE"/>
          </a:solidFill>
          <a:ln w="12700">
            <a:solidFill>
              <a:srgbClr val="E8F0EE"/>
            </a:solidFill>
            <a:prstDash val="solid"/>
          </a:ln>
        </p:spPr>
      </p:sp>
      <p:sp>
        <p:nvSpPr>
          <p:cNvPr id="47" name="Text 45"/>
          <p:cNvSpPr txBox="1"/>
          <p:nvPr/>
        </p:nvSpPr>
        <p:spPr>
          <a:xfrm>
            <a:off x="7187184" y="3246120"/>
            <a:ext cx="1554480" cy="685800"/>
          </a:xfrm>
          <a:prstGeom prst="rect">
            <a:avLst/>
          </a:prstGeom>
          <a:noFill/>
          <a:ln/>
        </p:spPr>
        <p:txBody>
          <a:bodyPr wrap="square" lIns="0" tIns="0" rIns="0" bIns="0" rtlCol="0" anchor="ctr"/>
          <a:lstStyle/>
          <a:p>
            <a:pPr algn="ctr" indent="0" marL="0">
              <a:buNone/>
            </a:pPr>
            <a:r>
              <a:rPr lang="en-US" sz="3400" b="1" dirty="0">
                <a:solidFill>
                  <a:srgbClr val="0B4F4A"/>
                </a:solidFill>
                <a:latin typeface="Cambria" pitchFamily="34" charset="0"/>
                <a:ea typeface="Cambria" pitchFamily="34" charset="-122"/>
                <a:cs typeface="Cambria" pitchFamily="34" charset="-120"/>
              </a:rPr>
              <a:t>73</a:t>
            </a:r>
            <a:endParaRPr lang="en-US" sz="3400" dirty="0"/>
          </a:p>
        </p:txBody>
      </p:sp>
      <p:sp>
        <p:nvSpPr>
          <p:cNvPr id="48" name="Text 46"/>
          <p:cNvSpPr txBox="1"/>
          <p:nvPr/>
        </p:nvSpPr>
        <p:spPr>
          <a:xfrm>
            <a:off x="7187184" y="3931920"/>
            <a:ext cx="1554480" cy="365760"/>
          </a:xfrm>
          <a:prstGeom prst="rect">
            <a:avLst/>
          </a:prstGeom>
          <a:noFill/>
          <a:ln/>
        </p:spPr>
        <p:txBody>
          <a:bodyPr wrap="square" lIns="0" tIns="0" rIns="0" bIns="0" rtlCol="0" anchor="ctr"/>
          <a:lstStyle/>
          <a:p>
            <a:pPr algn="ctr" indent="0" marL="0">
              <a:buNone/>
            </a:pPr>
            <a:r>
              <a:rPr lang="en-US" sz="1150" dirty="0">
                <a:solidFill>
                  <a:srgbClr val="5B6B69"/>
                </a:solidFill>
                <a:latin typeface="Calibri" pitchFamily="34" charset="0"/>
                <a:ea typeface="Calibri" pitchFamily="34" charset="-122"/>
                <a:cs typeface="Calibri" pitchFamily="34" charset="-120"/>
              </a:rPr>
              <a:t>automated tests</a:t>
            </a:r>
            <a:endParaRPr lang="en-US" sz="1150" dirty="0"/>
          </a:p>
        </p:txBody>
      </p:sp>
      <p:sp>
        <p:nvSpPr>
          <p:cNvPr id="49" name="Text 47"/>
          <p:cNvSpPr txBox="1"/>
          <p:nvPr/>
        </p:nvSpPr>
        <p:spPr>
          <a:xfrm>
            <a:off x="457200" y="4617720"/>
            <a:ext cx="8229600" cy="274320"/>
          </a:xfrm>
          <a:prstGeom prst="rect">
            <a:avLst/>
          </a:prstGeom>
          <a:noFill/>
          <a:ln/>
        </p:spPr>
        <p:txBody>
          <a:bodyPr wrap="square" lIns="0" tIns="0" rIns="0" bIns="0" rtlCol="0" anchor="ctr"/>
          <a:lstStyle/>
          <a:p>
            <a:pPr indent="0" marL="0">
              <a:buNone/>
            </a:pPr>
            <a:r>
              <a:rPr lang="en-US" sz="1100" i="1" dirty="0">
                <a:solidFill>
                  <a:srgbClr val="5B6B69"/>
                </a:solidFill>
                <a:latin typeface="Calibri" pitchFamily="34" charset="0"/>
                <a:ea typeface="Calibri" pitchFamily="34" charset="-122"/>
                <a:cs typeface="Calibri" pitchFamily="34" charset="-120"/>
              </a:rPr>
              <a:t>Brief asks for at least 30 classes, 30 operations and one multi-level hierarchy</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600" b="1" dirty="0">
                <a:solidFill>
                  <a:srgbClr val="0B4F4A"/>
                </a:solidFill>
                <a:latin typeface="Cambria" pitchFamily="34" charset="0"/>
                <a:ea typeface="Cambria" pitchFamily="34" charset="-122"/>
                <a:cs typeface="Cambria" pitchFamily="34" charset="-120"/>
              </a:rPr>
              <a:t>Research changed the design</a:t>
            </a:r>
            <a:endParaRPr lang="en-US" sz="26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Three findings from KYC rules, payment lifecycles and card-scheme rules</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b="1" dirty="0">
                <a:solidFill>
                  <a:srgbClr val="B8862F"/>
                </a:solidFill>
                <a:latin typeface="Calibri" pitchFamily="34" charset="0"/>
                <a:ea typeface="Calibri" pitchFamily="34" charset="-122"/>
                <a:cs typeface="Calibri" pitchFamily="34" charset="-120"/>
              </a:rPr>
              <a:t>  ›  Research</a:t>
            </a:r>
            <a:pPr algn="r" indent="0" marL="0">
              <a:buNone/>
            </a:pPr>
            <a:r>
              <a:rPr lang="en-US" sz="1000" dirty="0">
                <a:solidFill>
                  <a:srgbClr val="9AAAA7"/>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sp>
        <p:nvSpPr>
          <p:cNvPr id="5" name="Shape 3"/>
          <p:cNvSpPr/>
          <p:nvPr/>
        </p:nvSpPr>
        <p:spPr>
          <a:xfrm>
            <a:off x="457200" y="1280160"/>
            <a:ext cx="2606040" cy="3291840"/>
          </a:xfrm>
          <a:prstGeom prst="roundRect">
            <a:avLst>
              <a:gd name="adj" fmla="val 2807"/>
            </a:avLst>
          </a:prstGeom>
          <a:solidFill>
            <a:srgbClr val="E8F0EE"/>
          </a:solidFill>
          <a:ln w="12700">
            <a:solidFill>
              <a:srgbClr val="E8F0EE"/>
            </a:solidFill>
            <a:prstDash val="solid"/>
          </a:ln>
        </p:spPr>
      </p:sp>
      <p:sp>
        <p:nvSpPr>
          <p:cNvPr id="6" name="Text 4"/>
          <p:cNvSpPr txBox="1"/>
          <p:nvPr/>
        </p:nvSpPr>
        <p:spPr>
          <a:xfrm>
            <a:off x="640080" y="1417320"/>
            <a:ext cx="2240280" cy="548640"/>
          </a:xfrm>
          <a:prstGeom prst="rect">
            <a:avLst/>
          </a:prstGeom>
          <a:noFill/>
          <a:ln/>
        </p:spPr>
        <p:txBody>
          <a:bodyPr wrap="square" lIns="0" tIns="0" rIns="0" bIns="0" rtlCol="0" anchor="t"/>
          <a:lstStyle/>
          <a:p>
            <a:pPr indent="0" marL="0">
              <a:buNone/>
            </a:pPr>
            <a:r>
              <a:rPr lang="en-US" sz="1500" b="1" dirty="0">
                <a:solidFill>
                  <a:srgbClr val="0B4F4A"/>
                </a:solidFill>
                <a:latin typeface="Cambria" pitchFamily="34" charset="0"/>
                <a:ea typeface="Cambria" pitchFamily="34" charset="-122"/>
                <a:cs typeface="Cambria" pitchFamily="34" charset="-120"/>
              </a:rPr>
              <a:t>One person, many roles</a:t>
            </a:r>
            <a:endParaRPr lang="en-US" sz="1500" dirty="0"/>
          </a:p>
        </p:txBody>
      </p:sp>
      <p:sp>
        <p:nvSpPr>
          <p:cNvPr id="7" name="Text 5"/>
          <p:cNvSpPr txBox="1"/>
          <p:nvPr/>
        </p:nvSpPr>
        <p:spPr>
          <a:xfrm>
            <a:off x="640080" y="2011680"/>
            <a:ext cx="2240280" cy="228600"/>
          </a:xfrm>
          <a:prstGeom prst="rect">
            <a:avLst/>
          </a:prstGeom>
          <a:noFill/>
          <a:ln/>
        </p:spPr>
        <p:txBody>
          <a:bodyPr wrap="square" lIns="0" tIns="0" rIns="0" bIns="0" rtlCol="0" anchor="ctr"/>
          <a:lstStyle/>
          <a:p>
            <a:pPr indent="0" marL="0">
              <a:buNone/>
            </a:pPr>
            <a:r>
              <a:rPr lang="en-US" sz="1000" b="1" dirty="0">
                <a:solidFill>
                  <a:srgbClr val="B8862F"/>
                </a:solidFill>
                <a:latin typeface="Calibri" pitchFamily="34" charset="0"/>
                <a:ea typeface="Calibri" pitchFamily="34" charset="-122"/>
                <a:cs typeface="Calibri" pitchFamily="34" charset="-120"/>
              </a:rPr>
              <a:t>Found</a:t>
            </a:r>
            <a:endParaRPr lang="en-US" sz="1000" dirty="0"/>
          </a:p>
        </p:txBody>
      </p:sp>
      <p:sp>
        <p:nvSpPr>
          <p:cNvPr id="8" name="Text 6"/>
          <p:cNvSpPr txBox="1"/>
          <p:nvPr/>
        </p:nvSpPr>
        <p:spPr>
          <a:xfrm>
            <a:off x="640080" y="2240280"/>
            <a:ext cx="2240280" cy="91440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KYC treats customer, director, owner and signatory as roles of one person.</a:t>
            </a:r>
            <a:endParaRPr lang="en-US" sz="1200" dirty="0"/>
          </a:p>
        </p:txBody>
      </p:sp>
      <p:sp>
        <p:nvSpPr>
          <p:cNvPr id="9" name="Text 7"/>
          <p:cNvSpPr txBox="1"/>
          <p:nvPr/>
        </p:nvSpPr>
        <p:spPr>
          <a:xfrm>
            <a:off x="640080" y="3154680"/>
            <a:ext cx="2240280" cy="228600"/>
          </a:xfrm>
          <a:prstGeom prst="rect">
            <a:avLst/>
          </a:prstGeom>
          <a:noFill/>
          <a:ln/>
        </p:spPr>
        <p:txBody>
          <a:bodyPr wrap="square" lIns="0" tIns="0" rIns="0" bIns="0" rtlCol="0" anchor="ctr"/>
          <a:lstStyle/>
          <a:p>
            <a:pPr indent="0" marL="0">
              <a:buNone/>
            </a:pPr>
            <a:r>
              <a:rPr lang="en-US" sz="1000" b="1" dirty="0">
                <a:solidFill>
                  <a:srgbClr val="B8862F"/>
                </a:solidFill>
                <a:latin typeface="Calibri" pitchFamily="34" charset="0"/>
                <a:ea typeface="Calibri" pitchFamily="34" charset="-122"/>
                <a:cs typeface="Calibri" pitchFamily="34" charset="-120"/>
              </a:rPr>
              <a:t>So the model has</a:t>
            </a:r>
            <a:endParaRPr lang="en-US" sz="1000" dirty="0"/>
          </a:p>
        </p:txBody>
      </p:sp>
      <p:sp>
        <p:nvSpPr>
          <p:cNvPr id="10" name="Text 8"/>
          <p:cNvSpPr txBox="1"/>
          <p:nvPr/>
        </p:nvSpPr>
        <p:spPr>
          <a:xfrm>
            <a:off x="640080" y="3383280"/>
            <a:ext cx="2240280" cy="10972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One Person record; roles are dated objects (Mandate, OfficerRole), not subclasses.</a:t>
            </a:r>
            <a:endParaRPr lang="en-US" sz="1200" dirty="0"/>
          </a:p>
        </p:txBody>
      </p:sp>
      <p:sp>
        <p:nvSpPr>
          <p:cNvPr id="11" name="Shape 9"/>
          <p:cNvSpPr/>
          <p:nvPr/>
        </p:nvSpPr>
        <p:spPr>
          <a:xfrm>
            <a:off x="3246120" y="1280160"/>
            <a:ext cx="2606040" cy="3291840"/>
          </a:xfrm>
          <a:prstGeom prst="roundRect">
            <a:avLst>
              <a:gd name="adj" fmla="val 2807"/>
            </a:avLst>
          </a:prstGeom>
          <a:solidFill>
            <a:srgbClr val="E8F0EE"/>
          </a:solidFill>
          <a:ln w="12700">
            <a:solidFill>
              <a:srgbClr val="E8F0EE"/>
            </a:solidFill>
            <a:prstDash val="solid"/>
          </a:ln>
        </p:spPr>
      </p:sp>
      <p:sp>
        <p:nvSpPr>
          <p:cNvPr id="12" name="Text 10"/>
          <p:cNvSpPr txBox="1"/>
          <p:nvPr/>
        </p:nvSpPr>
        <p:spPr>
          <a:xfrm>
            <a:off x="3429000" y="1417320"/>
            <a:ext cx="2240280" cy="548640"/>
          </a:xfrm>
          <a:prstGeom prst="rect">
            <a:avLst/>
          </a:prstGeom>
          <a:noFill/>
          <a:ln/>
        </p:spPr>
        <p:txBody>
          <a:bodyPr wrap="square" lIns="0" tIns="0" rIns="0" bIns="0" rtlCol="0" anchor="t"/>
          <a:lstStyle/>
          <a:p>
            <a:pPr indent="0" marL="0">
              <a:buNone/>
            </a:pPr>
            <a:r>
              <a:rPr lang="en-US" sz="1500" b="1" dirty="0">
                <a:solidFill>
                  <a:srgbClr val="0B4F4A"/>
                </a:solidFill>
                <a:latin typeface="Cambria" pitchFamily="34" charset="0"/>
                <a:ea typeface="Cambria" pitchFamily="34" charset="-122"/>
                <a:cs typeface="Cambria" pitchFamily="34" charset="-120"/>
              </a:rPr>
              <a:t>Nothing is erased</a:t>
            </a:r>
            <a:endParaRPr lang="en-US" sz="1500" dirty="0"/>
          </a:p>
        </p:txBody>
      </p:sp>
      <p:sp>
        <p:nvSpPr>
          <p:cNvPr id="13" name="Text 11"/>
          <p:cNvSpPr txBox="1"/>
          <p:nvPr/>
        </p:nvSpPr>
        <p:spPr>
          <a:xfrm>
            <a:off x="3429000" y="2011680"/>
            <a:ext cx="2240280" cy="228600"/>
          </a:xfrm>
          <a:prstGeom prst="rect">
            <a:avLst/>
          </a:prstGeom>
          <a:noFill/>
          <a:ln/>
        </p:spPr>
        <p:txBody>
          <a:bodyPr wrap="square" lIns="0" tIns="0" rIns="0" bIns="0" rtlCol="0" anchor="ctr"/>
          <a:lstStyle/>
          <a:p>
            <a:pPr indent="0" marL="0">
              <a:buNone/>
            </a:pPr>
            <a:r>
              <a:rPr lang="en-US" sz="1000" b="1" dirty="0">
                <a:solidFill>
                  <a:srgbClr val="B8862F"/>
                </a:solidFill>
                <a:latin typeface="Calibri" pitchFamily="34" charset="0"/>
                <a:ea typeface="Calibri" pitchFamily="34" charset="-122"/>
                <a:cs typeface="Calibri" pitchFamily="34" charset="-120"/>
              </a:rPr>
              <a:t>Found</a:t>
            </a:r>
            <a:endParaRPr lang="en-US" sz="1000" dirty="0"/>
          </a:p>
        </p:txBody>
      </p:sp>
      <p:sp>
        <p:nvSpPr>
          <p:cNvPr id="14" name="Text 12"/>
          <p:cNvSpPr txBox="1"/>
          <p:nvPr/>
        </p:nvSpPr>
        <p:spPr>
          <a:xfrm>
            <a:off x="3429000" y="2240280"/>
            <a:ext cx="2240280" cy="91440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Banks counteract a wrong payment with a new entry; they never edit history.</a:t>
            </a:r>
            <a:endParaRPr lang="en-US" sz="1200" dirty="0"/>
          </a:p>
        </p:txBody>
      </p:sp>
      <p:sp>
        <p:nvSpPr>
          <p:cNvPr id="15" name="Text 13"/>
          <p:cNvSpPr txBox="1"/>
          <p:nvPr/>
        </p:nvSpPr>
        <p:spPr>
          <a:xfrm>
            <a:off x="3429000" y="3154680"/>
            <a:ext cx="2240280" cy="228600"/>
          </a:xfrm>
          <a:prstGeom prst="rect">
            <a:avLst/>
          </a:prstGeom>
          <a:noFill/>
          <a:ln/>
        </p:spPr>
        <p:txBody>
          <a:bodyPr wrap="square" lIns="0" tIns="0" rIns="0" bIns="0" rtlCol="0" anchor="ctr"/>
          <a:lstStyle/>
          <a:p>
            <a:pPr indent="0" marL="0">
              <a:buNone/>
            </a:pPr>
            <a:r>
              <a:rPr lang="en-US" sz="1000" b="1" dirty="0">
                <a:solidFill>
                  <a:srgbClr val="B8862F"/>
                </a:solidFill>
                <a:latin typeface="Calibri" pitchFamily="34" charset="0"/>
                <a:ea typeface="Calibri" pitchFamily="34" charset="-122"/>
                <a:cs typeface="Calibri" pitchFamily="34" charset="-120"/>
              </a:rPr>
              <a:t>So the model has</a:t>
            </a:r>
            <a:endParaRPr lang="en-US" sz="1000" dirty="0"/>
          </a:p>
        </p:txBody>
      </p:sp>
      <p:sp>
        <p:nvSpPr>
          <p:cNvPr id="16" name="Text 14"/>
          <p:cNvSpPr txBox="1"/>
          <p:nvPr/>
        </p:nvSpPr>
        <p:spPr>
          <a:xfrm>
            <a:off x="3429000" y="3383280"/>
            <a:ext cx="2240280" cy="10972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Reversal and Chargeback are new transactions linked to the original.</a:t>
            </a:r>
            <a:endParaRPr lang="en-US" sz="1200" dirty="0"/>
          </a:p>
        </p:txBody>
      </p:sp>
      <p:sp>
        <p:nvSpPr>
          <p:cNvPr id="17" name="Shape 15"/>
          <p:cNvSpPr/>
          <p:nvPr/>
        </p:nvSpPr>
        <p:spPr>
          <a:xfrm>
            <a:off x="6035040" y="1280160"/>
            <a:ext cx="2606040" cy="3291840"/>
          </a:xfrm>
          <a:prstGeom prst="roundRect">
            <a:avLst>
              <a:gd name="adj" fmla="val 2807"/>
            </a:avLst>
          </a:prstGeom>
          <a:solidFill>
            <a:srgbClr val="E8F0EE"/>
          </a:solidFill>
          <a:ln w="12700">
            <a:solidFill>
              <a:srgbClr val="E8F0EE"/>
            </a:solidFill>
            <a:prstDash val="solid"/>
          </a:ln>
        </p:spPr>
      </p:sp>
      <p:sp>
        <p:nvSpPr>
          <p:cNvPr id="18" name="Text 16"/>
          <p:cNvSpPr txBox="1"/>
          <p:nvPr/>
        </p:nvSpPr>
        <p:spPr>
          <a:xfrm>
            <a:off x="6217920" y="1417320"/>
            <a:ext cx="2240280" cy="548640"/>
          </a:xfrm>
          <a:prstGeom prst="rect">
            <a:avLst/>
          </a:prstGeom>
          <a:noFill/>
          <a:ln/>
        </p:spPr>
        <p:txBody>
          <a:bodyPr wrap="square" lIns="0" tIns="0" rIns="0" bIns="0" rtlCol="0" anchor="t"/>
          <a:lstStyle/>
          <a:p>
            <a:pPr indent="0" marL="0">
              <a:buNone/>
            </a:pPr>
            <a:r>
              <a:rPr lang="en-US" sz="1500" b="1" dirty="0">
                <a:solidFill>
                  <a:srgbClr val="0B4F4A"/>
                </a:solidFill>
                <a:latin typeface="Cambria" pitchFamily="34" charset="0"/>
                <a:ea typeface="Cambria" pitchFamily="34" charset="-122"/>
                <a:cs typeface="Cambria" pitchFamily="34" charset="-120"/>
              </a:rPr>
              <a:t>Product ≠ customer’s product</a:t>
            </a:r>
            <a:endParaRPr lang="en-US" sz="1500" dirty="0"/>
          </a:p>
        </p:txBody>
      </p:sp>
      <p:sp>
        <p:nvSpPr>
          <p:cNvPr id="19" name="Text 17"/>
          <p:cNvSpPr txBox="1"/>
          <p:nvPr/>
        </p:nvSpPr>
        <p:spPr>
          <a:xfrm>
            <a:off x="6217920" y="2011680"/>
            <a:ext cx="2240280" cy="228600"/>
          </a:xfrm>
          <a:prstGeom prst="rect">
            <a:avLst/>
          </a:prstGeom>
          <a:noFill/>
          <a:ln/>
        </p:spPr>
        <p:txBody>
          <a:bodyPr wrap="square" lIns="0" tIns="0" rIns="0" bIns="0" rtlCol="0" anchor="ctr"/>
          <a:lstStyle/>
          <a:p>
            <a:pPr indent="0" marL="0">
              <a:buNone/>
            </a:pPr>
            <a:r>
              <a:rPr lang="en-US" sz="1000" b="1" dirty="0">
                <a:solidFill>
                  <a:srgbClr val="B8862F"/>
                </a:solidFill>
                <a:latin typeface="Calibri" pitchFamily="34" charset="0"/>
                <a:ea typeface="Calibri" pitchFamily="34" charset="-122"/>
                <a:cs typeface="Calibri" pitchFamily="34" charset="-120"/>
              </a:rPr>
              <a:t>Found</a:t>
            </a:r>
            <a:endParaRPr lang="en-US" sz="1000" dirty="0"/>
          </a:p>
        </p:txBody>
      </p:sp>
      <p:sp>
        <p:nvSpPr>
          <p:cNvPr id="20" name="Text 18"/>
          <p:cNvSpPr txBox="1"/>
          <p:nvPr/>
        </p:nvSpPr>
        <p:spPr>
          <a:xfrm>
            <a:off x="6217920" y="2240280"/>
            <a:ext cx="2240280" cy="91440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A product can close to new customers while old holders keep their terms.</a:t>
            </a:r>
            <a:endParaRPr lang="en-US" sz="1200" dirty="0"/>
          </a:p>
        </p:txBody>
      </p:sp>
      <p:sp>
        <p:nvSpPr>
          <p:cNvPr id="21" name="Text 19"/>
          <p:cNvSpPr txBox="1"/>
          <p:nvPr/>
        </p:nvSpPr>
        <p:spPr>
          <a:xfrm>
            <a:off x="6217920" y="3154680"/>
            <a:ext cx="2240280" cy="228600"/>
          </a:xfrm>
          <a:prstGeom prst="rect">
            <a:avLst/>
          </a:prstGeom>
          <a:noFill/>
          <a:ln/>
        </p:spPr>
        <p:txBody>
          <a:bodyPr wrap="square" lIns="0" tIns="0" rIns="0" bIns="0" rtlCol="0" anchor="ctr"/>
          <a:lstStyle/>
          <a:p>
            <a:pPr indent="0" marL="0">
              <a:buNone/>
            </a:pPr>
            <a:r>
              <a:rPr lang="en-US" sz="1000" b="1" dirty="0">
                <a:solidFill>
                  <a:srgbClr val="B8862F"/>
                </a:solidFill>
                <a:latin typeface="Calibri" pitchFamily="34" charset="0"/>
                <a:ea typeface="Calibri" pitchFamily="34" charset="-122"/>
                <a:cs typeface="Calibri" pitchFamily="34" charset="-120"/>
              </a:rPr>
              <a:t>So the model has</a:t>
            </a:r>
            <a:endParaRPr lang="en-US" sz="1000" dirty="0"/>
          </a:p>
        </p:txBody>
      </p:sp>
      <p:sp>
        <p:nvSpPr>
          <p:cNvPr id="22" name="Text 20"/>
          <p:cNvSpPr txBox="1"/>
          <p:nvPr/>
        </p:nvSpPr>
        <p:spPr>
          <a:xfrm>
            <a:off x="6217920" y="3383280"/>
            <a:ext cx="2240280" cy="10972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ProductDefinition (the offer) vs Arrangement (what a customer holds, pinned to a terms version).</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600" b="1" dirty="0">
                <a:solidFill>
                  <a:srgbClr val="0B4F4A"/>
                </a:solidFill>
                <a:latin typeface="Cambria" pitchFamily="34" charset="0"/>
                <a:ea typeface="Cambria" pitchFamily="34" charset="-122"/>
                <a:cs typeface="Cambria" pitchFamily="34" charset="-120"/>
              </a:rPr>
              <a:t>Class model after research</a:t>
            </a:r>
            <a:endParaRPr lang="en-US" sz="26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Four hierarchies (inheritance) plus standalone classes linked by association</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b="1" dirty="0">
                <a:solidFill>
                  <a:srgbClr val="B8862F"/>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pic>
        <p:nvPicPr>
          <p:cNvPr id="5" name="Image 0" descr="/home/user/commercial-banking/docs/class_diagram.png">    </p:cNvPr>
          <p:cNvPicPr>
            <a:picLocks noChangeAspect="1"/>
          </p:cNvPicPr>
          <p:nvPr/>
        </p:nvPicPr>
        <p:blipFill>
          <a:blip r:embed="rId1"/>
          <a:stretch>
            <a:fillRect/>
          </a:stretch>
        </p:blipFill>
        <p:spPr>
          <a:xfrm>
            <a:off x="380426" y="1188720"/>
            <a:ext cx="8383148" cy="3429000"/>
          </a:xfrm>
          <a:prstGeom prst="rect">
            <a:avLst/>
          </a:prstGeom>
        </p:spPr>
      </p:pic>
      <p:sp>
        <p:nvSpPr>
          <p:cNvPr id="6" name="Text 3"/>
          <p:cNvSpPr txBox="1"/>
          <p:nvPr/>
        </p:nvSpPr>
        <p:spPr>
          <a:xfrm>
            <a:off x="457200" y="4663440"/>
            <a:ext cx="8229600" cy="274320"/>
          </a:xfrm>
          <a:prstGeom prst="rect">
            <a:avLst/>
          </a:prstGeom>
          <a:noFill/>
          <a:ln/>
        </p:spPr>
        <p:txBody>
          <a:bodyPr wrap="square" lIns="0" tIns="0" rIns="0" bIns="0" rtlCol="0" anchor="ctr"/>
          <a:lstStyle/>
          <a:p>
            <a:pPr indent="0" marL="0">
              <a:buNone/>
            </a:pPr>
            <a:r>
              <a:rPr lang="en-US" sz="1050" i="1" dirty="0">
                <a:solidFill>
                  <a:srgbClr val="5B6B69"/>
                </a:solidFill>
                <a:latin typeface="Calibri" pitchFamily="34" charset="0"/>
                <a:ea typeface="Calibri" pitchFamily="34" charset="-122"/>
                <a:cs typeface="Calibri" pitchFamily="34" charset="-120"/>
              </a:rPr>
              <a:t>Full diagram in the design report; generated from the code, so it cannot drift from it</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300" b="1" dirty="0">
                <a:solidFill>
                  <a:srgbClr val="0B4F4A"/>
                </a:solidFill>
                <a:latin typeface="Cambria" pitchFamily="34" charset="0"/>
                <a:ea typeface="Cambria" pitchFamily="34" charset="-122"/>
                <a:cs typeface="Cambria" pitchFamily="34" charset="-120"/>
              </a:rPr>
              <a:t>Multi-level inheritance, and what I rejected</a:t>
            </a:r>
            <a:endParaRPr lang="en-US" sz="23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UML: shared data sits at the highest level where every subclass needs it</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b="1" dirty="0">
                <a:solidFill>
                  <a:srgbClr val="B8862F"/>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pic>
        <p:nvPicPr>
          <p:cNvPr id="5" name="Image 0" descr="/home/user/commercial-banking/docs/uml_parties.png">    </p:cNvPr>
          <p:cNvPicPr>
            <a:picLocks noChangeAspect="1"/>
          </p:cNvPicPr>
          <p:nvPr/>
        </p:nvPicPr>
        <p:blipFill>
          <a:blip r:embed="rId1"/>
          <a:stretch>
            <a:fillRect/>
          </a:stretch>
        </p:blipFill>
        <p:spPr>
          <a:xfrm>
            <a:off x="365760" y="1434093"/>
            <a:ext cx="2743200" cy="2343894"/>
          </a:xfrm>
          <a:prstGeom prst="rect">
            <a:avLst/>
          </a:prstGeom>
        </p:spPr>
      </p:pic>
      <p:pic>
        <p:nvPicPr>
          <p:cNvPr id="6" name="Image 1" descr="/home/user/commercial-banking/docs/uml_arrangements.png">    </p:cNvPr>
          <p:cNvPicPr>
            <a:picLocks noChangeAspect="1"/>
          </p:cNvPicPr>
          <p:nvPr/>
        </p:nvPicPr>
        <p:blipFill>
          <a:blip r:embed="rId2"/>
          <a:stretch>
            <a:fillRect/>
          </a:stretch>
        </p:blipFill>
        <p:spPr>
          <a:xfrm>
            <a:off x="3200400" y="1353977"/>
            <a:ext cx="2743200" cy="2504125"/>
          </a:xfrm>
          <a:prstGeom prst="rect">
            <a:avLst/>
          </a:prstGeom>
        </p:spPr>
      </p:pic>
      <p:sp>
        <p:nvSpPr>
          <p:cNvPr id="7" name="Text 3"/>
          <p:cNvSpPr txBox="1"/>
          <p:nvPr/>
        </p:nvSpPr>
        <p:spPr>
          <a:xfrm>
            <a:off x="365760" y="4069080"/>
            <a:ext cx="2743200" cy="274320"/>
          </a:xfrm>
          <a:prstGeom prst="rect">
            <a:avLst/>
          </a:prstGeom>
          <a:noFill/>
          <a:ln/>
        </p:spPr>
        <p:txBody>
          <a:bodyPr wrap="square" lIns="0" tIns="0" rIns="0" bIns="0" rtlCol="0" anchor="ctr"/>
          <a:lstStyle/>
          <a:p>
            <a:pPr algn="ctr" indent="0" marL="0">
              <a:buNone/>
            </a:pPr>
            <a:r>
              <a:rPr lang="en-US" sz="1050" b="1" dirty="0">
                <a:solidFill>
                  <a:srgbClr val="0B4F4A"/>
                </a:solidFill>
                <a:latin typeface="Calibri" pitchFamily="34" charset="0"/>
                <a:ea typeface="Calibri" pitchFamily="34" charset="-122"/>
                <a:cs typeface="Calibri" pitchFamily="34" charset="-120"/>
              </a:rPr>
              <a:t>Party › Organization › Company / Charity</a:t>
            </a:r>
            <a:endParaRPr lang="en-US" sz="1050" dirty="0"/>
          </a:p>
        </p:txBody>
      </p:sp>
      <p:sp>
        <p:nvSpPr>
          <p:cNvPr id="8" name="Text 4"/>
          <p:cNvSpPr txBox="1"/>
          <p:nvPr/>
        </p:nvSpPr>
        <p:spPr>
          <a:xfrm>
            <a:off x="3200400" y="4069080"/>
            <a:ext cx="2743200" cy="274320"/>
          </a:xfrm>
          <a:prstGeom prst="rect">
            <a:avLst/>
          </a:prstGeom>
          <a:noFill/>
          <a:ln/>
        </p:spPr>
        <p:txBody>
          <a:bodyPr wrap="square" lIns="0" tIns="0" rIns="0" bIns="0" rtlCol="0" anchor="ctr"/>
          <a:lstStyle/>
          <a:p>
            <a:pPr algn="ctr" indent="0" marL="0">
              <a:buNone/>
            </a:pPr>
            <a:r>
              <a:rPr lang="en-US" sz="1050" b="1" dirty="0">
                <a:solidFill>
                  <a:srgbClr val="0B4F4A"/>
                </a:solidFill>
                <a:latin typeface="Calibri" pitchFamily="34" charset="0"/>
                <a:ea typeface="Calibri" pitchFamily="34" charset="-122"/>
                <a:cs typeface="Calibri" pitchFamily="34" charset="-120"/>
              </a:rPr>
              <a:t>Arrangement › DepositAccount › Current / Savings / Term</a:t>
            </a:r>
            <a:endParaRPr lang="en-US" sz="1050" dirty="0"/>
          </a:p>
        </p:txBody>
      </p:sp>
      <p:sp>
        <p:nvSpPr>
          <p:cNvPr id="9" name="Shape 5"/>
          <p:cNvSpPr/>
          <p:nvPr/>
        </p:nvSpPr>
        <p:spPr>
          <a:xfrm>
            <a:off x="6172200" y="1188720"/>
            <a:ext cx="2606040" cy="3520440"/>
          </a:xfrm>
          <a:prstGeom prst="roundRect">
            <a:avLst>
              <a:gd name="adj" fmla="val 2807"/>
            </a:avLst>
          </a:prstGeom>
          <a:solidFill>
            <a:srgbClr val="E8F0EE"/>
          </a:solidFill>
          <a:ln w="12700">
            <a:solidFill>
              <a:srgbClr val="E8F0EE"/>
            </a:solidFill>
            <a:prstDash val="solid"/>
          </a:ln>
        </p:spPr>
      </p:sp>
      <p:sp>
        <p:nvSpPr>
          <p:cNvPr id="10" name="Text 6"/>
          <p:cNvSpPr txBox="1"/>
          <p:nvPr/>
        </p:nvSpPr>
        <p:spPr>
          <a:xfrm>
            <a:off x="6355080" y="1280160"/>
            <a:ext cx="2286000" cy="320040"/>
          </a:xfrm>
          <a:prstGeom prst="rect">
            <a:avLst/>
          </a:prstGeom>
          <a:noFill/>
          <a:ln/>
        </p:spPr>
        <p:txBody>
          <a:bodyPr wrap="square" lIns="0" tIns="0" rIns="0" bIns="0" rtlCol="0" anchor="ctr"/>
          <a:lstStyle/>
          <a:p>
            <a:pPr indent="0" marL="0">
              <a:buNone/>
            </a:pPr>
            <a:r>
              <a:rPr lang="en-US" sz="1500" b="1" dirty="0">
                <a:solidFill>
                  <a:srgbClr val="B8862F"/>
                </a:solidFill>
                <a:latin typeface="Cambria" pitchFamily="34" charset="0"/>
                <a:ea typeface="Cambria" pitchFamily="34" charset="-122"/>
                <a:cs typeface="Cambria" pitchFamily="34" charset="-120"/>
              </a:rPr>
              <a:t>Rejected</a:t>
            </a:r>
            <a:endParaRPr lang="en-US" sz="1500" dirty="0"/>
          </a:p>
        </p:txBody>
      </p:sp>
      <p:sp>
        <p:nvSpPr>
          <p:cNvPr id="11" name="Text 7"/>
          <p:cNvSpPr txBox="1"/>
          <p:nvPr/>
        </p:nvSpPr>
        <p:spPr>
          <a:xfrm>
            <a:off x="6309360" y="1645920"/>
            <a:ext cx="2377440" cy="3017520"/>
          </a:xfrm>
          <a:prstGeom prst="rect">
            <a:avLst/>
          </a:prstGeom>
          <a:noFill/>
          <a:ln/>
        </p:spPr>
        <p:txBody>
          <a:bodyPr wrap="square" lIns="635" tIns="635" rIns="635" bIns="635" rtlCol="0" anchor="t"/>
          <a:lstStyle/>
          <a:p>
            <a:pPr marL="342900" indent="-342900">
              <a:spcAft>
                <a:spcPts val="600"/>
              </a:spcAft>
              <a:buSzPct val="100000"/>
              <a:buChar char="•"/>
            </a:pPr>
            <a:r>
              <a:rPr lang="en-US" sz="1150" dirty="0">
                <a:solidFill>
                  <a:srgbClr val="1D2B2A"/>
                </a:solidFill>
                <a:latin typeface="Calibri" pitchFamily="34" charset="0"/>
                <a:ea typeface="Calibri" pitchFamily="34" charset="-122"/>
                <a:cs typeface="Calibri" pitchFamily="34" charset="-120"/>
              </a:rPr>
              <a:t>Customer(Person): a role that starts and ends, not a kind of person</a:t>
            </a:r>
            <a:endParaRPr lang="en-US" sz="1150" dirty="0"/>
          </a:p>
          <a:p>
            <a:pPr marL="342900" indent="-342900">
              <a:spcAft>
                <a:spcPts val="600"/>
              </a:spcAft>
              <a:buSzPct val="100000"/>
              <a:buChar char="•"/>
            </a:pPr>
            <a:r>
              <a:rPr lang="en-US" sz="1150" dirty="0">
                <a:solidFill>
                  <a:srgbClr val="1D2B2A"/>
                </a:solidFill>
                <a:latin typeface="Calibri" pitchFamily="34" charset="0"/>
                <a:ea typeface="Calibri" pitchFamily="34" charset="-122"/>
                <a:cs typeface="Calibri" pitchFamily="34" charset="-120"/>
              </a:rPr>
              <a:t>Card(Account): a card holds no money; it is linked to an account</a:t>
            </a:r>
            <a:endParaRPr lang="en-US" sz="1150" dirty="0"/>
          </a:p>
          <a:p>
            <a:pPr marL="342900" indent="-342900">
              <a:spcAft>
                <a:spcPts val="600"/>
              </a:spcAft>
              <a:buSzPct val="100000"/>
              <a:buChar char="•"/>
            </a:pPr>
            <a:r>
              <a:rPr lang="en-US" sz="1150" dirty="0">
                <a:solidFill>
                  <a:srgbClr val="1D2B2A"/>
                </a:solidFill>
                <a:latin typeface="Calibri" pitchFamily="34" charset="0"/>
                <a:ea typeface="Calibri" pitchFamily="34" charset="-122"/>
                <a:cs typeface="Calibri" pitchFamily="34" charset="-120"/>
              </a:rPr>
              <a:t>SoleTrader(Organization): legally the person is liable</a:t>
            </a:r>
            <a:endParaRPr lang="en-US" sz="1150" dirty="0"/>
          </a:p>
          <a:p>
            <a:pPr marL="342900" indent="-342900">
              <a:spcAft>
                <a:spcPts val="600"/>
              </a:spcAft>
              <a:buSzPct val="100000"/>
              <a:buChar char="•"/>
            </a:pPr>
            <a:r>
              <a:rPr lang="en-US" sz="1150" dirty="0">
                <a:solidFill>
                  <a:srgbClr val="1D2B2A"/>
                </a:solidFill>
                <a:latin typeface="Calibri" pitchFamily="34" charset="0"/>
                <a:ea typeface="Calibri" pitchFamily="34" charset="-122"/>
                <a:cs typeface="Calibri" pitchFamily="34" charset="-120"/>
              </a:rPr>
              <a:t>MerchantRefund(Reversal): the purchase stays valid</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300" b="1" dirty="0">
                <a:solidFill>
                  <a:srgbClr val="0B4F4A"/>
                </a:solidFill>
                <a:latin typeface="Cambria" pitchFamily="34" charset="0"/>
                <a:ea typeface="Cambria" pitchFamily="34" charset="-122"/>
                <a:cs typeface="Cambria" pitchFamily="34" charset="-120"/>
              </a:rPr>
              <a:t>One workflow end to end: a large transfer</a:t>
            </a:r>
            <a:endParaRPr lang="en-US" sz="23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Flowchart in standard symbols, in the order the code checks the rules</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dirty="0">
                <a:solidFill>
                  <a:srgbClr val="9AAAA7"/>
                </a:solidFill>
                <a:latin typeface="Calibri" pitchFamily="34" charset="0"/>
                <a:ea typeface="Calibri" pitchFamily="34" charset="-122"/>
                <a:cs typeface="Calibri" pitchFamily="34" charset="-120"/>
              </a:rPr>
              <a:t>  ›  Design</a:t>
            </a:r>
            <a:pPr algn="r" indent="0" marL="0">
              <a:buNone/>
            </a:pPr>
            <a:r>
              <a:rPr lang="en-US" sz="1000" b="1" dirty="0">
                <a:solidFill>
                  <a:srgbClr val="B8862F"/>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pic>
        <p:nvPicPr>
          <p:cNvPr id="5" name="Image 0" descr="/home/user/commercial-banking/docs/flowchart_3_transfer.png">    </p:cNvPr>
          <p:cNvPicPr>
            <a:picLocks noChangeAspect="1"/>
          </p:cNvPicPr>
          <p:nvPr/>
        </p:nvPicPr>
        <p:blipFill>
          <a:blip r:embed="rId1"/>
          <a:stretch>
            <a:fillRect/>
          </a:stretch>
        </p:blipFill>
        <p:spPr>
          <a:xfrm>
            <a:off x="635801" y="1143000"/>
            <a:ext cx="2751758" cy="3749040"/>
          </a:xfrm>
          <a:prstGeom prst="rect">
            <a:avLst/>
          </a:prstGeom>
        </p:spPr>
      </p:pic>
      <p:sp>
        <p:nvSpPr>
          <p:cNvPr id="6" name="Shape 3"/>
          <p:cNvSpPr/>
          <p:nvPr/>
        </p:nvSpPr>
        <p:spPr>
          <a:xfrm>
            <a:off x="4023360" y="1234440"/>
            <a:ext cx="365760" cy="365760"/>
          </a:xfrm>
          <a:prstGeom prst="ellipse">
            <a:avLst/>
          </a:prstGeom>
          <a:solidFill>
            <a:srgbClr val="B8862F"/>
          </a:solidFill>
          <a:ln/>
        </p:spPr>
      </p:sp>
      <p:sp>
        <p:nvSpPr>
          <p:cNvPr id="7" name="Text 4"/>
          <p:cNvSpPr txBox="1"/>
          <p:nvPr/>
        </p:nvSpPr>
        <p:spPr>
          <a:xfrm>
            <a:off x="4023360" y="12344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5"/>
          <p:cNvSpPr txBox="1"/>
          <p:nvPr/>
        </p:nvSpPr>
        <p:spPr>
          <a:xfrm>
            <a:off x="4572000" y="1188720"/>
            <a:ext cx="4114800" cy="658368"/>
          </a:xfrm>
          <a:prstGeom prst="rect">
            <a:avLst/>
          </a:prstGeom>
          <a:noFill/>
          <a:ln/>
        </p:spPr>
        <p:txBody>
          <a:bodyPr wrap="square" lIns="0" tIns="0" rIns="0" bIns="0" rtlCol="0" anchor="t"/>
          <a:lstStyle/>
          <a:p>
            <a:pPr indent="0" marL="0">
              <a:buNone/>
            </a:pPr>
            <a:r>
              <a:rPr lang="en-US" sz="1200" b="1" dirty="0">
                <a:solidFill>
                  <a:srgbClr val="0B4F4A"/>
                </a:solidFill>
                <a:latin typeface="Calibri" pitchFamily="34" charset="0"/>
                <a:ea typeface="Calibri" pitchFamily="34" charset="-122"/>
                <a:cs typeface="Calibri" pitchFamily="34" charset="-120"/>
              </a:rPr>
              <a:t>Authority</a:t>
            </a:r>
            <a:endParaRPr lang="en-US" sz="1200" dirty="0"/>
          </a:p>
          <a:p>
            <a:pPr indent="0" marL="0">
              <a:buNone/>
            </a:pPr>
            <a:r>
              <a:rPr lang="en-US" sz="1200" dirty="0">
                <a:solidFill>
                  <a:srgbClr val="1D2B2A"/>
                </a:solidFill>
                <a:latin typeface="Calibri" pitchFamily="34" charset="0"/>
                <a:ea typeface="Calibri" pitchFamily="34" charset="-122"/>
                <a:cs typeface="Calibri" pitchFamily="34" charset="-120"/>
              </a:rPr>
              <a:t>Does this person hold a live payments mandate?</a:t>
            </a:r>
            <a:endParaRPr lang="en-US" sz="1200" dirty="0"/>
          </a:p>
        </p:txBody>
      </p:sp>
      <p:sp>
        <p:nvSpPr>
          <p:cNvPr id="9" name="Shape 6"/>
          <p:cNvSpPr/>
          <p:nvPr/>
        </p:nvSpPr>
        <p:spPr>
          <a:xfrm>
            <a:off x="4023360" y="1965960"/>
            <a:ext cx="365760" cy="365760"/>
          </a:xfrm>
          <a:prstGeom prst="ellipse">
            <a:avLst/>
          </a:prstGeom>
          <a:solidFill>
            <a:srgbClr val="B8862F"/>
          </a:solidFill>
          <a:ln/>
        </p:spPr>
      </p:sp>
      <p:sp>
        <p:nvSpPr>
          <p:cNvPr id="10" name="Text 7"/>
          <p:cNvSpPr txBox="1"/>
          <p:nvPr/>
        </p:nvSpPr>
        <p:spPr>
          <a:xfrm>
            <a:off x="4023360" y="196596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1" name="Text 8"/>
          <p:cNvSpPr txBox="1"/>
          <p:nvPr/>
        </p:nvSpPr>
        <p:spPr>
          <a:xfrm>
            <a:off x="4572000" y="1920240"/>
            <a:ext cx="4114800" cy="658368"/>
          </a:xfrm>
          <a:prstGeom prst="rect">
            <a:avLst/>
          </a:prstGeom>
          <a:noFill/>
          <a:ln/>
        </p:spPr>
        <p:txBody>
          <a:bodyPr wrap="square" lIns="0" tIns="0" rIns="0" bIns="0" rtlCol="0" anchor="t"/>
          <a:lstStyle/>
          <a:p>
            <a:pPr indent="0" marL="0">
              <a:buNone/>
            </a:pPr>
            <a:r>
              <a:rPr lang="en-US" sz="1200" b="1" dirty="0">
                <a:solidFill>
                  <a:srgbClr val="0B4F4A"/>
                </a:solidFill>
                <a:latin typeface="Calibri" pitchFamily="34" charset="0"/>
                <a:ea typeface="Calibri" pitchFamily="34" charset="-122"/>
                <a:cs typeface="Calibri" pitchFamily="34" charset="-120"/>
              </a:rPr>
              <a:t>Funds and limits</a:t>
            </a:r>
            <a:endParaRPr lang="en-US" sz="1200" dirty="0"/>
          </a:p>
          <a:p>
            <a:pPr indent="0" marL="0">
              <a:buNone/>
            </a:pPr>
            <a:r>
              <a:rPr lang="en-US" sz="1200" dirty="0">
                <a:solidFill>
                  <a:srgbClr val="1D2B2A"/>
                </a:solidFill>
                <a:latin typeface="Calibri" pitchFamily="34" charset="0"/>
                <a:ea typeface="Calibri" pitchFamily="34" charset="-122"/>
                <a:cs typeface="Calibri" pitchFamily="34" charset="-120"/>
              </a:rPr>
              <a:t>Enough available balance, within the mandate limit?</a:t>
            </a:r>
            <a:endParaRPr lang="en-US" sz="1200" dirty="0"/>
          </a:p>
        </p:txBody>
      </p:sp>
      <p:sp>
        <p:nvSpPr>
          <p:cNvPr id="12" name="Shape 9"/>
          <p:cNvSpPr/>
          <p:nvPr/>
        </p:nvSpPr>
        <p:spPr>
          <a:xfrm>
            <a:off x="4023360" y="2697480"/>
            <a:ext cx="365760" cy="365760"/>
          </a:xfrm>
          <a:prstGeom prst="ellipse">
            <a:avLst/>
          </a:prstGeom>
          <a:solidFill>
            <a:srgbClr val="B8862F"/>
          </a:solidFill>
          <a:ln/>
        </p:spPr>
      </p:sp>
      <p:sp>
        <p:nvSpPr>
          <p:cNvPr id="13" name="Text 10"/>
          <p:cNvSpPr txBox="1"/>
          <p:nvPr/>
        </p:nvSpPr>
        <p:spPr>
          <a:xfrm>
            <a:off x="4023360" y="2697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4" name="Text 11"/>
          <p:cNvSpPr txBox="1"/>
          <p:nvPr/>
        </p:nvSpPr>
        <p:spPr>
          <a:xfrm>
            <a:off x="4572000" y="2651760"/>
            <a:ext cx="4114800" cy="658368"/>
          </a:xfrm>
          <a:prstGeom prst="rect">
            <a:avLst/>
          </a:prstGeom>
          <a:noFill/>
          <a:ln/>
        </p:spPr>
        <p:txBody>
          <a:bodyPr wrap="square" lIns="0" tIns="0" rIns="0" bIns="0" rtlCol="0" anchor="t"/>
          <a:lstStyle/>
          <a:p>
            <a:pPr indent="0" marL="0">
              <a:buNone/>
            </a:pPr>
            <a:r>
              <a:rPr lang="en-US" sz="1200" b="1" dirty="0">
                <a:solidFill>
                  <a:srgbClr val="0B4F4A"/>
                </a:solidFill>
                <a:latin typeface="Calibri" pitchFamily="34" charset="0"/>
                <a:ea typeface="Calibri" pitchFamily="34" charset="-122"/>
                <a:cs typeface="Calibri" pitchFamily="34" charset="-120"/>
              </a:rPr>
              <a:t>Dual control</a:t>
            </a:r>
            <a:endParaRPr lang="en-US" sz="1200" dirty="0"/>
          </a:p>
          <a:p>
            <a:pPr indent="0" marL="0">
              <a:buNone/>
            </a:pPr>
            <a:r>
              <a:rPr lang="en-US" sz="1200" dirty="0">
                <a:solidFill>
                  <a:srgbClr val="1D2B2A"/>
                </a:solidFill>
                <a:latin typeface="Calibri" pitchFamily="34" charset="0"/>
                <a:ea typeface="Calibri" pitchFamily="34" charset="-122"/>
                <a:cs typeface="Calibri" pitchFamily="34" charset="-120"/>
              </a:rPr>
              <a:t>Above the threshold, a second signatory must approve</a:t>
            </a:r>
            <a:endParaRPr lang="en-US" sz="1200" dirty="0"/>
          </a:p>
        </p:txBody>
      </p:sp>
      <p:sp>
        <p:nvSpPr>
          <p:cNvPr id="15" name="Shape 12"/>
          <p:cNvSpPr/>
          <p:nvPr/>
        </p:nvSpPr>
        <p:spPr>
          <a:xfrm>
            <a:off x="4023360" y="3429000"/>
            <a:ext cx="365760" cy="365760"/>
          </a:xfrm>
          <a:prstGeom prst="ellipse">
            <a:avLst/>
          </a:prstGeom>
          <a:solidFill>
            <a:srgbClr val="B8862F"/>
          </a:solidFill>
          <a:ln/>
        </p:spPr>
      </p:sp>
      <p:sp>
        <p:nvSpPr>
          <p:cNvPr id="16" name="Text 13"/>
          <p:cNvSpPr txBox="1"/>
          <p:nvPr/>
        </p:nvSpPr>
        <p:spPr>
          <a:xfrm>
            <a:off x="4023360"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17" name="Text 14"/>
          <p:cNvSpPr txBox="1"/>
          <p:nvPr/>
        </p:nvSpPr>
        <p:spPr>
          <a:xfrm>
            <a:off x="4572000" y="3383280"/>
            <a:ext cx="4114800" cy="658368"/>
          </a:xfrm>
          <a:prstGeom prst="rect">
            <a:avLst/>
          </a:prstGeom>
          <a:noFill/>
          <a:ln/>
        </p:spPr>
        <p:txBody>
          <a:bodyPr wrap="square" lIns="0" tIns="0" rIns="0" bIns="0" rtlCol="0" anchor="t"/>
          <a:lstStyle/>
          <a:p>
            <a:pPr indent="0" marL="0">
              <a:buNone/>
            </a:pPr>
            <a:r>
              <a:rPr lang="en-US" sz="1200" b="1" dirty="0">
                <a:solidFill>
                  <a:srgbClr val="0B4F4A"/>
                </a:solidFill>
                <a:latin typeface="Calibri" pitchFamily="34" charset="0"/>
                <a:ea typeface="Calibri" pitchFamily="34" charset="-122"/>
                <a:cs typeface="Calibri" pitchFamily="34" charset="-120"/>
              </a:rPr>
              <a:t>Compliance hold</a:t>
            </a:r>
            <a:endParaRPr lang="en-US" sz="1200" dirty="0"/>
          </a:p>
          <a:p>
            <a:pPr indent="0" marL="0">
              <a:buNone/>
            </a:pPr>
            <a:r>
              <a:rPr lang="en-US" sz="1200" dirty="0">
                <a:solidFill>
                  <a:srgbClr val="1D2B2A"/>
                </a:solidFill>
                <a:latin typeface="Calibri" pitchFamily="34" charset="0"/>
                <a:ea typeface="Calibri" pitchFamily="34" charset="-122"/>
                <a:cs typeface="Calibri" pitchFamily="34" charset="-120"/>
              </a:rPr>
              <a:t>Very large transfers wait for review, then release</a:t>
            </a:r>
            <a:endParaRPr lang="en-US" sz="1200" dirty="0"/>
          </a:p>
        </p:txBody>
      </p:sp>
      <p:sp>
        <p:nvSpPr>
          <p:cNvPr id="18" name="Shape 15"/>
          <p:cNvSpPr/>
          <p:nvPr/>
        </p:nvSpPr>
        <p:spPr>
          <a:xfrm>
            <a:off x="4023360" y="4160520"/>
            <a:ext cx="365760" cy="365760"/>
          </a:xfrm>
          <a:prstGeom prst="ellipse">
            <a:avLst/>
          </a:prstGeom>
          <a:solidFill>
            <a:srgbClr val="B8862F"/>
          </a:solidFill>
          <a:ln/>
        </p:spPr>
      </p:sp>
      <p:sp>
        <p:nvSpPr>
          <p:cNvPr id="19" name="Text 16"/>
          <p:cNvSpPr txBox="1"/>
          <p:nvPr/>
        </p:nvSpPr>
        <p:spPr>
          <a:xfrm>
            <a:off x="4023360" y="41605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0" name="Text 17"/>
          <p:cNvSpPr txBox="1"/>
          <p:nvPr/>
        </p:nvSpPr>
        <p:spPr>
          <a:xfrm>
            <a:off x="4572000" y="4114800"/>
            <a:ext cx="4114800" cy="658368"/>
          </a:xfrm>
          <a:prstGeom prst="rect">
            <a:avLst/>
          </a:prstGeom>
          <a:noFill/>
          <a:ln/>
        </p:spPr>
        <p:txBody>
          <a:bodyPr wrap="square" lIns="0" tIns="0" rIns="0" bIns="0" rtlCol="0" anchor="t"/>
          <a:lstStyle/>
          <a:p>
            <a:pPr indent="0" marL="0">
              <a:buNone/>
            </a:pPr>
            <a:r>
              <a:rPr lang="en-US" sz="1200" b="1" dirty="0">
                <a:solidFill>
                  <a:srgbClr val="0B4F4A"/>
                </a:solidFill>
                <a:latin typeface="Calibri" pitchFamily="34" charset="0"/>
                <a:ea typeface="Calibri" pitchFamily="34" charset="-122"/>
                <a:cs typeface="Calibri" pitchFamily="34" charset="-120"/>
              </a:rPr>
              <a:t>Refused?</a:t>
            </a:r>
            <a:endParaRPr lang="en-US" sz="1200" dirty="0"/>
          </a:p>
          <a:p>
            <a:pPr indent="0" marL="0">
              <a:buNone/>
            </a:pPr>
            <a:r>
              <a:rPr lang="en-US" sz="1200" dirty="0">
                <a:solidFill>
                  <a:srgbClr val="1D2B2A"/>
                </a:solidFill>
                <a:latin typeface="Calibri" pitchFamily="34" charset="0"/>
                <a:ea typeface="Calibri" pitchFamily="34" charset="-122"/>
                <a:cs typeface="Calibri" pitchFamily="34" charset="-120"/>
              </a:rPr>
              <a:t>Kept on record as FAILED, with the rule that stopped it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300" b="1" dirty="0">
                <a:solidFill>
                  <a:srgbClr val="0B4F4A"/>
                </a:solidFill>
                <a:latin typeface="Cambria" pitchFamily="34" charset="0"/>
                <a:ea typeface="Cambria" pitchFamily="34" charset="-122"/>
                <a:cs typeface="Cambria" pitchFamily="34" charset="-120"/>
              </a:rPr>
              <a:t>A lifecycle the code enforces: the card</a:t>
            </a:r>
            <a:endParaRPr lang="en-US" sz="23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UML state machine drawn from the class's own LIFECYCLE declaration</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dirty="0">
                <a:solidFill>
                  <a:srgbClr val="9AAAA7"/>
                </a:solidFill>
                <a:latin typeface="Calibri" pitchFamily="34" charset="0"/>
                <a:ea typeface="Calibri" pitchFamily="34" charset="-122"/>
                <a:cs typeface="Calibri" pitchFamily="34" charset="-120"/>
              </a:rPr>
              <a:t>  ›  Design</a:t>
            </a:r>
            <a:pPr algn="r" indent="0" marL="0">
              <a:buNone/>
            </a:pPr>
            <a:r>
              <a:rPr lang="en-US" sz="1000" b="1" dirty="0">
                <a:solidFill>
                  <a:srgbClr val="B8862F"/>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pic>
        <p:nvPicPr>
          <p:cNvPr id="5" name="Image 0" descr="/home/user/commercial-banking/docs/state_2_card.png">    </p:cNvPr>
          <p:cNvPicPr>
            <a:picLocks noChangeAspect="1"/>
          </p:cNvPicPr>
          <p:nvPr/>
        </p:nvPicPr>
        <p:blipFill>
          <a:blip r:embed="rId1"/>
          <a:stretch>
            <a:fillRect/>
          </a:stretch>
        </p:blipFill>
        <p:spPr>
          <a:xfrm>
            <a:off x="365760" y="1212011"/>
            <a:ext cx="5120640" cy="2970937"/>
          </a:xfrm>
          <a:prstGeom prst="rect">
            <a:avLst/>
          </a:prstGeom>
        </p:spPr>
      </p:pic>
      <p:sp>
        <p:nvSpPr>
          <p:cNvPr id="6" name="Shape 3"/>
          <p:cNvSpPr/>
          <p:nvPr/>
        </p:nvSpPr>
        <p:spPr>
          <a:xfrm>
            <a:off x="5715000" y="1188720"/>
            <a:ext cx="3063240" cy="3474720"/>
          </a:xfrm>
          <a:prstGeom prst="roundRect">
            <a:avLst>
              <a:gd name="adj" fmla="val 2388"/>
            </a:avLst>
          </a:prstGeom>
          <a:solidFill>
            <a:srgbClr val="E8F0EE"/>
          </a:solidFill>
          <a:ln w="12700">
            <a:solidFill>
              <a:srgbClr val="E8F0EE"/>
            </a:solidFill>
            <a:prstDash val="solid"/>
          </a:ln>
        </p:spPr>
      </p:sp>
      <p:sp>
        <p:nvSpPr>
          <p:cNvPr id="7" name="Text 4"/>
          <p:cNvSpPr txBox="1"/>
          <p:nvPr/>
        </p:nvSpPr>
        <p:spPr>
          <a:xfrm>
            <a:off x="5897880" y="1280160"/>
            <a:ext cx="2743200" cy="32004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Critical case from the brief</a:t>
            </a:r>
            <a:endParaRPr lang="en-US" sz="1400" dirty="0"/>
          </a:p>
        </p:txBody>
      </p:sp>
      <p:sp>
        <p:nvSpPr>
          <p:cNvPr id="8" name="Text 5"/>
          <p:cNvSpPr txBox="1"/>
          <p:nvPr/>
        </p:nvSpPr>
        <p:spPr>
          <a:xfrm>
            <a:off x="5852160" y="1691640"/>
            <a:ext cx="2834640" cy="2926080"/>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Card reported stolen → blocked</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Replaced, with a different daily limit</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Old card found → destroyed, never re-activated</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Every payment still names the physical card used</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Illegal moves (Destroyed → Active) raise an error</a:t>
            </a:r>
            <a:endParaRPr lang="en-US" sz="1200" dirty="0"/>
          </a:p>
        </p:txBody>
      </p:sp>
      <p:sp>
        <p:nvSpPr>
          <p:cNvPr id="9" name="Text 6"/>
          <p:cNvSpPr txBox="1"/>
          <p:nvPr/>
        </p:nvSpPr>
        <p:spPr>
          <a:xfrm>
            <a:off x="457200" y="4343400"/>
            <a:ext cx="5120640" cy="274320"/>
          </a:xfrm>
          <a:prstGeom prst="rect">
            <a:avLst/>
          </a:prstGeom>
          <a:noFill/>
          <a:ln/>
        </p:spPr>
        <p:txBody>
          <a:bodyPr wrap="square" lIns="0" tIns="0" rIns="0" bIns="0" rtlCol="0" anchor="ctr"/>
          <a:lstStyle/>
          <a:p>
            <a:pPr indent="0" marL="0">
              <a:buNone/>
            </a:pPr>
            <a:r>
              <a:rPr lang="en-US" sz="1050" i="1" dirty="0">
                <a:solidFill>
                  <a:srgbClr val="5B6B69"/>
                </a:solidFill>
                <a:latin typeface="Calibri" pitchFamily="34" charset="0"/>
                <a:ea typeface="Calibri" pitchFamily="34" charset="-122"/>
                <a:cs typeface="Calibri" pitchFamily="34" charset="-120"/>
              </a:rPr>
              <a:t>Tested: test_stolen_replaced_card_cannot_be_reactivated, test_card_search_covers_the_replacement_chain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600" b="1" dirty="0">
                <a:solidFill>
                  <a:srgbClr val="0B4F4A"/>
                </a:solidFill>
                <a:latin typeface="Cambria" pitchFamily="34" charset="0"/>
                <a:ea typeface="Cambria" pitchFamily="34" charset="-122"/>
                <a:cs typeface="Cambria" pitchFamily="34" charset="-120"/>
              </a:rPr>
              <a:t>Next steps to the final submission</a:t>
            </a:r>
            <a:endParaRPr lang="en-US" sz="26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What remains, in order</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dirty="0">
                <a:solidFill>
                  <a:srgbClr val="9AAAA7"/>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b="1" dirty="0">
                <a:solidFill>
                  <a:srgbClr val="B8862F"/>
                </a:solidFill>
                <a:latin typeface="Calibri" pitchFamily="34" charset="0"/>
                <a:ea typeface="Calibri" pitchFamily="34" charset="-122"/>
                <a:cs typeface="Calibri" pitchFamily="34" charset="-120"/>
              </a:rPr>
              <a:t>  ›  Next</a:t>
            </a:r>
            <a:endParaRPr lang="en-US" sz="1000" dirty="0"/>
          </a:p>
        </p:txBody>
      </p:sp>
      <p:sp>
        <p:nvSpPr>
          <p:cNvPr id="5" name="Shape 3"/>
          <p:cNvSpPr/>
          <p:nvPr/>
        </p:nvSpPr>
        <p:spPr>
          <a:xfrm>
            <a:off x="457200" y="1280160"/>
            <a:ext cx="8229600" cy="640080"/>
          </a:xfrm>
          <a:prstGeom prst="roundRect">
            <a:avLst>
              <a:gd name="adj" fmla="val 11429"/>
            </a:avLst>
          </a:prstGeom>
          <a:solidFill>
            <a:srgbClr val="E8F0EE"/>
          </a:solidFill>
          <a:ln w="12700">
            <a:solidFill>
              <a:srgbClr val="E8F0EE"/>
            </a:solidFill>
            <a:prstDash val="solid"/>
          </a:ln>
        </p:spPr>
      </p:sp>
      <p:sp>
        <p:nvSpPr>
          <p:cNvPr id="6" name="Shape 4"/>
          <p:cNvSpPr/>
          <p:nvPr/>
        </p:nvSpPr>
        <p:spPr>
          <a:xfrm>
            <a:off x="594360" y="1417320"/>
            <a:ext cx="822960" cy="365760"/>
          </a:xfrm>
          <a:prstGeom prst="roundRect">
            <a:avLst>
              <a:gd name="adj" fmla="val 20000"/>
            </a:avLst>
          </a:prstGeom>
          <a:solidFill>
            <a:srgbClr val="C98A12"/>
          </a:solidFill>
          <a:ln w="12700">
            <a:solidFill>
              <a:srgbClr val="FFFFFF"/>
            </a:solidFill>
            <a:prstDash val="solid"/>
          </a:ln>
        </p:spPr>
      </p:sp>
      <p:sp>
        <p:nvSpPr>
          <p:cNvPr id="7" name="Text 5"/>
          <p:cNvSpPr txBox="1"/>
          <p:nvPr/>
        </p:nvSpPr>
        <p:spPr>
          <a:xfrm>
            <a:off x="594360" y="1417320"/>
            <a:ext cx="8229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Now</a:t>
            </a:r>
            <a:endParaRPr lang="en-US" sz="1200" dirty="0"/>
          </a:p>
        </p:txBody>
      </p:sp>
      <p:sp>
        <p:nvSpPr>
          <p:cNvPr id="8" name="Text 6"/>
          <p:cNvSpPr txBox="1"/>
          <p:nvPr/>
        </p:nvSpPr>
        <p:spPr>
          <a:xfrm>
            <a:off x="1645920" y="1280160"/>
            <a:ext cx="6858000" cy="640080"/>
          </a:xfrm>
          <a:prstGeom prst="rect">
            <a:avLst/>
          </a:prstGeom>
          <a:noFill/>
          <a:ln/>
        </p:spPr>
        <p:txBody>
          <a:bodyPr wrap="square" lIns="0" tIns="0" rIns="0" bIns="0" rtlCol="0" anchor="ctr"/>
          <a:lstStyle/>
          <a:p>
            <a:pPr indent="0" marL="0">
              <a:buNone/>
            </a:pPr>
            <a:r>
              <a:rPr lang="en-US" sz="1400" dirty="0">
                <a:solidFill>
                  <a:srgbClr val="1D2B2A"/>
                </a:solidFill>
                <a:latin typeface="Calibri" pitchFamily="34" charset="0"/>
                <a:ea typeface="Calibri" pitchFamily="34" charset="-122"/>
                <a:cs typeface="Calibri" pitchFamily="34" charset="-120"/>
              </a:rPr>
              <a:t>Refine the model with feedback from this checkpoint</a:t>
            </a:r>
            <a:endParaRPr lang="en-US" sz="1400" dirty="0"/>
          </a:p>
        </p:txBody>
      </p:sp>
      <p:sp>
        <p:nvSpPr>
          <p:cNvPr id="9" name="Shape 7"/>
          <p:cNvSpPr/>
          <p:nvPr/>
        </p:nvSpPr>
        <p:spPr>
          <a:xfrm>
            <a:off x="457200" y="2057400"/>
            <a:ext cx="8229600" cy="640080"/>
          </a:xfrm>
          <a:prstGeom prst="roundRect">
            <a:avLst>
              <a:gd name="adj" fmla="val 11429"/>
            </a:avLst>
          </a:prstGeom>
          <a:solidFill>
            <a:srgbClr val="E8F0EE"/>
          </a:solidFill>
          <a:ln w="12700">
            <a:solidFill>
              <a:srgbClr val="E8F0EE"/>
            </a:solidFill>
            <a:prstDash val="solid"/>
          </a:ln>
        </p:spPr>
      </p:sp>
      <p:sp>
        <p:nvSpPr>
          <p:cNvPr id="10" name="Shape 8"/>
          <p:cNvSpPr/>
          <p:nvPr/>
        </p:nvSpPr>
        <p:spPr>
          <a:xfrm>
            <a:off x="594360" y="2194560"/>
            <a:ext cx="822960" cy="365760"/>
          </a:xfrm>
          <a:prstGeom prst="roundRect">
            <a:avLst>
              <a:gd name="adj" fmla="val 20000"/>
            </a:avLst>
          </a:prstGeom>
          <a:solidFill>
            <a:srgbClr val="1F6F68"/>
          </a:solidFill>
          <a:ln w="12700">
            <a:solidFill>
              <a:srgbClr val="FFFFFF"/>
            </a:solidFill>
            <a:prstDash val="solid"/>
          </a:ln>
        </p:spPr>
      </p:sp>
      <p:sp>
        <p:nvSpPr>
          <p:cNvPr id="11" name="Text 9"/>
          <p:cNvSpPr txBox="1"/>
          <p:nvPr/>
        </p:nvSpPr>
        <p:spPr>
          <a:xfrm>
            <a:off x="594360" y="2194560"/>
            <a:ext cx="8229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Next</a:t>
            </a:r>
            <a:endParaRPr lang="en-US" sz="1200" dirty="0"/>
          </a:p>
        </p:txBody>
      </p:sp>
      <p:sp>
        <p:nvSpPr>
          <p:cNvPr id="12" name="Text 10"/>
          <p:cNvSpPr txBox="1"/>
          <p:nvPr/>
        </p:nvSpPr>
        <p:spPr>
          <a:xfrm>
            <a:off x="1645920" y="2057400"/>
            <a:ext cx="6858000" cy="640080"/>
          </a:xfrm>
          <a:prstGeom prst="rect">
            <a:avLst/>
          </a:prstGeom>
          <a:noFill/>
          <a:ln/>
        </p:spPr>
        <p:txBody>
          <a:bodyPr wrap="square" lIns="0" tIns="0" rIns="0" bIns="0" rtlCol="0" anchor="ctr"/>
          <a:lstStyle/>
          <a:p>
            <a:pPr indent="0" marL="0">
              <a:buNone/>
            </a:pPr>
            <a:r>
              <a:rPr lang="en-US" sz="1400" dirty="0">
                <a:solidFill>
                  <a:srgbClr val="1D2B2A"/>
                </a:solidFill>
                <a:latin typeface="Calibri" pitchFamily="34" charset="0"/>
                <a:ea typeface="Calibri" pitchFamily="34" charset="-122"/>
                <a:cs typeface="Calibri" pitchFamily="34" charset="-120"/>
              </a:rPr>
              <a:t>Save and load the bank's records with files / JSON (course weeks 6 and 11)</a:t>
            </a:r>
            <a:endParaRPr lang="en-US" sz="1400" dirty="0"/>
          </a:p>
        </p:txBody>
      </p:sp>
      <p:sp>
        <p:nvSpPr>
          <p:cNvPr id="13" name="Shape 11"/>
          <p:cNvSpPr/>
          <p:nvPr/>
        </p:nvSpPr>
        <p:spPr>
          <a:xfrm>
            <a:off x="457200" y="2834640"/>
            <a:ext cx="8229600" cy="640080"/>
          </a:xfrm>
          <a:prstGeom prst="roundRect">
            <a:avLst>
              <a:gd name="adj" fmla="val 11429"/>
            </a:avLst>
          </a:prstGeom>
          <a:solidFill>
            <a:srgbClr val="E8F0EE"/>
          </a:solidFill>
          <a:ln w="12700">
            <a:solidFill>
              <a:srgbClr val="E8F0EE"/>
            </a:solidFill>
            <a:prstDash val="solid"/>
          </a:ln>
        </p:spPr>
      </p:sp>
      <p:sp>
        <p:nvSpPr>
          <p:cNvPr id="14" name="Shape 12"/>
          <p:cNvSpPr/>
          <p:nvPr/>
        </p:nvSpPr>
        <p:spPr>
          <a:xfrm>
            <a:off x="594360" y="2971800"/>
            <a:ext cx="822960" cy="365760"/>
          </a:xfrm>
          <a:prstGeom prst="roundRect">
            <a:avLst>
              <a:gd name="adj" fmla="val 20000"/>
            </a:avLst>
          </a:prstGeom>
          <a:solidFill>
            <a:srgbClr val="1F6F68"/>
          </a:solidFill>
          <a:ln w="12700">
            <a:solidFill>
              <a:srgbClr val="FFFFFF"/>
            </a:solidFill>
            <a:prstDash val="solid"/>
          </a:ln>
        </p:spPr>
      </p:sp>
      <p:sp>
        <p:nvSpPr>
          <p:cNvPr id="15" name="Text 13"/>
          <p:cNvSpPr txBox="1"/>
          <p:nvPr/>
        </p:nvSpPr>
        <p:spPr>
          <a:xfrm>
            <a:off x="594360" y="2971800"/>
            <a:ext cx="8229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Next</a:t>
            </a:r>
            <a:endParaRPr lang="en-US" sz="1200" dirty="0"/>
          </a:p>
        </p:txBody>
      </p:sp>
      <p:sp>
        <p:nvSpPr>
          <p:cNvPr id="16" name="Text 14"/>
          <p:cNvSpPr txBox="1"/>
          <p:nvPr/>
        </p:nvSpPr>
        <p:spPr>
          <a:xfrm>
            <a:off x="1645920" y="2834640"/>
            <a:ext cx="6858000" cy="640080"/>
          </a:xfrm>
          <a:prstGeom prst="rect">
            <a:avLst/>
          </a:prstGeom>
          <a:noFill/>
          <a:ln/>
        </p:spPr>
        <p:txBody>
          <a:bodyPr wrap="square" lIns="0" tIns="0" rIns="0" bIns="0" rtlCol="0" anchor="ctr"/>
          <a:lstStyle/>
          <a:p>
            <a:pPr indent="0" marL="0">
              <a:buNone/>
            </a:pPr>
            <a:r>
              <a:rPr lang="en-US" sz="1400" dirty="0">
                <a:solidFill>
                  <a:srgbClr val="1D2B2A"/>
                </a:solidFill>
                <a:latin typeface="Calibri" pitchFamily="34" charset="0"/>
                <a:ea typeface="Calibri" pitchFamily="34" charset="-122"/>
                <a:cs typeface="Calibri" pitchFamily="34" charset="-120"/>
              </a:rPr>
              <a:t>Review the design against SOLID and the design patterns taught (weeks 10-11)</a:t>
            </a:r>
            <a:endParaRPr lang="en-US" sz="1400" dirty="0"/>
          </a:p>
        </p:txBody>
      </p:sp>
      <p:sp>
        <p:nvSpPr>
          <p:cNvPr id="17" name="Shape 15"/>
          <p:cNvSpPr/>
          <p:nvPr/>
        </p:nvSpPr>
        <p:spPr>
          <a:xfrm>
            <a:off x="457200" y="3611880"/>
            <a:ext cx="8229600" cy="640080"/>
          </a:xfrm>
          <a:prstGeom prst="roundRect">
            <a:avLst>
              <a:gd name="adj" fmla="val 11429"/>
            </a:avLst>
          </a:prstGeom>
          <a:solidFill>
            <a:srgbClr val="E8F0EE"/>
          </a:solidFill>
          <a:ln w="12700">
            <a:solidFill>
              <a:srgbClr val="E8F0EE"/>
            </a:solidFill>
            <a:prstDash val="solid"/>
          </a:ln>
        </p:spPr>
      </p:sp>
      <p:sp>
        <p:nvSpPr>
          <p:cNvPr id="18" name="Shape 16"/>
          <p:cNvSpPr/>
          <p:nvPr/>
        </p:nvSpPr>
        <p:spPr>
          <a:xfrm>
            <a:off x="594360" y="3749040"/>
            <a:ext cx="822960" cy="365760"/>
          </a:xfrm>
          <a:prstGeom prst="roundRect">
            <a:avLst>
              <a:gd name="adj" fmla="val 20000"/>
            </a:avLst>
          </a:prstGeom>
          <a:solidFill>
            <a:srgbClr val="0B4F4A"/>
          </a:solidFill>
          <a:ln w="12700">
            <a:solidFill>
              <a:srgbClr val="FFFFFF"/>
            </a:solidFill>
            <a:prstDash val="solid"/>
          </a:ln>
        </p:spPr>
      </p:sp>
      <p:sp>
        <p:nvSpPr>
          <p:cNvPr id="19" name="Text 17"/>
          <p:cNvSpPr txBox="1"/>
          <p:nvPr/>
        </p:nvSpPr>
        <p:spPr>
          <a:xfrm>
            <a:off x="594360" y="3749040"/>
            <a:ext cx="8229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Final</a:t>
            </a:r>
            <a:endParaRPr lang="en-US" sz="1200" dirty="0"/>
          </a:p>
        </p:txBody>
      </p:sp>
      <p:sp>
        <p:nvSpPr>
          <p:cNvPr id="20" name="Text 18"/>
          <p:cNvSpPr txBox="1"/>
          <p:nvPr/>
        </p:nvSpPr>
        <p:spPr>
          <a:xfrm>
            <a:off x="1645920" y="3611880"/>
            <a:ext cx="6858000" cy="640080"/>
          </a:xfrm>
          <a:prstGeom prst="rect">
            <a:avLst/>
          </a:prstGeom>
          <a:noFill/>
          <a:ln/>
        </p:spPr>
        <p:txBody>
          <a:bodyPr wrap="square" lIns="0" tIns="0" rIns="0" bIns="0" rtlCol="0" anchor="ctr"/>
          <a:lstStyle/>
          <a:p>
            <a:pPr indent="0" marL="0">
              <a:buNone/>
            </a:pPr>
            <a:r>
              <a:rPr lang="en-US" sz="1400" dirty="0">
                <a:solidFill>
                  <a:srgbClr val="1D2B2A"/>
                </a:solidFill>
                <a:latin typeface="Calibri" pitchFamily="34" charset="0"/>
                <a:ea typeface="Calibri" pitchFamily="34" charset="-122"/>
                <a:cs typeface="Calibri" pitchFamily="34" charset="-120"/>
              </a:rPr>
              <a:t>Complete the design report and diagrams; prepare the viva</a:t>
            </a:r>
            <a:endParaRPr lang="en-US" sz="1400" dirty="0"/>
          </a:p>
        </p:txBody>
      </p:sp>
      <p:sp>
        <p:nvSpPr>
          <p:cNvPr id="21" name="Text 19"/>
          <p:cNvSpPr txBox="1"/>
          <p:nvPr/>
        </p:nvSpPr>
        <p:spPr>
          <a:xfrm>
            <a:off x="457200" y="4480560"/>
            <a:ext cx="8229600" cy="365760"/>
          </a:xfrm>
          <a:prstGeom prst="rect">
            <a:avLst/>
          </a:prstGeom>
          <a:noFill/>
          <a:ln/>
        </p:spPr>
        <p:txBody>
          <a:bodyPr wrap="square" lIns="0" tIns="0" rIns="0" bIns="0" rtlCol="0" anchor="ctr"/>
          <a:lstStyle/>
          <a:p>
            <a:pPr indent="0" marL="0">
              <a:buNone/>
            </a:pPr>
            <a:r>
              <a:rPr lang="en-US" sz="1600" b="1" dirty="0">
                <a:solidFill>
                  <a:srgbClr val="B8862F"/>
                </a:solidFill>
                <a:latin typeface="Cambria" pitchFamily="34" charset="0"/>
                <a:ea typeface="Cambria" pitchFamily="34" charset="-122"/>
                <a:cs typeface="Cambria" pitchFamily="34" charset="-120"/>
              </a:rPr>
              <a:t>Thank you — questions welcome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Problem 4 - Progress presentation 1</dc:title>
  <dc:subject>PptxGenJS Presentation</dc:subject>
  <dc:creator>Khizar Rizwan</dc:creator>
  <cp:lastModifiedBy>Khizar Rizwan</cp:lastModifiedBy>
  <cp:revision>1</cp:revision>
  <dcterms:created xsi:type="dcterms:W3CDTF">2026-09-25T19:13:08Z</dcterms:created>
  <dcterms:modified xsi:type="dcterms:W3CDTF">2026-09-25T19:13:08Z</dcterms:modified>
</cp:coreProperties>
</file>