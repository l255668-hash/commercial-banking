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follows the brief's required submission: research first, then the model, the decisions, the demonstration and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each source and the one thing it taught. The four standards behind the code (IBAN, card numbers, PCI DSS, and the references for the building blocks) come later, on the no-libraries slide. Only claim sources you have actually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first ideas changed (report section 1, last table). These five are the clearest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51 classes with behaviour of their own and the 80 state-changing commands, the model is above the minimum.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hierarchies: parties, arrangements, transactions, cases. Standalone classes such as Mandate, ProductDefinition, IssuedCard and Employee connect them by association, because they are related but are not kinds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true there and not above it. Ayesha is one Person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chargeback has everything a reversal has plus a dispute, a merchant and a reason code; a refund leaves the purchase posted, so it is not a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defence of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marked by the brief; they show the same OOP thinking. The repository is a template method: the format lives once in the parent. The assistant can only read and pre-fill; a person presses Run, so every rule still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piece a library would normally give me is a small class I can explain: an exact fraction for money, the Gregorian calendar for dates, my own abstract-class check, a JSON reader with one method per grammar rule, and an xUnit-style test runner. Money is a subclass of Exact: it inherits the arithmetic and only adds paisa rounding. The research added two checks banks run before money moves: IBAN check digits (mod 97) and the Luhn digit on card numbers, and the bank keeps only six plus four card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demo path in docs/Final_Presentation_Script.md. 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Final presentation  •  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What I will show, in order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About 19 minutes of slides, 7½ minutes of live demonstration, then questions</a:t>
            </a:r>
            <a:endParaRPr lang="en-US" sz="1200" dirty="0"/>
          </a:p>
        </p:txBody>
      </p:sp>
      <p:sp>
        <p:nvSpPr>
          <p:cNvPr id="4" name="Shape 2"/>
          <p:cNvSpPr/>
          <p:nvPr/>
        </p:nvSpPr>
        <p:spPr>
          <a:xfrm>
            <a:off x="548640" y="1234440"/>
            <a:ext cx="384048" cy="384048"/>
          </a:xfrm>
          <a:prstGeom prst="ellipse">
            <a:avLst/>
          </a:prstGeom>
          <a:solidFill>
            <a:srgbClr val="B8862F"/>
          </a:solidFill>
          <a:ln/>
        </p:spPr>
      </p:sp>
      <p:sp>
        <p:nvSpPr>
          <p:cNvPr id="5" name="Text 3"/>
          <p:cNvSpPr txBox="1"/>
          <p:nvPr/>
        </p:nvSpPr>
        <p:spPr>
          <a:xfrm>
            <a:off x="54864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097280" y="12344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Research   </a:t>
            </a:r>
            <a:pPr indent="0" marL="0">
              <a:buNone/>
            </a:pPr>
            <a:r>
              <a:rPr lang="en-US" sz="1400" dirty="0">
                <a:solidFill>
                  <a:srgbClr val="1D2B2A"/>
                </a:solidFill>
                <a:latin typeface="Calibri" pitchFamily="34" charset="0"/>
                <a:ea typeface="Calibri" pitchFamily="34" charset="-122"/>
                <a:cs typeface="Calibri" pitchFamily="34" charset="-120"/>
              </a:rPr>
              <a:t>What I studied and how it changed the design</a:t>
            </a:r>
            <a:endParaRPr lang="en-US" sz="1400" dirty="0"/>
          </a:p>
        </p:txBody>
      </p:sp>
      <p:sp>
        <p:nvSpPr>
          <p:cNvPr id="7" name="Shape 5"/>
          <p:cNvSpPr/>
          <p:nvPr/>
        </p:nvSpPr>
        <p:spPr>
          <a:xfrm>
            <a:off x="548640" y="1737360"/>
            <a:ext cx="384048" cy="384048"/>
          </a:xfrm>
          <a:prstGeom prst="ellipse">
            <a:avLst/>
          </a:prstGeom>
          <a:solidFill>
            <a:srgbClr val="B8862F"/>
          </a:solidFill>
          <a:ln/>
        </p:spPr>
      </p:sp>
      <p:sp>
        <p:nvSpPr>
          <p:cNvPr id="8" name="Text 6"/>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097280" y="17373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Scale and core rule   </a:t>
            </a:r>
            <a:pPr indent="0" marL="0">
              <a:buNone/>
            </a:pPr>
            <a:r>
              <a:rPr lang="en-US" sz="1400" dirty="0">
                <a:solidFill>
                  <a:srgbClr val="1D2B2A"/>
                </a:solidFill>
                <a:latin typeface="Calibri" pitchFamily="34" charset="0"/>
                <a:ea typeface="Calibri" pitchFamily="34" charset="-122"/>
                <a:cs typeface="Calibri" pitchFamily="34" charset="-120"/>
              </a:rPr>
              <a:t>What the brief asks for, and "nothing is deleted"</a:t>
            </a:r>
            <a:endParaRPr lang="en-US" sz="1400" dirty="0"/>
          </a:p>
        </p:txBody>
      </p:sp>
      <p:sp>
        <p:nvSpPr>
          <p:cNvPr id="10" name="Shape 8"/>
          <p:cNvSpPr/>
          <p:nvPr/>
        </p:nvSpPr>
        <p:spPr>
          <a:xfrm>
            <a:off x="548640" y="2240280"/>
            <a:ext cx="384048" cy="384048"/>
          </a:xfrm>
          <a:prstGeom prst="ellipse">
            <a:avLst/>
          </a:prstGeom>
          <a:solidFill>
            <a:srgbClr val="B8862F"/>
          </a:solidFill>
          <a:ln/>
        </p:spPr>
      </p:sp>
      <p:sp>
        <p:nvSpPr>
          <p:cNvPr id="11" name="Text 9"/>
          <p:cNvSpPr txBox="1"/>
          <p:nvPr/>
        </p:nvSpPr>
        <p:spPr>
          <a:xfrm>
            <a:off x="54864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097280" y="224028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Class model   </a:t>
            </a:r>
            <a:pPr indent="0" marL="0">
              <a:buNone/>
            </a:pPr>
            <a:r>
              <a:rPr lang="en-US" sz="1400" dirty="0">
                <a:solidFill>
                  <a:srgbClr val="1D2B2A"/>
                </a:solidFill>
                <a:latin typeface="Calibri" pitchFamily="34" charset="0"/>
                <a:ea typeface="Calibri" pitchFamily="34" charset="-122"/>
                <a:cs typeface="Calibri" pitchFamily="34" charset="-120"/>
              </a:rPr>
              <a:t>The four hierarchies, level by level</a:t>
            </a:r>
            <a:endParaRPr lang="en-US" sz="1400" dirty="0"/>
          </a:p>
        </p:txBody>
      </p:sp>
      <p:sp>
        <p:nvSpPr>
          <p:cNvPr id="13" name="Shape 11"/>
          <p:cNvSpPr/>
          <p:nvPr/>
        </p:nvSpPr>
        <p:spPr>
          <a:xfrm>
            <a:off x="548640" y="2743200"/>
            <a:ext cx="384048" cy="384048"/>
          </a:xfrm>
          <a:prstGeom prst="ellipse">
            <a:avLst/>
          </a:prstGeom>
          <a:solidFill>
            <a:srgbClr val="B8862F"/>
          </a:solidFill>
          <a:ln/>
        </p:spPr>
      </p:sp>
      <p:sp>
        <p:nvSpPr>
          <p:cNvPr id="14" name="Text 12"/>
          <p:cNvSpPr txBox="1"/>
          <p:nvPr/>
        </p:nvSpPr>
        <p:spPr>
          <a:xfrm>
            <a:off x="54864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097280" y="274320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Design decisions   </a:t>
            </a:r>
            <a:pPr indent="0" marL="0">
              <a:buNone/>
            </a:pPr>
            <a:r>
              <a:rPr lang="en-US" sz="1400" dirty="0">
                <a:solidFill>
                  <a:srgbClr val="1D2B2A"/>
                </a:solidFill>
                <a:latin typeface="Calibri" pitchFamily="34" charset="0"/>
                <a:ea typeface="Calibri" pitchFamily="34" charset="-122"/>
                <a:cs typeface="Calibri" pitchFamily="34" charset="-120"/>
              </a:rPr>
              <a:t>Rejected inheritances; why not an account-centric model</a:t>
            </a:r>
            <a:endParaRPr lang="en-US" sz="1400" dirty="0"/>
          </a:p>
        </p:txBody>
      </p:sp>
      <p:sp>
        <p:nvSpPr>
          <p:cNvPr id="16" name="Shape 14"/>
          <p:cNvSpPr/>
          <p:nvPr/>
        </p:nvSpPr>
        <p:spPr>
          <a:xfrm>
            <a:off x="548640" y="3246120"/>
            <a:ext cx="384048" cy="384048"/>
          </a:xfrm>
          <a:prstGeom prst="ellipse">
            <a:avLst/>
          </a:prstGeom>
          <a:solidFill>
            <a:srgbClr val="B8862F"/>
          </a:solidFill>
          <a:ln/>
        </p:spPr>
      </p:sp>
      <p:sp>
        <p:nvSpPr>
          <p:cNvPr id="17" name="Text 15"/>
          <p:cNvSpPr txBox="1"/>
          <p:nvPr/>
        </p:nvSpPr>
        <p:spPr>
          <a:xfrm>
            <a:off x="548640" y="3246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1097280" y="324612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Behaviour   </a:t>
            </a:r>
            <a:pPr indent="0" marL="0">
              <a:buNone/>
            </a:pPr>
            <a:r>
              <a:rPr lang="en-US" sz="1400" dirty="0">
                <a:solidFill>
                  <a:srgbClr val="1D2B2A"/>
                </a:solidFill>
                <a:latin typeface="Calibri" pitchFamily="34" charset="0"/>
                <a:ea typeface="Calibri" pitchFamily="34" charset="-122"/>
                <a:cs typeface="Calibri" pitchFamily="34" charset="-120"/>
              </a:rPr>
              <a:t>16 scenarios, flowcharts and lifecycles</a:t>
            </a:r>
            <a:endParaRPr lang="en-US" sz="1400" dirty="0"/>
          </a:p>
        </p:txBody>
      </p:sp>
      <p:sp>
        <p:nvSpPr>
          <p:cNvPr id="19" name="Shape 17"/>
          <p:cNvSpPr/>
          <p:nvPr/>
        </p:nvSpPr>
        <p:spPr>
          <a:xfrm>
            <a:off x="548640" y="3749040"/>
            <a:ext cx="384048" cy="384048"/>
          </a:xfrm>
          <a:prstGeom prst="ellipse">
            <a:avLst/>
          </a:prstGeom>
          <a:solidFill>
            <a:srgbClr val="B8862F"/>
          </a:solidFill>
          <a:ln/>
        </p:spPr>
      </p:sp>
      <p:sp>
        <p:nvSpPr>
          <p:cNvPr id="20" name="Text 18"/>
          <p:cNvSpPr txBox="1"/>
          <p:nvPr/>
        </p:nvSpPr>
        <p:spPr>
          <a:xfrm>
            <a:off x="54864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1097280" y="37490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Live demonstration   </a:t>
            </a:r>
            <a:pPr indent="0" marL="0">
              <a:buNone/>
            </a:pPr>
            <a:r>
              <a:rPr lang="en-US" sz="1400" dirty="0">
                <a:solidFill>
                  <a:srgbClr val="1D2B2A"/>
                </a:solidFill>
                <a:latin typeface="Calibri" pitchFamily="34" charset="0"/>
                <a:ea typeface="Calibri" pitchFamily="34" charset="-122"/>
                <a:cs typeface="Calibri" pitchFamily="34" charset="-120"/>
              </a:rPr>
              <a:t>Staff console, digital banking, assistant</a:t>
            </a:r>
            <a:endParaRPr lang="en-US" sz="1400" dirty="0"/>
          </a:p>
        </p:txBody>
      </p:sp>
      <p:sp>
        <p:nvSpPr>
          <p:cNvPr id="22" name="Shape 20"/>
          <p:cNvSpPr/>
          <p:nvPr/>
        </p:nvSpPr>
        <p:spPr>
          <a:xfrm>
            <a:off x="548640" y="4251960"/>
            <a:ext cx="384048" cy="384048"/>
          </a:xfrm>
          <a:prstGeom prst="ellipse">
            <a:avLst/>
          </a:prstGeom>
          <a:solidFill>
            <a:srgbClr val="B8862F"/>
          </a:solidFill>
          <a:ln/>
        </p:spPr>
      </p:sp>
      <p:sp>
        <p:nvSpPr>
          <p:cNvPr id="23" name="Text 21"/>
          <p:cNvSpPr txBox="1"/>
          <p:nvPr/>
        </p:nvSpPr>
        <p:spPr>
          <a:xfrm>
            <a:off x="54864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1097280" y="42519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Limits   </a:t>
            </a:r>
            <a:pPr indent="0" marL="0">
              <a:buNone/>
            </a:pPr>
            <a:r>
              <a:rPr lang="en-US" sz="1400" dirty="0">
                <a:solidFill>
                  <a:srgbClr val="1D2B2A"/>
                </a:solidFill>
                <a:latin typeface="Calibri" pitchFamily="34" charset="0"/>
                <a:ea typeface="Calibri" pitchFamily="34" charset="-122"/>
                <a:cs typeface="Calibri" pitchFamily="34" charset="-120"/>
              </a:rPr>
              <a:t>What would change at a larger bank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Domain research: eight banking sources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Chosen to cover every research area the brief lists</a:t>
            </a:r>
            <a:endParaRPr lang="en-US" sz="1200" dirty="0"/>
          </a:p>
        </p:txBody>
      </p:sp>
      <p:sp>
        <p:nvSpPr>
          <p:cNvPr id="4" name="Shape 2"/>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5" name="Shape 3"/>
          <p:cNvSpPr/>
          <p:nvPr/>
        </p:nvSpPr>
        <p:spPr>
          <a:xfrm>
            <a:off x="594360" y="1417320"/>
            <a:ext cx="384048" cy="384048"/>
          </a:xfrm>
          <a:prstGeom prst="ellipse">
            <a:avLst/>
          </a:prstGeom>
          <a:solidFill>
            <a:srgbClr val="B8862F"/>
          </a:solidFill>
          <a:ln/>
        </p:spPr>
      </p:sp>
      <p:sp>
        <p:nvSpPr>
          <p:cNvPr id="6" name="Text 4"/>
          <p:cNvSpPr txBox="1"/>
          <p:nvPr/>
        </p:nvSpPr>
        <p:spPr>
          <a:xfrm>
            <a:off x="594360"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594360"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Shape 8"/>
          <p:cNvSpPr/>
          <p:nvPr/>
        </p:nvSpPr>
        <p:spPr>
          <a:xfrm>
            <a:off x="2679192" y="1417320"/>
            <a:ext cx="384048" cy="384048"/>
          </a:xfrm>
          <a:prstGeom prst="ellipse">
            <a:avLst/>
          </a:prstGeom>
          <a:solidFill>
            <a:srgbClr val="B8862F"/>
          </a:solidFill>
          <a:ln/>
        </p:spPr>
      </p:sp>
      <p:sp>
        <p:nvSpPr>
          <p:cNvPr id="11" name="Text 9"/>
          <p:cNvSpPr txBox="1"/>
          <p:nvPr/>
        </p:nvSpPr>
        <p:spPr>
          <a:xfrm>
            <a:off x="2679192"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2679192"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3" name="Text 11"/>
          <p:cNvSpPr txBox="1"/>
          <p:nvPr/>
        </p:nvSpPr>
        <p:spPr>
          <a:xfrm>
            <a:off x="2679192"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4" name="Shape 12"/>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5" name="Shape 13"/>
          <p:cNvSpPr/>
          <p:nvPr/>
        </p:nvSpPr>
        <p:spPr>
          <a:xfrm>
            <a:off x="4764024" y="1417320"/>
            <a:ext cx="384048" cy="384048"/>
          </a:xfrm>
          <a:prstGeom prst="ellipse">
            <a:avLst/>
          </a:prstGeom>
          <a:solidFill>
            <a:srgbClr val="B8862F"/>
          </a:solidFill>
          <a:ln/>
        </p:spPr>
      </p:sp>
      <p:sp>
        <p:nvSpPr>
          <p:cNvPr id="16" name="Text 14"/>
          <p:cNvSpPr txBox="1"/>
          <p:nvPr/>
        </p:nvSpPr>
        <p:spPr>
          <a:xfrm>
            <a:off x="4764024"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4764024"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8" name="Text 16"/>
          <p:cNvSpPr txBox="1"/>
          <p:nvPr/>
        </p:nvSpPr>
        <p:spPr>
          <a:xfrm>
            <a:off x="4764024"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a:t>
            </a:r>
            <a:endParaRPr lang="en-US" sz="1100" dirty="0"/>
          </a:p>
        </p:txBody>
      </p:sp>
      <p:sp>
        <p:nvSpPr>
          <p:cNvPr id="19" name="Shape 17"/>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20" name="Shape 18"/>
          <p:cNvSpPr/>
          <p:nvPr/>
        </p:nvSpPr>
        <p:spPr>
          <a:xfrm>
            <a:off x="6848856" y="1417320"/>
            <a:ext cx="384048" cy="384048"/>
          </a:xfrm>
          <a:prstGeom prst="ellipse">
            <a:avLst/>
          </a:prstGeom>
          <a:solidFill>
            <a:srgbClr val="B8862F"/>
          </a:solidFill>
          <a:ln/>
        </p:spPr>
      </p:sp>
      <p:sp>
        <p:nvSpPr>
          <p:cNvPr id="21" name="Text 19"/>
          <p:cNvSpPr txBox="1"/>
          <p:nvPr/>
        </p:nvSpPr>
        <p:spPr>
          <a:xfrm>
            <a:off x="6848856"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6848856"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3" name="Text 21"/>
          <p:cNvSpPr txBox="1"/>
          <p:nvPr/>
        </p:nvSpPr>
        <p:spPr>
          <a:xfrm>
            <a:off x="6848856"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4" name="Shape 22"/>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5" name="Shape 23"/>
          <p:cNvSpPr/>
          <p:nvPr/>
        </p:nvSpPr>
        <p:spPr>
          <a:xfrm>
            <a:off x="594360" y="3108960"/>
            <a:ext cx="384048" cy="384048"/>
          </a:xfrm>
          <a:prstGeom prst="ellipse">
            <a:avLst/>
          </a:prstGeom>
          <a:solidFill>
            <a:srgbClr val="B8862F"/>
          </a:solidFill>
          <a:ln/>
        </p:spPr>
      </p:sp>
      <p:sp>
        <p:nvSpPr>
          <p:cNvPr id="26" name="Text 24"/>
          <p:cNvSpPr txBox="1"/>
          <p:nvPr/>
        </p:nvSpPr>
        <p:spPr>
          <a:xfrm>
            <a:off x="59436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txBox="1"/>
          <p:nvPr/>
        </p:nvSpPr>
        <p:spPr>
          <a:xfrm>
            <a:off x="594360"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8" name="Text 26"/>
          <p:cNvSpPr txBox="1"/>
          <p:nvPr/>
        </p:nvSpPr>
        <p:spPr>
          <a:xfrm>
            <a:off x="594360"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9" name="Shape 27"/>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30" name="Shape 28"/>
          <p:cNvSpPr/>
          <p:nvPr/>
        </p:nvSpPr>
        <p:spPr>
          <a:xfrm>
            <a:off x="2679192" y="3108960"/>
            <a:ext cx="384048" cy="384048"/>
          </a:xfrm>
          <a:prstGeom prst="ellipse">
            <a:avLst/>
          </a:prstGeom>
          <a:solidFill>
            <a:srgbClr val="B8862F"/>
          </a:solidFill>
          <a:ln/>
        </p:spPr>
      </p:sp>
      <p:sp>
        <p:nvSpPr>
          <p:cNvPr id="31" name="Text 29"/>
          <p:cNvSpPr txBox="1"/>
          <p:nvPr/>
        </p:nvSpPr>
        <p:spPr>
          <a:xfrm>
            <a:off x="2679192"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2" name="Text 30"/>
          <p:cNvSpPr txBox="1"/>
          <p:nvPr/>
        </p:nvSpPr>
        <p:spPr>
          <a:xfrm>
            <a:off x="2679192"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33" name="Text 31"/>
          <p:cNvSpPr txBox="1"/>
          <p:nvPr/>
        </p:nvSpPr>
        <p:spPr>
          <a:xfrm>
            <a:off x="2679192"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34" name="Shape 32"/>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5" name="Shape 33"/>
          <p:cNvSpPr/>
          <p:nvPr/>
        </p:nvSpPr>
        <p:spPr>
          <a:xfrm>
            <a:off x="4764024" y="3108960"/>
            <a:ext cx="384048" cy="384048"/>
          </a:xfrm>
          <a:prstGeom prst="ellipse">
            <a:avLst/>
          </a:prstGeom>
          <a:solidFill>
            <a:srgbClr val="B8862F"/>
          </a:solidFill>
          <a:ln/>
        </p:spPr>
      </p:sp>
      <p:sp>
        <p:nvSpPr>
          <p:cNvPr id="36" name="Text 34"/>
          <p:cNvSpPr txBox="1"/>
          <p:nvPr/>
        </p:nvSpPr>
        <p:spPr>
          <a:xfrm>
            <a:off x="4764024"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7" name="Text 35"/>
          <p:cNvSpPr txBox="1"/>
          <p:nvPr/>
        </p:nvSpPr>
        <p:spPr>
          <a:xfrm>
            <a:off x="4764024"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8" name="Text 36"/>
          <p:cNvSpPr txBox="1"/>
          <p:nvPr/>
        </p:nvSpPr>
        <p:spPr>
          <a:xfrm>
            <a:off x="4764024"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9" name="Shape 37"/>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40" name="Shape 38"/>
          <p:cNvSpPr/>
          <p:nvPr/>
        </p:nvSpPr>
        <p:spPr>
          <a:xfrm>
            <a:off x="6848856" y="3108960"/>
            <a:ext cx="384048" cy="384048"/>
          </a:xfrm>
          <a:prstGeom prst="ellipse">
            <a:avLst/>
          </a:prstGeom>
          <a:solidFill>
            <a:srgbClr val="B8862F"/>
          </a:solidFill>
          <a:ln/>
        </p:spPr>
      </p:sp>
      <p:sp>
        <p:nvSpPr>
          <p:cNvPr id="41" name="Text 39"/>
          <p:cNvSpPr txBox="1"/>
          <p:nvPr/>
        </p:nvSpPr>
        <p:spPr>
          <a:xfrm>
            <a:off x="6848856"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42" name="Text 40"/>
          <p:cNvSpPr txBox="1"/>
          <p:nvPr/>
        </p:nvSpPr>
        <p:spPr>
          <a:xfrm>
            <a:off x="6848856"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43" name="Text 41"/>
          <p:cNvSpPr txBox="1"/>
          <p:nvPr/>
        </p:nvSpPr>
        <p:spPr>
          <a:xfrm>
            <a:off x="6848856"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time-dated records</a:t>
            </a:r>
            <a:endParaRPr lang="en-US" sz="1100" dirty="0"/>
          </a:p>
        </p:txBody>
      </p:sp>
      <p:sp>
        <p:nvSpPr>
          <p:cNvPr id="44" name="Text 42"/>
          <p:cNvSpPr txBox="1"/>
          <p:nvPr/>
        </p:nvSpPr>
        <p:spPr>
          <a:xfrm>
            <a:off x="457200" y="4553712"/>
            <a:ext cx="8229600" cy="45720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Plus four behind the code: the IBAN standard, card numbering (ISO/IEC 7812), PCI DSS, and Money / JSON / xUnit. All twelve and a 31-term glossary: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How the research changed my design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First idea, what the research showed, design adopted</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743200"/>
                <a:gridCol w="2743200"/>
                <a:gridCol w="2743200"/>
              </a:tblGrid>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First idea</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research showed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Design adopted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Customer, Director, Signatory as subclasses of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KYC rules: these are roles of one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One Person; dated role objects (Mandate, OfficerRole)</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payment either happened or not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ISO 20022: payments move through statuses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Declared lifecycles; refused payments kept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disputed payment gets a 'refunded' flag</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Card schemes: reversal, refund, chargeback differ</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Reversal, Chargeback(Reversal), MerchantRefund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Restructuring edits the instalments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IFRS 9: a modification keeps the original</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New schedule version; paid stay PAID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payee's account number is free text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IBAN standard: check digits catch typing mistakes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Iban class; a mistyped IBAN is refused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no libraries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74</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(+16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81</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class model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Inheritance only for a true "is-a"; everything else is association</a:t>
            </a:r>
            <a:endParaRPr lang="en-US" sz="1200" dirty="0"/>
          </a:p>
        </p:txBody>
      </p:sp>
      <p:pic>
        <p:nvPicPr>
          <p:cNvPr id="4" name="Image 0" descr="/home/user/commercial-banking/docs/slide_overview.png">    </p:cNvPr>
          <p:cNvPicPr>
            <a:picLocks noChangeAspect="1"/>
          </p:cNvPicPr>
          <p:nvPr/>
        </p:nvPicPr>
        <p:blipFill>
          <a:blip r:embed="rId1"/>
          <a:stretch>
            <a:fillRect/>
          </a:stretch>
        </p:blipFill>
        <p:spPr>
          <a:xfrm>
            <a:off x="1361440" y="1188720"/>
            <a:ext cx="6421120" cy="36118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Parties: Party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parti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Party: identity, documents, checks, KYC</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Organization adds officers, owners, mandates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Company: a director; Charity: 2 trustees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kyc_gaps() is a template method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director, signatory are roles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Arrangements: Arrangement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arrangement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Arrangement: product, pinned terms, holders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DepositAccount adds ledger, holds,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Each subclass changes one rule: overdraft, monthly limit, maturity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FinancingAgreement holds no customer money: a sibling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Transactions: BankTransaction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transaction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BankTransaction: amount, status, ledger entries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CustomerPayment adds mandate and 2nd signatory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Reversal -&gt; Chargeback: new records, never edits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MerchantRefund is NOT a Reversal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Cases: Case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cas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Case: subject, status, notes, evidence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CustomerCase: channel and contact person</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RiskCase: restrictions; cannot close while one is live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CollectionsCase: overdue loan, promises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I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Beyond the brief: saving and an assistant</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Both are small class hierarchies, built like the model</a:t>
            </a:r>
            <a:endParaRPr lang="en-US" sz="1200" dirty="0"/>
          </a:p>
        </p:txBody>
      </p:sp>
      <p:sp>
        <p:nvSpPr>
          <p:cNvPr id="4" name="Shape 2"/>
          <p:cNvSpPr/>
          <p:nvPr/>
        </p:nvSpPr>
        <p:spPr>
          <a:xfrm>
            <a:off x="457200" y="1234440"/>
            <a:ext cx="4023360" cy="3474720"/>
          </a:xfrm>
          <a:prstGeom prst="roundRect">
            <a:avLst>
              <a:gd name="adj" fmla="val 2105"/>
            </a:avLst>
          </a:prstGeom>
          <a:solidFill>
            <a:srgbClr val="E8F0EE"/>
          </a:solidFill>
          <a:ln w="12700">
            <a:solidFill>
              <a:srgbClr val="E8F0EE"/>
            </a:solidFill>
            <a:prstDash val="solid"/>
          </a:ln>
        </p:spPr>
      </p:sp>
      <p:sp>
        <p:nvSpPr>
          <p:cNvPr id="5" name="Text 3"/>
          <p:cNvSpPr txBox="1"/>
          <p:nvPr/>
        </p:nvSpPr>
        <p:spPr>
          <a:xfrm>
            <a:off x="64008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Save and load the whole bank (JSON)</a:t>
            </a:r>
            <a:endParaRPr lang="en-US" sz="1600" dirty="0"/>
          </a:p>
        </p:txBody>
      </p:sp>
      <p:sp>
        <p:nvSpPr>
          <p:cNvPr id="6" name="Text 4"/>
          <p:cNvSpPr txBox="1"/>
          <p:nvPr/>
        </p:nvSpPr>
        <p:spPr>
          <a:xfrm>
            <a:off x="59436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Repository (abstract): the JSON format, save() / load()</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JsonFileRepository and MemoryRepository only decide where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Links saved as references; an exact round trip of 1,375 objects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JSON written and read by the model's own Json and JsonReader</a:t>
            </a:r>
            <a:endParaRPr lang="en-US" sz="1300" dirty="0"/>
          </a:p>
        </p:txBody>
      </p:sp>
      <p:sp>
        <p:nvSpPr>
          <p:cNvPr id="7" name="Shape 5"/>
          <p:cNvSpPr/>
          <p:nvPr/>
        </p:nvSpPr>
        <p:spPr>
          <a:xfrm>
            <a:off x="4663440" y="1234440"/>
            <a:ext cx="4023360" cy="3474720"/>
          </a:xfrm>
          <a:prstGeom prst="roundRect">
            <a:avLst>
              <a:gd name="adj" fmla="val 2105"/>
            </a:avLst>
          </a:prstGeom>
          <a:solidFill>
            <a:srgbClr val="E8F0EE"/>
          </a:solidFill>
          <a:ln w="12700">
            <a:solidFill>
              <a:srgbClr val="E8F0EE"/>
            </a:solidFill>
            <a:prstDash val="solid"/>
          </a:ln>
        </p:spPr>
      </p:sp>
      <p:sp>
        <p:nvSpPr>
          <p:cNvPr id="8" name="Text 6"/>
          <p:cNvSpPr txBox="1"/>
          <p:nvPr/>
        </p:nvSpPr>
        <p:spPr>
          <a:xfrm>
            <a:off x="484632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AI assistant (optional)</a:t>
            </a:r>
            <a:endParaRPr lang="en-US" sz="1600" dirty="0"/>
          </a:p>
        </p:txBody>
      </p:sp>
      <p:sp>
        <p:nvSpPr>
          <p:cNvPr id="9" name="Text 7"/>
          <p:cNvSpPr txBox="1"/>
          <p:nvPr/>
        </p:nvSpPr>
        <p:spPr>
          <a:xfrm>
            <a:off x="480060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Assistant -&gt; OfflineAssistant -&gt; ClaudeAssistant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Answers from the records; prepares a form, never runs 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Works offline; Claude only sees the facts it needs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No libraries: the building blocks are classes too</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banking_system.py imports only sys; a test reads the file's own source to prove it</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2377440"/>
                <a:gridCol w="15544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Own class</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Instead of</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Exact → Money</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decimal</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Date, Days</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datetime</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Abstract, @abstract</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abc</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Json, JsonReader</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json</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TestCase, TestRunner</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unittest</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20624">
                <a:tc>
                  <a:txBody>
                    <a:bodyPr/>
                    <a:lstStyle/>
                    <a:p>
                      <a:pPr indent="0" marL="0">
                        <a:buNone/>
                      </a:pPr>
                      <a:r>
                        <a:rPr lang="en-US" sz="1200" dirty="0">
                          <a:solidFill>
                            <a:srgbClr val="1D2B2A"/>
                          </a:solidFill>
                          <a:latin typeface="Calibri" pitchFamily="34" charset="0"/>
                          <a:ea typeface="Calibri" pitchFamily="34" charset="-122"/>
                          <a:cs typeface="Calibri" pitchFamily="34" charset="-120"/>
                        </a:rPr>
                        <a:t>DemoLog, SourceIndex</a:t>
                      </a:r>
                      <a:endParaRPr lang="en-US" sz="12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200" dirty="0">
                          <a:solidFill>
                            <a:srgbClr val="1D2B2A"/>
                          </a:solidFill>
                          <a:latin typeface="Courier New" pitchFamily="34" charset="0"/>
                          <a:ea typeface="Courier New" pitchFamily="34" charset="-122"/>
                          <a:cs typeface="Courier New" pitchFamily="34" charset="-120"/>
                        </a:rPr>
                        <a:t>io, inspect</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343400"/>
            <a:ext cx="393192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Money inherits all of Exact's arithmetic and adds one rule: round half up to the paisa.</a:t>
            </a:r>
            <a:endParaRPr lang="en-US" sz="1100" dirty="0"/>
          </a:p>
        </p:txBody>
      </p:sp>
      <p:sp>
        <p:nvSpPr>
          <p:cNvPr id="6" name="Shape 3"/>
          <p:cNvSpPr/>
          <p:nvPr/>
        </p:nvSpPr>
        <p:spPr>
          <a:xfrm>
            <a:off x="4663440" y="1280160"/>
            <a:ext cx="4023360" cy="3520440"/>
          </a:xfrm>
          <a:prstGeom prst="roundRect">
            <a:avLst>
              <a:gd name="adj" fmla="val 2078"/>
            </a:avLst>
          </a:prstGeom>
          <a:solidFill>
            <a:srgbClr val="E8F0EE"/>
          </a:solidFill>
          <a:ln w="12700">
            <a:solidFill>
              <a:srgbClr val="E8F0EE"/>
            </a:solidFill>
            <a:prstDash val="solid"/>
          </a:ln>
        </p:spPr>
      </p:sp>
      <p:sp>
        <p:nvSpPr>
          <p:cNvPr id="7" name="Text 4"/>
          <p:cNvSpPr txBox="1"/>
          <p:nvPr/>
        </p:nvSpPr>
        <p:spPr>
          <a:xfrm>
            <a:off x="4846320" y="1389888"/>
            <a:ext cx="3657600" cy="41148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Numbers that check themselves</a:t>
            </a:r>
            <a:endParaRPr lang="en-US" sz="1600" dirty="0"/>
          </a:p>
        </p:txBody>
      </p:sp>
      <p:sp>
        <p:nvSpPr>
          <p:cNvPr id="8" name="Text 5"/>
          <p:cNvSpPr txBox="1"/>
          <p:nvPr/>
        </p:nvSpPr>
        <p:spPr>
          <a:xfrm>
            <a:off x="4800600" y="1874520"/>
            <a:ext cx="3749040" cy="283464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Iban (ISO 13616): PK, 2 check digits, bank code, 16 digits; rearranged and divided by 97, it leaves 1</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A mistyped IBAN, or a UBL IBAN entered as HBL, is refused before any payment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CardNumber (ISO/IEC 7812): the last digit is a Luhn check digit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Only the first 6 and last 4 digits are kept (PCI DSS), so no screen or file shows a full card number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Python and Tkinter only;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One JSON file, no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2026-10-20T02:14:08Z</dcterms:created>
  <dcterms:modified xsi:type="dcterms:W3CDTF">2026-10-20T02:14:08Z</dcterms:modified>
</cp:coreProperties>
</file>