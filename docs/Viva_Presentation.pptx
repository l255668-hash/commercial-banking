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a teaching model of a commercial bank. The assessed concepts are classes and inheritance. The central idea is that history is never overwritten.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order follows the brief's required submission: research first, then the model, the decisions, the demonstration and the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each source and the one thing it taught. The four standards behind the code (IBAN, card numbers, PCI DSS, and the references for the building blocks) come later, on the no-libraries slide. Only claim sources you have actually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first ideas changed (report section 1, last table). These five are the clearest to explain.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for at least 30 classes and 30 meaningful operations. Even counting only the 51 classes with behaviour of their own and the 80 state-changing commands, the model is above the minimum. The trial balance is zero at the end of the demo, so no scenario created or lost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the brief's question about deletion. Closing an account, ending a relationship or revoking a mandate are status changes or closed periods. Bank.party_snapshot rebuilds what the bank knew about a customer on any past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hierarchies: parties, arrangements, transactions, cases. Standalone classes such as Mandate, ProductDefinition, IssuedCard and Employee connect them by association, because they are related but are not kinds of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levels because each level has a rule that is true there and not above it. Ayesha is one Person with five capacities.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middle level exists because holding customer money is a real behavioural difference. A loan inheriting a ledger balance would be meaningless.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customer payments can be disputed, which is why that level exists. A chargeback has everything a reversal has plus a dispute, a merchant and a reason code; a refund leaves the purchase posted, so it is not a reversal.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 5 shows the override: closing the investigation is refused until the debit block is lifted.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Colours on the state diagram show which class introduced each status: blue BankTransaction, green CustomerPayment, amber TransferPayment. The diagram is drawn from the LIFECYCLE declarations, the same objects the code enforces, and CI fails if the committed diagram differs from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obvious alternative, 'everything is an account with flags', fails every critical case: a flag change destroys the fact that it was once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for a defence of the design against at least one plausible alternative. The account-centric model is simpler and would pass the class count, but it answers every historical question with the current value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SOLID was used as a checklist, not as decoration. Single responsibility: small classes each do one job; Bank is the exception, an application service that coordinates while the rules live in the domain classes. Open/closed: two type checks were found and replaced; a test defines a new IslamicTermDeposit subclass and the bank handles it unchanged. Liskov: SavingsAccount refuses more debits than its parent, but only with the same kind of BankingError, so every caller still works. Report section 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python banking_system.py to show them live. Each refusal prints the exact rule, e.g. AuthorityError: the initiator cannot also be the second signatory.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 section 3.2 maps every participant, research area and scope item in the brief to a class, operation and scenario. Section 3.1 answers the brief's eight open questions one by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 diagrams show structure; the flowcharts show behaviour. Walk through the transfer: beneficiary, authority (mandate within limit), funds, dual control, then the PKR 1,000,000 compliance hold. Every red terminator is a refusal that is still kept on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 diagrams show what each class is, the flowcharts the order of the checks. The sequence diagram shows which objects talk to each other over three days for one real payment. Point at the three moments: Hamza starts it, Ayesha approves it, Kamran releases it. Notice that the mandate and the funds are asked again at each step, because they can change in between. Report section 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not marked by the brief; they show the same OOP thinking. The repository is a template method: the format lives once in the parent. The assistant can only read and pre-fill; a person presses Run, so every rule still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piece a library would normally give me is a small class I can explain: an exact fraction for money, the Gregorian calendar for dates, my own abstract-class check, a JSON reader with one method per grammar rule, and an xUnit-style test runner. Money is a subclass of Exact: it inherits the arithmetic and only adds paisa rounding. The research added two checks banks run before money moves: IBAN check digits (mod 97) and the Luhn digit on card numbers, and the bank keeps only six plus four card digits.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demo path in docs/Final_Presentation_Script.md. Sign in as Kamran (compliance) and show the Overview and a guided check. Then switch user to digital banking: Noor is refused (view only), Hamza starts a PKR 1.2m payment that waits for a 2nd signatory, Ayesha approves it. The GUI contains no business rules: refusals come from the model and name its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table in docs/Code_Review.md. Every fix is protected by a test, so it cannot silently come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Arrangement level is where the design pays off for new business models: an Ijarah or Murabaha contract is a new kind of arrangement, not a change to existing classes.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4F4A"/>
        </a:solidFill>
      </p:bgPr>
    </p:bg>
    <p:spTree>
      <p:nvGrpSpPr>
        <p:cNvPr id="1" name=""/>
        <p:cNvGrpSpPr/>
        <p:nvPr/>
      </p:nvGrpSpPr>
      <p:grpSpPr>
        <a:xfrm>
          <a:off x="0" y="0"/>
          <a:ext cx="0" cy="0"/>
          <a:chOff x="0" y="0"/>
          <a:chExt cx="0" cy="0"/>
        </a:xfrm>
      </p:grpSpPr>
      <p:sp>
        <p:nvSpPr>
          <p:cNvPr id="2" name="Text 0"/>
          <p:cNvSpPr txBox="1"/>
          <p:nvPr/>
        </p:nvSpPr>
        <p:spPr>
          <a:xfrm>
            <a:off x="548640" y="822960"/>
            <a:ext cx="8046720" cy="457200"/>
          </a:xfrm>
          <a:prstGeom prst="rect">
            <a:avLst/>
          </a:prstGeom>
          <a:noFill/>
          <a:ln/>
        </p:spPr>
        <p:txBody>
          <a:bodyPr wrap="square" lIns="0" tIns="0" rIns="0" bIns="0" rtlCol="0" anchor="ctr"/>
          <a:lstStyle/>
          <a:p>
            <a:pPr indent="0" marL="0">
              <a:buNone/>
            </a:pPr>
            <a:r>
              <a:rPr lang="en-US" sz="1800" dirty="0">
                <a:solidFill>
                  <a:srgbClr val="CFE3DF"/>
                </a:solidFill>
                <a:latin typeface="Calibri" pitchFamily="34" charset="0"/>
                <a:ea typeface="Calibri" pitchFamily="34" charset="-122"/>
                <a:cs typeface="Calibri" pitchFamily="34" charset="-120"/>
              </a:rPr>
              <a:t>Final presentation  •  Problem 4</a:t>
            </a:r>
            <a:endParaRPr lang="en-US" sz="1800" dirty="0"/>
          </a:p>
        </p:txBody>
      </p:sp>
      <p:sp>
        <p:nvSpPr>
          <p:cNvPr id="3" name="Text 1"/>
          <p:cNvSpPr txBox="1"/>
          <p:nvPr/>
        </p:nvSpPr>
        <p:spPr>
          <a:xfrm>
            <a:off x="548640" y="1234440"/>
            <a:ext cx="8046720" cy="11887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Commercial Banking, Lending, Payments and Compliance</a:t>
            </a:r>
            <a:endParaRPr lang="en-US" sz="3600" dirty="0"/>
          </a:p>
        </p:txBody>
      </p:sp>
      <p:sp>
        <p:nvSpPr>
          <p:cNvPr id="4" name="Text 2"/>
          <p:cNvSpPr txBox="1"/>
          <p:nvPr/>
        </p:nvSpPr>
        <p:spPr>
          <a:xfrm>
            <a:off x="548640" y="2514600"/>
            <a:ext cx="8046720" cy="457200"/>
          </a:xfrm>
          <a:prstGeom prst="rect">
            <a:avLst/>
          </a:prstGeom>
          <a:noFill/>
          <a:ln/>
        </p:spPr>
        <p:txBody>
          <a:bodyPr wrap="square" lIns="0" tIns="0" rIns="0" bIns="0" rtlCol="0" anchor="ctr"/>
          <a:lstStyle/>
          <a:p>
            <a:pPr indent="0" marL="0">
              <a:buNone/>
            </a:pPr>
            <a:r>
              <a:rPr lang="en-US" sz="1600" i="1" dirty="0">
                <a:solidFill>
                  <a:srgbClr val="E9D3A6"/>
                </a:solidFill>
                <a:latin typeface="Calibri" pitchFamily="34" charset="0"/>
                <a:ea typeface="Calibri" pitchFamily="34" charset="-122"/>
                <a:cs typeface="Calibri" pitchFamily="34" charset="-120"/>
              </a:rPr>
              <a:t>An object model where nothing is deleted and every past state can be rebuilt</a:t>
            </a:r>
            <a:endParaRPr lang="en-US" sz="1600" dirty="0"/>
          </a:p>
        </p:txBody>
      </p:sp>
      <p:sp>
        <p:nvSpPr>
          <p:cNvPr id="5" name="Text 3"/>
          <p:cNvSpPr txBox="1"/>
          <p:nvPr/>
        </p:nvSpPr>
        <p:spPr>
          <a:xfrm>
            <a:off x="548640" y="3383280"/>
            <a:ext cx="4572000" cy="109728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Prepared by: Khizar Rizwan</a:t>
            </a: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Roll number: 25L-5668</a:t>
            </a: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CS2012 Introduction to OOP - Instructor: Bilal Nadeem</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What I will show, in order</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About 20 minutes of slides, 7 minutes of live demonstration, then questions</a:t>
            </a:r>
            <a:endParaRPr lang="en-US" sz="1200" dirty="0"/>
          </a:p>
        </p:txBody>
      </p:sp>
      <p:sp>
        <p:nvSpPr>
          <p:cNvPr id="4" name="Shape 2"/>
          <p:cNvSpPr/>
          <p:nvPr/>
        </p:nvSpPr>
        <p:spPr>
          <a:xfrm>
            <a:off x="548640" y="1234440"/>
            <a:ext cx="384048" cy="384048"/>
          </a:xfrm>
          <a:prstGeom prst="ellipse">
            <a:avLst/>
          </a:prstGeom>
          <a:solidFill>
            <a:srgbClr val="B8862F"/>
          </a:solidFill>
          <a:ln/>
        </p:spPr>
      </p:sp>
      <p:sp>
        <p:nvSpPr>
          <p:cNvPr id="5" name="Text 3"/>
          <p:cNvSpPr txBox="1"/>
          <p:nvPr/>
        </p:nvSpPr>
        <p:spPr>
          <a:xfrm>
            <a:off x="548640" y="12344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097280" y="1234440"/>
            <a:ext cx="7589520" cy="384048"/>
          </a:xfrm>
          <a:prstGeom prst="rect">
            <a:avLst/>
          </a:prstGeom>
          <a:noFill/>
          <a:ln/>
        </p:spPr>
        <p:txBody>
          <a:bodyPr wrap="square" lIns="0" tIns="0" rIns="0" bIns="0" rtlCol="0" anchor="ctr"/>
          <a:lstStyle/>
          <a:p>
            <a:pPr indent="0" marL="0">
              <a:buNone/>
            </a:pPr>
            <a:r>
              <a:rPr lang="en-US" sz="1400" b="1" dirty="0">
                <a:solidFill>
                  <a:srgbClr val="0B4F4A"/>
                </a:solidFill>
                <a:latin typeface="Calibri" pitchFamily="34" charset="0"/>
                <a:ea typeface="Calibri" pitchFamily="34" charset="-122"/>
                <a:cs typeface="Calibri" pitchFamily="34" charset="-120"/>
              </a:rPr>
              <a:t>Research   </a:t>
            </a:r>
            <a:pPr indent="0" marL="0">
              <a:buNone/>
            </a:pPr>
            <a:r>
              <a:rPr lang="en-US" sz="1400" dirty="0">
                <a:solidFill>
                  <a:srgbClr val="1D2B2A"/>
                </a:solidFill>
                <a:latin typeface="Calibri" pitchFamily="34" charset="0"/>
                <a:ea typeface="Calibri" pitchFamily="34" charset="-122"/>
                <a:cs typeface="Calibri" pitchFamily="34" charset="-120"/>
              </a:rPr>
              <a:t>What I studied and how it changed the design</a:t>
            </a:r>
            <a:endParaRPr lang="en-US" sz="1400" dirty="0"/>
          </a:p>
        </p:txBody>
      </p:sp>
      <p:sp>
        <p:nvSpPr>
          <p:cNvPr id="7" name="Shape 5"/>
          <p:cNvSpPr/>
          <p:nvPr/>
        </p:nvSpPr>
        <p:spPr>
          <a:xfrm>
            <a:off x="548640" y="1737360"/>
            <a:ext cx="384048" cy="384048"/>
          </a:xfrm>
          <a:prstGeom prst="ellipse">
            <a:avLst/>
          </a:prstGeom>
          <a:solidFill>
            <a:srgbClr val="B8862F"/>
          </a:solidFill>
          <a:ln/>
        </p:spPr>
      </p:sp>
      <p:sp>
        <p:nvSpPr>
          <p:cNvPr id="8" name="Text 6"/>
          <p:cNvSpPr txBox="1"/>
          <p:nvPr/>
        </p:nvSpPr>
        <p:spPr>
          <a:xfrm>
            <a:off x="548640" y="1737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9" name="Text 7"/>
          <p:cNvSpPr txBox="1"/>
          <p:nvPr/>
        </p:nvSpPr>
        <p:spPr>
          <a:xfrm>
            <a:off x="1097280" y="1737360"/>
            <a:ext cx="7589520" cy="384048"/>
          </a:xfrm>
          <a:prstGeom prst="rect">
            <a:avLst/>
          </a:prstGeom>
          <a:noFill/>
          <a:ln/>
        </p:spPr>
        <p:txBody>
          <a:bodyPr wrap="square" lIns="0" tIns="0" rIns="0" bIns="0" rtlCol="0" anchor="ctr"/>
          <a:lstStyle/>
          <a:p>
            <a:pPr indent="0" marL="0">
              <a:buNone/>
            </a:pPr>
            <a:r>
              <a:rPr lang="en-US" sz="1400" b="1" dirty="0">
                <a:solidFill>
                  <a:srgbClr val="0B4F4A"/>
                </a:solidFill>
                <a:latin typeface="Calibri" pitchFamily="34" charset="0"/>
                <a:ea typeface="Calibri" pitchFamily="34" charset="-122"/>
                <a:cs typeface="Calibri" pitchFamily="34" charset="-120"/>
              </a:rPr>
              <a:t>Scale and core rule   </a:t>
            </a:r>
            <a:pPr indent="0" marL="0">
              <a:buNone/>
            </a:pPr>
            <a:r>
              <a:rPr lang="en-US" sz="1400" dirty="0">
                <a:solidFill>
                  <a:srgbClr val="1D2B2A"/>
                </a:solidFill>
                <a:latin typeface="Calibri" pitchFamily="34" charset="0"/>
                <a:ea typeface="Calibri" pitchFamily="34" charset="-122"/>
                <a:cs typeface="Calibri" pitchFamily="34" charset="-120"/>
              </a:rPr>
              <a:t>What the brief asks for, and "nothing is deleted"</a:t>
            </a:r>
            <a:endParaRPr lang="en-US" sz="1400" dirty="0"/>
          </a:p>
        </p:txBody>
      </p:sp>
      <p:sp>
        <p:nvSpPr>
          <p:cNvPr id="10" name="Shape 8"/>
          <p:cNvSpPr/>
          <p:nvPr/>
        </p:nvSpPr>
        <p:spPr>
          <a:xfrm>
            <a:off x="548640" y="2240280"/>
            <a:ext cx="384048" cy="384048"/>
          </a:xfrm>
          <a:prstGeom prst="ellipse">
            <a:avLst/>
          </a:prstGeom>
          <a:solidFill>
            <a:srgbClr val="B8862F"/>
          </a:solidFill>
          <a:ln/>
        </p:spPr>
      </p:sp>
      <p:sp>
        <p:nvSpPr>
          <p:cNvPr id="11" name="Text 9"/>
          <p:cNvSpPr txBox="1"/>
          <p:nvPr/>
        </p:nvSpPr>
        <p:spPr>
          <a:xfrm>
            <a:off x="548640" y="22402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1097280" y="2240280"/>
            <a:ext cx="7589520" cy="384048"/>
          </a:xfrm>
          <a:prstGeom prst="rect">
            <a:avLst/>
          </a:prstGeom>
          <a:noFill/>
          <a:ln/>
        </p:spPr>
        <p:txBody>
          <a:bodyPr wrap="square" lIns="0" tIns="0" rIns="0" bIns="0" rtlCol="0" anchor="ctr"/>
          <a:lstStyle/>
          <a:p>
            <a:pPr indent="0" marL="0">
              <a:buNone/>
            </a:pPr>
            <a:r>
              <a:rPr lang="en-US" sz="1400" b="1" dirty="0">
                <a:solidFill>
                  <a:srgbClr val="0B4F4A"/>
                </a:solidFill>
                <a:latin typeface="Calibri" pitchFamily="34" charset="0"/>
                <a:ea typeface="Calibri" pitchFamily="34" charset="-122"/>
                <a:cs typeface="Calibri" pitchFamily="34" charset="-120"/>
              </a:rPr>
              <a:t>Class model   </a:t>
            </a:r>
            <a:pPr indent="0" marL="0">
              <a:buNone/>
            </a:pPr>
            <a:r>
              <a:rPr lang="en-US" sz="1400" dirty="0">
                <a:solidFill>
                  <a:srgbClr val="1D2B2A"/>
                </a:solidFill>
                <a:latin typeface="Calibri" pitchFamily="34" charset="0"/>
                <a:ea typeface="Calibri" pitchFamily="34" charset="-122"/>
                <a:cs typeface="Calibri" pitchFamily="34" charset="-120"/>
              </a:rPr>
              <a:t>The four hierarchies, level by level</a:t>
            </a:r>
            <a:endParaRPr lang="en-US" sz="1400" dirty="0"/>
          </a:p>
        </p:txBody>
      </p:sp>
      <p:sp>
        <p:nvSpPr>
          <p:cNvPr id="13" name="Shape 11"/>
          <p:cNvSpPr/>
          <p:nvPr/>
        </p:nvSpPr>
        <p:spPr>
          <a:xfrm>
            <a:off x="548640" y="2743200"/>
            <a:ext cx="384048" cy="384048"/>
          </a:xfrm>
          <a:prstGeom prst="ellipse">
            <a:avLst/>
          </a:prstGeom>
          <a:solidFill>
            <a:srgbClr val="B8862F"/>
          </a:solidFill>
          <a:ln/>
        </p:spPr>
      </p:sp>
      <p:sp>
        <p:nvSpPr>
          <p:cNvPr id="14" name="Text 12"/>
          <p:cNvSpPr txBox="1"/>
          <p:nvPr/>
        </p:nvSpPr>
        <p:spPr>
          <a:xfrm>
            <a:off x="548640" y="27432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5" name="Text 13"/>
          <p:cNvSpPr txBox="1"/>
          <p:nvPr/>
        </p:nvSpPr>
        <p:spPr>
          <a:xfrm>
            <a:off x="1097280" y="2743200"/>
            <a:ext cx="7589520" cy="384048"/>
          </a:xfrm>
          <a:prstGeom prst="rect">
            <a:avLst/>
          </a:prstGeom>
          <a:noFill/>
          <a:ln/>
        </p:spPr>
        <p:txBody>
          <a:bodyPr wrap="square" lIns="0" tIns="0" rIns="0" bIns="0" rtlCol="0" anchor="ctr"/>
          <a:lstStyle/>
          <a:p>
            <a:pPr indent="0" marL="0">
              <a:buNone/>
            </a:pPr>
            <a:r>
              <a:rPr lang="en-US" sz="1400" b="1" dirty="0">
                <a:solidFill>
                  <a:srgbClr val="0B4F4A"/>
                </a:solidFill>
                <a:latin typeface="Calibri" pitchFamily="34" charset="0"/>
                <a:ea typeface="Calibri" pitchFamily="34" charset="-122"/>
                <a:cs typeface="Calibri" pitchFamily="34" charset="-120"/>
              </a:rPr>
              <a:t>Design decisions   </a:t>
            </a:r>
            <a:pPr indent="0" marL="0">
              <a:buNone/>
            </a:pPr>
            <a:r>
              <a:rPr lang="en-US" sz="1400" dirty="0">
                <a:solidFill>
                  <a:srgbClr val="1D2B2A"/>
                </a:solidFill>
                <a:latin typeface="Calibri" pitchFamily="34" charset="0"/>
                <a:ea typeface="Calibri" pitchFamily="34" charset="-122"/>
                <a:cs typeface="Calibri" pitchFamily="34" charset="-120"/>
              </a:rPr>
              <a:t>Rejected inheritances; the alternative; SOLID and patterns</a:t>
            </a:r>
            <a:endParaRPr lang="en-US" sz="1400" dirty="0"/>
          </a:p>
        </p:txBody>
      </p:sp>
      <p:sp>
        <p:nvSpPr>
          <p:cNvPr id="16" name="Shape 14"/>
          <p:cNvSpPr/>
          <p:nvPr/>
        </p:nvSpPr>
        <p:spPr>
          <a:xfrm>
            <a:off x="548640" y="3246120"/>
            <a:ext cx="384048" cy="384048"/>
          </a:xfrm>
          <a:prstGeom prst="ellipse">
            <a:avLst/>
          </a:prstGeom>
          <a:solidFill>
            <a:srgbClr val="B8862F"/>
          </a:solidFill>
          <a:ln/>
        </p:spPr>
      </p:sp>
      <p:sp>
        <p:nvSpPr>
          <p:cNvPr id="17" name="Text 15"/>
          <p:cNvSpPr txBox="1"/>
          <p:nvPr/>
        </p:nvSpPr>
        <p:spPr>
          <a:xfrm>
            <a:off x="548640" y="3246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18" name="Text 16"/>
          <p:cNvSpPr txBox="1"/>
          <p:nvPr/>
        </p:nvSpPr>
        <p:spPr>
          <a:xfrm>
            <a:off x="1097280" y="3246120"/>
            <a:ext cx="7589520" cy="384048"/>
          </a:xfrm>
          <a:prstGeom prst="rect">
            <a:avLst/>
          </a:prstGeom>
          <a:noFill/>
          <a:ln/>
        </p:spPr>
        <p:txBody>
          <a:bodyPr wrap="square" lIns="0" tIns="0" rIns="0" bIns="0" rtlCol="0" anchor="ctr"/>
          <a:lstStyle/>
          <a:p>
            <a:pPr indent="0" marL="0">
              <a:buNone/>
            </a:pPr>
            <a:r>
              <a:rPr lang="en-US" sz="1400" b="1" dirty="0">
                <a:solidFill>
                  <a:srgbClr val="0B4F4A"/>
                </a:solidFill>
                <a:latin typeface="Calibri" pitchFamily="34" charset="0"/>
                <a:ea typeface="Calibri" pitchFamily="34" charset="-122"/>
                <a:cs typeface="Calibri" pitchFamily="34" charset="-120"/>
              </a:rPr>
              <a:t>Behaviour   </a:t>
            </a:r>
            <a:pPr indent="0" marL="0">
              <a:buNone/>
            </a:pPr>
            <a:r>
              <a:rPr lang="en-US" sz="1400" dirty="0">
                <a:solidFill>
                  <a:srgbClr val="1D2B2A"/>
                </a:solidFill>
                <a:latin typeface="Calibri" pitchFamily="34" charset="0"/>
                <a:ea typeface="Calibri" pitchFamily="34" charset="-122"/>
                <a:cs typeface="Calibri" pitchFamily="34" charset="-120"/>
              </a:rPr>
              <a:t>16 scenarios, flowcharts, a sequence diagram</a:t>
            </a:r>
            <a:endParaRPr lang="en-US" sz="1400" dirty="0"/>
          </a:p>
        </p:txBody>
      </p:sp>
      <p:sp>
        <p:nvSpPr>
          <p:cNvPr id="19" name="Shape 17"/>
          <p:cNvSpPr/>
          <p:nvPr/>
        </p:nvSpPr>
        <p:spPr>
          <a:xfrm>
            <a:off x="548640" y="3749040"/>
            <a:ext cx="384048" cy="384048"/>
          </a:xfrm>
          <a:prstGeom prst="ellipse">
            <a:avLst/>
          </a:prstGeom>
          <a:solidFill>
            <a:srgbClr val="B8862F"/>
          </a:solidFill>
          <a:ln/>
        </p:spPr>
      </p:sp>
      <p:sp>
        <p:nvSpPr>
          <p:cNvPr id="20" name="Text 18"/>
          <p:cNvSpPr txBox="1"/>
          <p:nvPr/>
        </p:nvSpPr>
        <p:spPr>
          <a:xfrm>
            <a:off x="548640" y="37490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21" name="Text 19"/>
          <p:cNvSpPr txBox="1"/>
          <p:nvPr/>
        </p:nvSpPr>
        <p:spPr>
          <a:xfrm>
            <a:off x="1097280" y="3749040"/>
            <a:ext cx="7589520" cy="384048"/>
          </a:xfrm>
          <a:prstGeom prst="rect">
            <a:avLst/>
          </a:prstGeom>
          <a:noFill/>
          <a:ln/>
        </p:spPr>
        <p:txBody>
          <a:bodyPr wrap="square" lIns="0" tIns="0" rIns="0" bIns="0" rtlCol="0" anchor="ctr"/>
          <a:lstStyle/>
          <a:p>
            <a:pPr indent="0" marL="0">
              <a:buNone/>
            </a:pPr>
            <a:r>
              <a:rPr lang="en-US" sz="1400" b="1" dirty="0">
                <a:solidFill>
                  <a:srgbClr val="0B4F4A"/>
                </a:solidFill>
                <a:latin typeface="Calibri" pitchFamily="34" charset="0"/>
                <a:ea typeface="Calibri" pitchFamily="34" charset="-122"/>
                <a:cs typeface="Calibri" pitchFamily="34" charset="-120"/>
              </a:rPr>
              <a:t>Live demonstration   </a:t>
            </a:r>
            <a:pPr indent="0" marL="0">
              <a:buNone/>
            </a:pPr>
            <a:r>
              <a:rPr lang="en-US" sz="1400" dirty="0">
                <a:solidFill>
                  <a:srgbClr val="1D2B2A"/>
                </a:solidFill>
                <a:latin typeface="Calibri" pitchFamily="34" charset="0"/>
                <a:ea typeface="Calibri" pitchFamily="34" charset="-122"/>
                <a:cs typeface="Calibri" pitchFamily="34" charset="-120"/>
              </a:rPr>
              <a:t>Staff console, digital banking, assistant</a:t>
            </a:r>
            <a:endParaRPr lang="en-US" sz="1400" dirty="0"/>
          </a:p>
        </p:txBody>
      </p:sp>
      <p:sp>
        <p:nvSpPr>
          <p:cNvPr id="22" name="Shape 20"/>
          <p:cNvSpPr/>
          <p:nvPr/>
        </p:nvSpPr>
        <p:spPr>
          <a:xfrm>
            <a:off x="548640" y="4251960"/>
            <a:ext cx="384048" cy="384048"/>
          </a:xfrm>
          <a:prstGeom prst="ellipse">
            <a:avLst/>
          </a:prstGeom>
          <a:solidFill>
            <a:srgbClr val="B8862F"/>
          </a:solidFill>
          <a:ln/>
        </p:spPr>
      </p:sp>
      <p:sp>
        <p:nvSpPr>
          <p:cNvPr id="23" name="Text 21"/>
          <p:cNvSpPr txBox="1"/>
          <p:nvPr/>
        </p:nvSpPr>
        <p:spPr>
          <a:xfrm>
            <a:off x="548640" y="42519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24" name="Text 22"/>
          <p:cNvSpPr txBox="1"/>
          <p:nvPr/>
        </p:nvSpPr>
        <p:spPr>
          <a:xfrm>
            <a:off x="1097280" y="4251960"/>
            <a:ext cx="7589520" cy="384048"/>
          </a:xfrm>
          <a:prstGeom prst="rect">
            <a:avLst/>
          </a:prstGeom>
          <a:noFill/>
          <a:ln/>
        </p:spPr>
        <p:txBody>
          <a:bodyPr wrap="square" lIns="0" tIns="0" rIns="0" bIns="0" rtlCol="0" anchor="ctr"/>
          <a:lstStyle/>
          <a:p>
            <a:pPr indent="0" marL="0">
              <a:buNone/>
            </a:pPr>
            <a:r>
              <a:rPr lang="en-US" sz="1400" b="1" dirty="0">
                <a:solidFill>
                  <a:srgbClr val="0B4F4A"/>
                </a:solidFill>
                <a:latin typeface="Calibri" pitchFamily="34" charset="0"/>
                <a:ea typeface="Calibri" pitchFamily="34" charset="-122"/>
                <a:cs typeface="Calibri" pitchFamily="34" charset="-120"/>
              </a:rPr>
              <a:t>Limits   </a:t>
            </a:r>
            <a:pPr indent="0" marL="0">
              <a:buNone/>
            </a:pPr>
            <a:r>
              <a:rPr lang="en-US" sz="1400" dirty="0">
                <a:solidFill>
                  <a:srgbClr val="1D2B2A"/>
                </a:solidFill>
                <a:latin typeface="Calibri" pitchFamily="34" charset="0"/>
                <a:ea typeface="Calibri" pitchFamily="34" charset="-122"/>
                <a:cs typeface="Calibri" pitchFamily="34" charset="-120"/>
              </a:rPr>
              <a:t>What would change at a larger bank</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Domain research: eight banking sources</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Chosen to cover every research area the brief lists</a:t>
            </a:r>
            <a:endParaRPr lang="en-US" sz="1200" dirty="0"/>
          </a:p>
        </p:txBody>
      </p:sp>
      <p:sp>
        <p:nvSpPr>
          <p:cNvPr id="4" name="Shape 2"/>
          <p:cNvSpPr/>
          <p:nvPr/>
        </p:nvSpPr>
        <p:spPr>
          <a:xfrm>
            <a:off x="457200" y="1280160"/>
            <a:ext cx="1938528" cy="1508760"/>
          </a:xfrm>
          <a:prstGeom prst="roundRect">
            <a:avLst>
              <a:gd name="adj" fmla="val 4848"/>
            </a:avLst>
          </a:prstGeom>
          <a:solidFill>
            <a:srgbClr val="E8F0EE"/>
          </a:solidFill>
          <a:ln w="12700">
            <a:solidFill>
              <a:srgbClr val="E8F0EE"/>
            </a:solidFill>
            <a:prstDash val="solid"/>
          </a:ln>
        </p:spPr>
      </p:sp>
      <p:sp>
        <p:nvSpPr>
          <p:cNvPr id="5" name="Shape 3"/>
          <p:cNvSpPr/>
          <p:nvPr/>
        </p:nvSpPr>
        <p:spPr>
          <a:xfrm>
            <a:off x="594360" y="1417320"/>
            <a:ext cx="384048" cy="384048"/>
          </a:xfrm>
          <a:prstGeom prst="ellipse">
            <a:avLst/>
          </a:prstGeom>
          <a:solidFill>
            <a:srgbClr val="B8862F"/>
          </a:solidFill>
          <a:ln/>
        </p:spPr>
      </p:sp>
      <p:sp>
        <p:nvSpPr>
          <p:cNvPr id="6" name="Text 4"/>
          <p:cNvSpPr txBox="1"/>
          <p:nvPr/>
        </p:nvSpPr>
        <p:spPr>
          <a:xfrm>
            <a:off x="594360" y="14173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5"/>
          <p:cNvSpPr txBox="1"/>
          <p:nvPr/>
        </p:nvSpPr>
        <p:spPr>
          <a:xfrm>
            <a:off x="594360" y="1874520"/>
            <a:ext cx="1691640" cy="384048"/>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FATF Recommendations</a:t>
            </a:r>
            <a:endParaRPr lang="en-US" sz="1300" dirty="0"/>
          </a:p>
        </p:txBody>
      </p:sp>
      <p:sp>
        <p:nvSpPr>
          <p:cNvPr id="8" name="Text 6"/>
          <p:cNvSpPr txBox="1"/>
          <p:nvPr/>
        </p:nvSpPr>
        <p:spPr>
          <a:xfrm>
            <a:off x="594360" y="2258568"/>
            <a:ext cx="1691640" cy="50292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Customer due diligence; beneficial owners</a:t>
            </a:r>
            <a:endParaRPr lang="en-US" sz="1100" dirty="0"/>
          </a:p>
        </p:txBody>
      </p:sp>
      <p:sp>
        <p:nvSpPr>
          <p:cNvPr id="9" name="Shape 7"/>
          <p:cNvSpPr/>
          <p:nvPr/>
        </p:nvSpPr>
        <p:spPr>
          <a:xfrm>
            <a:off x="2542032" y="1280160"/>
            <a:ext cx="1938528" cy="1508760"/>
          </a:xfrm>
          <a:prstGeom prst="roundRect">
            <a:avLst>
              <a:gd name="adj" fmla="val 4848"/>
            </a:avLst>
          </a:prstGeom>
          <a:solidFill>
            <a:srgbClr val="E8F0EE"/>
          </a:solidFill>
          <a:ln w="12700">
            <a:solidFill>
              <a:srgbClr val="E8F0EE"/>
            </a:solidFill>
            <a:prstDash val="solid"/>
          </a:ln>
        </p:spPr>
      </p:sp>
      <p:sp>
        <p:nvSpPr>
          <p:cNvPr id="10" name="Shape 8"/>
          <p:cNvSpPr/>
          <p:nvPr/>
        </p:nvSpPr>
        <p:spPr>
          <a:xfrm>
            <a:off x="2679192" y="1417320"/>
            <a:ext cx="384048" cy="384048"/>
          </a:xfrm>
          <a:prstGeom prst="ellipse">
            <a:avLst/>
          </a:prstGeom>
          <a:solidFill>
            <a:srgbClr val="B8862F"/>
          </a:solidFill>
          <a:ln/>
        </p:spPr>
      </p:sp>
      <p:sp>
        <p:nvSpPr>
          <p:cNvPr id="11" name="Text 9"/>
          <p:cNvSpPr txBox="1"/>
          <p:nvPr/>
        </p:nvSpPr>
        <p:spPr>
          <a:xfrm>
            <a:off x="2679192" y="14173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2" name="Text 10"/>
          <p:cNvSpPr txBox="1"/>
          <p:nvPr/>
        </p:nvSpPr>
        <p:spPr>
          <a:xfrm>
            <a:off x="2679192" y="1874520"/>
            <a:ext cx="1691640" cy="384048"/>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State Bank of Pakistan</a:t>
            </a:r>
            <a:endParaRPr lang="en-US" sz="1300" dirty="0"/>
          </a:p>
        </p:txBody>
      </p:sp>
      <p:sp>
        <p:nvSpPr>
          <p:cNvPr id="13" name="Text 11"/>
          <p:cNvSpPr txBox="1"/>
          <p:nvPr/>
        </p:nvSpPr>
        <p:spPr>
          <a:xfrm>
            <a:off x="2679192" y="2258568"/>
            <a:ext cx="1691640" cy="50292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AML/CFT regulations: local KYC practice</a:t>
            </a:r>
            <a:endParaRPr lang="en-US" sz="1100" dirty="0"/>
          </a:p>
        </p:txBody>
      </p:sp>
      <p:sp>
        <p:nvSpPr>
          <p:cNvPr id="14" name="Shape 12"/>
          <p:cNvSpPr/>
          <p:nvPr/>
        </p:nvSpPr>
        <p:spPr>
          <a:xfrm>
            <a:off x="4626864" y="1280160"/>
            <a:ext cx="1938528" cy="1508760"/>
          </a:xfrm>
          <a:prstGeom prst="roundRect">
            <a:avLst>
              <a:gd name="adj" fmla="val 4848"/>
            </a:avLst>
          </a:prstGeom>
          <a:solidFill>
            <a:srgbClr val="E8F0EE"/>
          </a:solidFill>
          <a:ln w="12700">
            <a:solidFill>
              <a:srgbClr val="E8F0EE"/>
            </a:solidFill>
            <a:prstDash val="solid"/>
          </a:ln>
        </p:spPr>
      </p:sp>
      <p:sp>
        <p:nvSpPr>
          <p:cNvPr id="15" name="Shape 13"/>
          <p:cNvSpPr/>
          <p:nvPr/>
        </p:nvSpPr>
        <p:spPr>
          <a:xfrm>
            <a:off x="4764024" y="1417320"/>
            <a:ext cx="384048" cy="384048"/>
          </a:xfrm>
          <a:prstGeom prst="ellipse">
            <a:avLst/>
          </a:prstGeom>
          <a:solidFill>
            <a:srgbClr val="B8862F"/>
          </a:solidFill>
          <a:ln/>
        </p:spPr>
      </p:sp>
      <p:sp>
        <p:nvSpPr>
          <p:cNvPr id="16" name="Text 14"/>
          <p:cNvSpPr txBox="1"/>
          <p:nvPr/>
        </p:nvSpPr>
        <p:spPr>
          <a:xfrm>
            <a:off x="4764024" y="14173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7" name="Text 15"/>
          <p:cNvSpPr txBox="1"/>
          <p:nvPr/>
        </p:nvSpPr>
        <p:spPr>
          <a:xfrm>
            <a:off x="4764024" y="1874520"/>
            <a:ext cx="1691640" cy="384048"/>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Basel Committee</a:t>
            </a:r>
            <a:endParaRPr lang="en-US" sz="1300" dirty="0"/>
          </a:p>
        </p:txBody>
      </p:sp>
      <p:sp>
        <p:nvSpPr>
          <p:cNvPr id="18" name="Text 16"/>
          <p:cNvSpPr txBox="1"/>
          <p:nvPr/>
        </p:nvSpPr>
        <p:spPr>
          <a:xfrm>
            <a:off x="4764024" y="2258568"/>
            <a:ext cx="1691640" cy="50292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Managing money-laundering risk</a:t>
            </a:r>
            <a:endParaRPr lang="en-US" sz="1100" dirty="0"/>
          </a:p>
        </p:txBody>
      </p:sp>
      <p:sp>
        <p:nvSpPr>
          <p:cNvPr id="19" name="Shape 17"/>
          <p:cNvSpPr/>
          <p:nvPr/>
        </p:nvSpPr>
        <p:spPr>
          <a:xfrm>
            <a:off x="6711696" y="1280160"/>
            <a:ext cx="1938528" cy="1508760"/>
          </a:xfrm>
          <a:prstGeom prst="roundRect">
            <a:avLst>
              <a:gd name="adj" fmla="val 4848"/>
            </a:avLst>
          </a:prstGeom>
          <a:solidFill>
            <a:srgbClr val="E8F0EE"/>
          </a:solidFill>
          <a:ln w="12700">
            <a:solidFill>
              <a:srgbClr val="E8F0EE"/>
            </a:solidFill>
            <a:prstDash val="solid"/>
          </a:ln>
        </p:spPr>
      </p:sp>
      <p:sp>
        <p:nvSpPr>
          <p:cNvPr id="20" name="Shape 18"/>
          <p:cNvSpPr/>
          <p:nvPr/>
        </p:nvSpPr>
        <p:spPr>
          <a:xfrm>
            <a:off x="6848856" y="1417320"/>
            <a:ext cx="384048" cy="384048"/>
          </a:xfrm>
          <a:prstGeom prst="ellipse">
            <a:avLst/>
          </a:prstGeom>
          <a:solidFill>
            <a:srgbClr val="B8862F"/>
          </a:solidFill>
          <a:ln/>
        </p:spPr>
      </p:sp>
      <p:sp>
        <p:nvSpPr>
          <p:cNvPr id="21" name="Text 19"/>
          <p:cNvSpPr txBox="1"/>
          <p:nvPr/>
        </p:nvSpPr>
        <p:spPr>
          <a:xfrm>
            <a:off x="6848856" y="14173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22" name="Text 20"/>
          <p:cNvSpPr txBox="1"/>
          <p:nvPr/>
        </p:nvSpPr>
        <p:spPr>
          <a:xfrm>
            <a:off x="6848856" y="1874520"/>
            <a:ext cx="1691640" cy="384048"/>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ISO 20022</a:t>
            </a:r>
            <a:endParaRPr lang="en-US" sz="1300" dirty="0"/>
          </a:p>
        </p:txBody>
      </p:sp>
      <p:sp>
        <p:nvSpPr>
          <p:cNvPr id="23" name="Text 21"/>
          <p:cNvSpPr txBox="1"/>
          <p:nvPr/>
        </p:nvSpPr>
        <p:spPr>
          <a:xfrm>
            <a:off x="6848856" y="2258568"/>
            <a:ext cx="1691640" cy="50292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Payment statuses: pending, held, posted, rejected</a:t>
            </a:r>
            <a:endParaRPr lang="en-US" sz="1100" dirty="0"/>
          </a:p>
        </p:txBody>
      </p:sp>
      <p:sp>
        <p:nvSpPr>
          <p:cNvPr id="24" name="Shape 22"/>
          <p:cNvSpPr/>
          <p:nvPr/>
        </p:nvSpPr>
        <p:spPr>
          <a:xfrm>
            <a:off x="457200" y="2971800"/>
            <a:ext cx="1938528" cy="1508760"/>
          </a:xfrm>
          <a:prstGeom prst="roundRect">
            <a:avLst>
              <a:gd name="adj" fmla="val 4848"/>
            </a:avLst>
          </a:prstGeom>
          <a:solidFill>
            <a:srgbClr val="E8F0EE"/>
          </a:solidFill>
          <a:ln w="12700">
            <a:solidFill>
              <a:srgbClr val="E8F0EE"/>
            </a:solidFill>
            <a:prstDash val="solid"/>
          </a:ln>
        </p:spPr>
      </p:sp>
      <p:sp>
        <p:nvSpPr>
          <p:cNvPr id="25" name="Shape 23"/>
          <p:cNvSpPr/>
          <p:nvPr/>
        </p:nvSpPr>
        <p:spPr>
          <a:xfrm>
            <a:off x="594360" y="3108960"/>
            <a:ext cx="384048" cy="384048"/>
          </a:xfrm>
          <a:prstGeom prst="ellipse">
            <a:avLst/>
          </a:prstGeom>
          <a:solidFill>
            <a:srgbClr val="B8862F"/>
          </a:solidFill>
          <a:ln/>
        </p:spPr>
      </p:sp>
      <p:sp>
        <p:nvSpPr>
          <p:cNvPr id="26" name="Text 24"/>
          <p:cNvSpPr txBox="1"/>
          <p:nvPr/>
        </p:nvSpPr>
        <p:spPr>
          <a:xfrm>
            <a:off x="594360" y="31089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27" name="Text 25"/>
          <p:cNvSpPr txBox="1"/>
          <p:nvPr/>
        </p:nvSpPr>
        <p:spPr>
          <a:xfrm>
            <a:off x="594360" y="3566160"/>
            <a:ext cx="1691640" cy="384048"/>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Visa &amp; Mastercard</a:t>
            </a:r>
            <a:endParaRPr lang="en-US" sz="1300" dirty="0"/>
          </a:p>
        </p:txBody>
      </p:sp>
      <p:sp>
        <p:nvSpPr>
          <p:cNvPr id="28" name="Text 26"/>
          <p:cNvSpPr txBox="1"/>
          <p:nvPr/>
        </p:nvSpPr>
        <p:spPr>
          <a:xfrm>
            <a:off x="594360" y="3950208"/>
            <a:ext cx="1691640" cy="50292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Disputes, reason codes, chargebacks</a:t>
            </a:r>
            <a:endParaRPr lang="en-US" sz="1100" dirty="0"/>
          </a:p>
        </p:txBody>
      </p:sp>
      <p:sp>
        <p:nvSpPr>
          <p:cNvPr id="29" name="Shape 27"/>
          <p:cNvSpPr/>
          <p:nvPr/>
        </p:nvSpPr>
        <p:spPr>
          <a:xfrm>
            <a:off x="2542032" y="2971800"/>
            <a:ext cx="1938528" cy="1508760"/>
          </a:xfrm>
          <a:prstGeom prst="roundRect">
            <a:avLst>
              <a:gd name="adj" fmla="val 4848"/>
            </a:avLst>
          </a:prstGeom>
          <a:solidFill>
            <a:srgbClr val="E8F0EE"/>
          </a:solidFill>
          <a:ln w="12700">
            <a:solidFill>
              <a:srgbClr val="E8F0EE"/>
            </a:solidFill>
            <a:prstDash val="solid"/>
          </a:ln>
        </p:spPr>
      </p:sp>
      <p:sp>
        <p:nvSpPr>
          <p:cNvPr id="30" name="Shape 28"/>
          <p:cNvSpPr/>
          <p:nvPr/>
        </p:nvSpPr>
        <p:spPr>
          <a:xfrm>
            <a:off x="2679192" y="3108960"/>
            <a:ext cx="384048" cy="384048"/>
          </a:xfrm>
          <a:prstGeom prst="ellipse">
            <a:avLst/>
          </a:prstGeom>
          <a:solidFill>
            <a:srgbClr val="B8862F"/>
          </a:solidFill>
          <a:ln/>
        </p:spPr>
      </p:sp>
      <p:sp>
        <p:nvSpPr>
          <p:cNvPr id="31" name="Text 29"/>
          <p:cNvSpPr txBox="1"/>
          <p:nvPr/>
        </p:nvSpPr>
        <p:spPr>
          <a:xfrm>
            <a:off x="2679192" y="31089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32" name="Text 30"/>
          <p:cNvSpPr txBox="1"/>
          <p:nvPr/>
        </p:nvSpPr>
        <p:spPr>
          <a:xfrm>
            <a:off x="2679192" y="3566160"/>
            <a:ext cx="1691640" cy="384048"/>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IFRS 9</a:t>
            </a:r>
            <a:endParaRPr lang="en-US" sz="1300" dirty="0"/>
          </a:p>
        </p:txBody>
      </p:sp>
      <p:sp>
        <p:nvSpPr>
          <p:cNvPr id="33" name="Text 31"/>
          <p:cNvSpPr txBox="1"/>
          <p:nvPr/>
        </p:nvSpPr>
        <p:spPr>
          <a:xfrm>
            <a:off x="2679192" y="3950208"/>
            <a:ext cx="1691640" cy="50292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Loan modification and restructuring</a:t>
            </a:r>
            <a:endParaRPr lang="en-US" sz="1100" dirty="0"/>
          </a:p>
        </p:txBody>
      </p:sp>
      <p:sp>
        <p:nvSpPr>
          <p:cNvPr id="34" name="Shape 32"/>
          <p:cNvSpPr/>
          <p:nvPr/>
        </p:nvSpPr>
        <p:spPr>
          <a:xfrm>
            <a:off x="4626864" y="2971800"/>
            <a:ext cx="1938528" cy="1508760"/>
          </a:xfrm>
          <a:prstGeom prst="roundRect">
            <a:avLst>
              <a:gd name="adj" fmla="val 4848"/>
            </a:avLst>
          </a:prstGeom>
          <a:solidFill>
            <a:srgbClr val="E8F0EE"/>
          </a:solidFill>
          <a:ln w="12700">
            <a:solidFill>
              <a:srgbClr val="E8F0EE"/>
            </a:solidFill>
            <a:prstDash val="solid"/>
          </a:ln>
        </p:spPr>
      </p:sp>
      <p:sp>
        <p:nvSpPr>
          <p:cNvPr id="35" name="Shape 33"/>
          <p:cNvSpPr/>
          <p:nvPr/>
        </p:nvSpPr>
        <p:spPr>
          <a:xfrm>
            <a:off x="4764024" y="3108960"/>
            <a:ext cx="384048" cy="384048"/>
          </a:xfrm>
          <a:prstGeom prst="ellipse">
            <a:avLst/>
          </a:prstGeom>
          <a:solidFill>
            <a:srgbClr val="B8862F"/>
          </a:solidFill>
          <a:ln/>
        </p:spPr>
      </p:sp>
      <p:sp>
        <p:nvSpPr>
          <p:cNvPr id="36" name="Text 34"/>
          <p:cNvSpPr txBox="1"/>
          <p:nvPr/>
        </p:nvSpPr>
        <p:spPr>
          <a:xfrm>
            <a:off x="4764024" y="31089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37" name="Text 35"/>
          <p:cNvSpPr txBox="1"/>
          <p:nvPr/>
        </p:nvSpPr>
        <p:spPr>
          <a:xfrm>
            <a:off x="4764024" y="3566160"/>
            <a:ext cx="1691640" cy="384048"/>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BIAN</a:t>
            </a:r>
            <a:endParaRPr lang="en-US" sz="1300" dirty="0"/>
          </a:p>
        </p:txBody>
      </p:sp>
      <p:sp>
        <p:nvSpPr>
          <p:cNvPr id="38" name="Text 36"/>
          <p:cNvSpPr txBox="1"/>
          <p:nvPr/>
        </p:nvSpPr>
        <p:spPr>
          <a:xfrm>
            <a:off x="4764024" y="3950208"/>
            <a:ext cx="1691640" cy="50292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Product catalogue vs customer agreement</a:t>
            </a:r>
            <a:endParaRPr lang="en-US" sz="1100" dirty="0"/>
          </a:p>
        </p:txBody>
      </p:sp>
      <p:sp>
        <p:nvSpPr>
          <p:cNvPr id="39" name="Shape 37"/>
          <p:cNvSpPr/>
          <p:nvPr/>
        </p:nvSpPr>
        <p:spPr>
          <a:xfrm>
            <a:off x="6711696" y="2971800"/>
            <a:ext cx="1938528" cy="1508760"/>
          </a:xfrm>
          <a:prstGeom prst="roundRect">
            <a:avLst>
              <a:gd name="adj" fmla="val 4848"/>
            </a:avLst>
          </a:prstGeom>
          <a:solidFill>
            <a:srgbClr val="E8F0EE"/>
          </a:solidFill>
          <a:ln w="12700">
            <a:solidFill>
              <a:srgbClr val="E8F0EE"/>
            </a:solidFill>
            <a:prstDash val="solid"/>
          </a:ln>
        </p:spPr>
      </p:sp>
      <p:sp>
        <p:nvSpPr>
          <p:cNvPr id="40" name="Shape 38"/>
          <p:cNvSpPr/>
          <p:nvPr/>
        </p:nvSpPr>
        <p:spPr>
          <a:xfrm>
            <a:off x="6848856" y="3108960"/>
            <a:ext cx="384048" cy="384048"/>
          </a:xfrm>
          <a:prstGeom prst="ellipse">
            <a:avLst/>
          </a:prstGeom>
          <a:solidFill>
            <a:srgbClr val="B8862F"/>
          </a:solidFill>
          <a:ln/>
        </p:spPr>
      </p:sp>
      <p:sp>
        <p:nvSpPr>
          <p:cNvPr id="41" name="Text 39"/>
          <p:cNvSpPr txBox="1"/>
          <p:nvPr/>
        </p:nvSpPr>
        <p:spPr>
          <a:xfrm>
            <a:off x="6848856" y="31089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8</a:t>
            </a:r>
            <a:endParaRPr lang="en-US" sz="1400" dirty="0"/>
          </a:p>
        </p:txBody>
      </p:sp>
      <p:sp>
        <p:nvSpPr>
          <p:cNvPr id="42" name="Text 40"/>
          <p:cNvSpPr txBox="1"/>
          <p:nvPr/>
        </p:nvSpPr>
        <p:spPr>
          <a:xfrm>
            <a:off x="6848856" y="3566160"/>
            <a:ext cx="1691640" cy="384048"/>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Fowler, Analysis Patterns</a:t>
            </a:r>
            <a:endParaRPr lang="en-US" sz="1300" dirty="0"/>
          </a:p>
        </p:txBody>
      </p:sp>
      <p:sp>
        <p:nvSpPr>
          <p:cNvPr id="43" name="Text 41"/>
          <p:cNvSpPr txBox="1"/>
          <p:nvPr/>
        </p:nvSpPr>
        <p:spPr>
          <a:xfrm>
            <a:off x="6848856" y="3950208"/>
            <a:ext cx="1691640" cy="50292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Party roles, time-dated records</a:t>
            </a:r>
            <a:endParaRPr lang="en-US" sz="1100" dirty="0"/>
          </a:p>
        </p:txBody>
      </p:sp>
      <p:sp>
        <p:nvSpPr>
          <p:cNvPr id="44" name="Text 42"/>
          <p:cNvSpPr txBox="1"/>
          <p:nvPr/>
        </p:nvSpPr>
        <p:spPr>
          <a:xfrm>
            <a:off x="457200" y="4553712"/>
            <a:ext cx="8229600" cy="457200"/>
          </a:xfrm>
          <a:prstGeom prst="rect">
            <a:avLst/>
          </a:prstGeom>
          <a:noFill/>
          <a:ln/>
        </p:spPr>
        <p:txBody>
          <a:bodyPr wrap="square" lIns="0" tIns="0" rIns="0" bIns="0" rtlCol="0" anchor="ctr"/>
          <a:lstStyle/>
          <a:p>
            <a:pPr indent="0" marL="0">
              <a:buNone/>
            </a:pPr>
            <a:r>
              <a:rPr lang="en-US" sz="1050" i="1" dirty="0">
                <a:solidFill>
                  <a:srgbClr val="5B6B69"/>
                </a:solidFill>
                <a:latin typeface="Calibri" pitchFamily="34" charset="0"/>
                <a:ea typeface="Calibri" pitchFamily="34" charset="-122"/>
                <a:cs typeface="Calibri" pitchFamily="34" charset="-120"/>
              </a:rPr>
              <a:t>Plus four behind the code: the IBAN standard, card numbering (ISO/IEC 7812), PCI DSS, and Money / JSON / xUnit. All twelve and a 31-term glossary: report section 1</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How the research changed my design</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First idea, what the research showed, design adopted</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743200"/>
                <a:gridCol w="2743200"/>
                <a:gridCol w="2743200"/>
              </a:tblGrid>
              <a:tr h="56692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First idea</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0B4F4A"/>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the research showed</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0B4F4A"/>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Design adopted</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0B4F4A"/>
                    </a:solidFill>
                  </a:tcPr>
                </a:tc>
              </a:tr>
              <a:tr h="566928">
                <a:tc>
                  <a:txBody>
                    <a:bodyPr/>
                    <a:lstStyle/>
                    <a:p>
                      <a:pPr indent="0" marL="0">
                        <a:buNone/>
                      </a:pPr>
                      <a:r>
                        <a:rPr lang="en-US" sz="1150" dirty="0">
                          <a:solidFill>
                            <a:srgbClr val="1D2B2A"/>
                          </a:solidFill>
                          <a:latin typeface="Calibri" pitchFamily="34" charset="0"/>
                          <a:ea typeface="Calibri" pitchFamily="34" charset="-122"/>
                          <a:cs typeface="Calibri" pitchFamily="34" charset="-120"/>
                        </a:rPr>
                        <a:t>Customer, Director, Signatory as subclasses of Person</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50" dirty="0">
                          <a:solidFill>
                            <a:srgbClr val="1D2B2A"/>
                          </a:solidFill>
                          <a:latin typeface="Calibri" pitchFamily="34" charset="0"/>
                          <a:ea typeface="Calibri" pitchFamily="34" charset="-122"/>
                          <a:cs typeface="Calibri" pitchFamily="34" charset="-120"/>
                        </a:rPr>
                        <a:t>KYC rules: these are roles of one person</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50" dirty="0">
                          <a:solidFill>
                            <a:srgbClr val="1D2B2A"/>
                          </a:solidFill>
                          <a:latin typeface="Calibri" pitchFamily="34" charset="0"/>
                          <a:ea typeface="Calibri" pitchFamily="34" charset="-122"/>
                          <a:cs typeface="Calibri" pitchFamily="34" charset="-120"/>
                        </a:rPr>
                        <a:t>One Person; dated role objects (Mandate, OfficerRole)</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r>
              <a:tr h="566928">
                <a:tc>
                  <a:txBody>
                    <a:bodyPr/>
                    <a:lstStyle/>
                    <a:p>
                      <a:pPr indent="0" marL="0">
                        <a:buNone/>
                      </a:pPr>
                      <a:r>
                        <a:rPr lang="en-US" sz="1150" dirty="0">
                          <a:solidFill>
                            <a:srgbClr val="1D2B2A"/>
                          </a:solidFill>
                          <a:latin typeface="Calibri" pitchFamily="34" charset="0"/>
                          <a:ea typeface="Calibri" pitchFamily="34" charset="-122"/>
                          <a:cs typeface="Calibri" pitchFamily="34" charset="-120"/>
                        </a:rPr>
                        <a:t>A payment either happened or not</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50" dirty="0">
                          <a:solidFill>
                            <a:srgbClr val="1D2B2A"/>
                          </a:solidFill>
                          <a:latin typeface="Calibri" pitchFamily="34" charset="0"/>
                          <a:ea typeface="Calibri" pitchFamily="34" charset="-122"/>
                          <a:cs typeface="Calibri" pitchFamily="34" charset="-120"/>
                        </a:rPr>
                        <a:t>ISO 20022: payments move through statuses</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50" dirty="0">
                          <a:solidFill>
                            <a:srgbClr val="1D2B2A"/>
                          </a:solidFill>
                          <a:latin typeface="Calibri" pitchFamily="34" charset="0"/>
                          <a:ea typeface="Calibri" pitchFamily="34" charset="-122"/>
                          <a:cs typeface="Calibri" pitchFamily="34" charset="-120"/>
                        </a:rPr>
                        <a:t>Declared lifecycles; refused payments kept</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r>
              <a:tr h="566928">
                <a:tc>
                  <a:txBody>
                    <a:bodyPr/>
                    <a:lstStyle/>
                    <a:p>
                      <a:pPr indent="0" marL="0">
                        <a:buNone/>
                      </a:pPr>
                      <a:r>
                        <a:rPr lang="en-US" sz="1150" dirty="0">
                          <a:solidFill>
                            <a:srgbClr val="1D2B2A"/>
                          </a:solidFill>
                          <a:latin typeface="Calibri" pitchFamily="34" charset="0"/>
                          <a:ea typeface="Calibri" pitchFamily="34" charset="-122"/>
                          <a:cs typeface="Calibri" pitchFamily="34" charset="-120"/>
                        </a:rPr>
                        <a:t>A disputed payment gets a 'refunded' flag</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50" dirty="0">
                          <a:solidFill>
                            <a:srgbClr val="1D2B2A"/>
                          </a:solidFill>
                          <a:latin typeface="Calibri" pitchFamily="34" charset="0"/>
                          <a:ea typeface="Calibri" pitchFamily="34" charset="-122"/>
                          <a:cs typeface="Calibri" pitchFamily="34" charset="-120"/>
                        </a:rPr>
                        <a:t>Card schemes: reversal, refund, chargeback differ</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50" dirty="0">
                          <a:solidFill>
                            <a:srgbClr val="1D2B2A"/>
                          </a:solidFill>
                          <a:latin typeface="Calibri" pitchFamily="34" charset="0"/>
                          <a:ea typeface="Calibri" pitchFamily="34" charset="-122"/>
                          <a:cs typeface="Calibri" pitchFamily="34" charset="-120"/>
                        </a:rPr>
                        <a:t>Reversal, Chargeback(Reversal), MerchantRefund</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r>
              <a:tr h="566928">
                <a:tc>
                  <a:txBody>
                    <a:bodyPr/>
                    <a:lstStyle/>
                    <a:p>
                      <a:pPr indent="0" marL="0">
                        <a:buNone/>
                      </a:pPr>
                      <a:r>
                        <a:rPr lang="en-US" sz="1150" dirty="0">
                          <a:solidFill>
                            <a:srgbClr val="1D2B2A"/>
                          </a:solidFill>
                          <a:latin typeface="Calibri" pitchFamily="34" charset="0"/>
                          <a:ea typeface="Calibri" pitchFamily="34" charset="-122"/>
                          <a:cs typeface="Calibri" pitchFamily="34" charset="-120"/>
                        </a:rPr>
                        <a:t>Restructuring edits the instalments</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50" dirty="0">
                          <a:solidFill>
                            <a:srgbClr val="1D2B2A"/>
                          </a:solidFill>
                          <a:latin typeface="Calibri" pitchFamily="34" charset="0"/>
                          <a:ea typeface="Calibri" pitchFamily="34" charset="-122"/>
                          <a:cs typeface="Calibri" pitchFamily="34" charset="-120"/>
                        </a:rPr>
                        <a:t>IFRS 9: a modification keeps the original</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50" dirty="0">
                          <a:solidFill>
                            <a:srgbClr val="1D2B2A"/>
                          </a:solidFill>
                          <a:latin typeface="Calibri" pitchFamily="34" charset="0"/>
                          <a:ea typeface="Calibri" pitchFamily="34" charset="-122"/>
                          <a:cs typeface="Calibri" pitchFamily="34" charset="-120"/>
                        </a:rPr>
                        <a:t>New schedule version; paid stay PAID</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r>
              <a:tr h="566928">
                <a:tc>
                  <a:txBody>
                    <a:bodyPr/>
                    <a:lstStyle/>
                    <a:p>
                      <a:pPr indent="0" marL="0">
                        <a:buNone/>
                      </a:pPr>
                      <a:r>
                        <a:rPr lang="en-US" sz="1150" dirty="0">
                          <a:solidFill>
                            <a:srgbClr val="1D2B2A"/>
                          </a:solidFill>
                          <a:latin typeface="Calibri" pitchFamily="34" charset="0"/>
                          <a:ea typeface="Calibri" pitchFamily="34" charset="-122"/>
                          <a:cs typeface="Calibri" pitchFamily="34" charset="-120"/>
                        </a:rPr>
                        <a:t>A payee's account number is free text</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50" dirty="0">
                          <a:solidFill>
                            <a:srgbClr val="1D2B2A"/>
                          </a:solidFill>
                          <a:latin typeface="Calibri" pitchFamily="34" charset="0"/>
                          <a:ea typeface="Calibri" pitchFamily="34" charset="-122"/>
                          <a:cs typeface="Calibri" pitchFamily="34" charset="-120"/>
                        </a:rPr>
                        <a:t>IBAN standard: check digits catch typing mistakes</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50" dirty="0">
                          <a:solidFill>
                            <a:srgbClr val="1D2B2A"/>
                          </a:solidFill>
                          <a:latin typeface="Calibri" pitchFamily="34" charset="0"/>
                          <a:ea typeface="Calibri" pitchFamily="34" charset="-122"/>
                          <a:cs typeface="Calibri" pitchFamily="34" charset="-120"/>
                        </a:rPr>
                        <a:t>Iban class; a mistyped IBAN is refused</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The project at a glance</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One Python file, no libraries - banking_system.py</a:t>
            </a:r>
            <a:endParaRPr lang="en-US" sz="1200" dirty="0"/>
          </a:p>
        </p:txBody>
      </p:sp>
      <p:sp>
        <p:nvSpPr>
          <p:cNvPr id="4" name="Shape 2"/>
          <p:cNvSpPr/>
          <p:nvPr/>
        </p:nvSpPr>
        <p:spPr>
          <a:xfrm>
            <a:off x="457200" y="1325880"/>
            <a:ext cx="2606040" cy="1508760"/>
          </a:xfrm>
          <a:prstGeom prst="roundRect">
            <a:avLst>
              <a:gd name="adj" fmla="val 4848"/>
            </a:avLst>
          </a:prstGeom>
          <a:solidFill>
            <a:srgbClr val="E8F0EE"/>
          </a:solidFill>
          <a:ln w="12700">
            <a:solidFill>
              <a:srgbClr val="E8F0EE"/>
            </a:solidFill>
            <a:prstDash val="solid"/>
          </a:ln>
        </p:spPr>
      </p:sp>
      <p:sp>
        <p:nvSpPr>
          <p:cNvPr id="5" name="Text 3"/>
          <p:cNvSpPr txBox="1"/>
          <p:nvPr/>
        </p:nvSpPr>
        <p:spPr>
          <a:xfrm>
            <a:off x="457200" y="146304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74</a:t>
            </a:r>
            <a:endParaRPr lang="en-US" sz="4000" dirty="0"/>
          </a:p>
        </p:txBody>
      </p:sp>
      <p:sp>
        <p:nvSpPr>
          <p:cNvPr id="6" name="Text 4"/>
          <p:cNvSpPr txBox="1"/>
          <p:nvPr/>
        </p:nvSpPr>
        <p:spPr>
          <a:xfrm>
            <a:off x="548640" y="224028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business classes (+16 supporting)</a:t>
            </a:r>
            <a:endParaRPr lang="en-US" sz="1300" dirty="0"/>
          </a:p>
        </p:txBody>
      </p:sp>
      <p:sp>
        <p:nvSpPr>
          <p:cNvPr id="7" name="Shape 5"/>
          <p:cNvSpPr/>
          <p:nvPr/>
        </p:nvSpPr>
        <p:spPr>
          <a:xfrm>
            <a:off x="3246120" y="1325880"/>
            <a:ext cx="2606040" cy="1508760"/>
          </a:xfrm>
          <a:prstGeom prst="roundRect">
            <a:avLst>
              <a:gd name="adj" fmla="val 4848"/>
            </a:avLst>
          </a:prstGeom>
          <a:solidFill>
            <a:srgbClr val="E8F0EE"/>
          </a:solidFill>
          <a:ln w="12700">
            <a:solidFill>
              <a:srgbClr val="E8F0EE"/>
            </a:solidFill>
            <a:prstDash val="solid"/>
          </a:ln>
        </p:spPr>
      </p:sp>
      <p:sp>
        <p:nvSpPr>
          <p:cNvPr id="8" name="Text 6"/>
          <p:cNvSpPr txBox="1"/>
          <p:nvPr/>
        </p:nvSpPr>
        <p:spPr>
          <a:xfrm>
            <a:off x="3246120" y="146304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98</a:t>
            </a:r>
            <a:endParaRPr lang="en-US" sz="4000" dirty="0"/>
          </a:p>
        </p:txBody>
      </p:sp>
      <p:sp>
        <p:nvSpPr>
          <p:cNvPr id="9" name="Text 7"/>
          <p:cNvSpPr txBox="1"/>
          <p:nvPr/>
        </p:nvSpPr>
        <p:spPr>
          <a:xfrm>
            <a:off x="3337560" y="224028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Bank operations (80 commands)</a:t>
            </a:r>
            <a:endParaRPr lang="en-US" sz="1300" dirty="0"/>
          </a:p>
        </p:txBody>
      </p:sp>
      <p:sp>
        <p:nvSpPr>
          <p:cNvPr id="10" name="Shape 8"/>
          <p:cNvSpPr/>
          <p:nvPr/>
        </p:nvSpPr>
        <p:spPr>
          <a:xfrm>
            <a:off x="6035040" y="1325880"/>
            <a:ext cx="2606040" cy="1508760"/>
          </a:xfrm>
          <a:prstGeom prst="roundRect">
            <a:avLst>
              <a:gd name="adj" fmla="val 4848"/>
            </a:avLst>
          </a:prstGeom>
          <a:solidFill>
            <a:srgbClr val="E8F0EE"/>
          </a:solidFill>
          <a:ln w="12700">
            <a:solidFill>
              <a:srgbClr val="E8F0EE"/>
            </a:solidFill>
            <a:prstDash val="solid"/>
          </a:ln>
        </p:spPr>
      </p:sp>
      <p:sp>
        <p:nvSpPr>
          <p:cNvPr id="11" name="Text 9"/>
          <p:cNvSpPr txBox="1"/>
          <p:nvPr/>
        </p:nvSpPr>
        <p:spPr>
          <a:xfrm>
            <a:off x="6035040" y="146304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4</a:t>
            </a:r>
            <a:endParaRPr lang="en-US" sz="4000" dirty="0"/>
          </a:p>
        </p:txBody>
      </p:sp>
      <p:sp>
        <p:nvSpPr>
          <p:cNvPr id="12" name="Text 10"/>
          <p:cNvSpPr txBox="1"/>
          <p:nvPr/>
        </p:nvSpPr>
        <p:spPr>
          <a:xfrm>
            <a:off x="6126480" y="224028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multi-level hierarchies</a:t>
            </a:r>
            <a:endParaRPr lang="en-US" sz="1300" dirty="0"/>
          </a:p>
        </p:txBody>
      </p:sp>
      <p:sp>
        <p:nvSpPr>
          <p:cNvPr id="13" name="Shape 11"/>
          <p:cNvSpPr/>
          <p:nvPr/>
        </p:nvSpPr>
        <p:spPr>
          <a:xfrm>
            <a:off x="457200" y="3063240"/>
            <a:ext cx="2606040" cy="1508760"/>
          </a:xfrm>
          <a:prstGeom prst="roundRect">
            <a:avLst>
              <a:gd name="adj" fmla="val 4848"/>
            </a:avLst>
          </a:prstGeom>
          <a:solidFill>
            <a:srgbClr val="E8F0EE"/>
          </a:solidFill>
          <a:ln w="12700">
            <a:solidFill>
              <a:srgbClr val="E8F0EE"/>
            </a:solidFill>
            <a:prstDash val="solid"/>
          </a:ln>
        </p:spPr>
      </p:sp>
      <p:sp>
        <p:nvSpPr>
          <p:cNvPr id="14" name="Text 12"/>
          <p:cNvSpPr txBox="1"/>
          <p:nvPr/>
        </p:nvSpPr>
        <p:spPr>
          <a:xfrm>
            <a:off x="457200" y="320040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16</a:t>
            </a:r>
            <a:endParaRPr lang="en-US" sz="4000" dirty="0"/>
          </a:p>
        </p:txBody>
      </p:sp>
      <p:sp>
        <p:nvSpPr>
          <p:cNvPr id="15" name="Text 13"/>
          <p:cNvSpPr txBox="1"/>
          <p:nvPr/>
        </p:nvSpPr>
        <p:spPr>
          <a:xfrm>
            <a:off x="548640" y="397764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complex scenarios</a:t>
            </a:r>
            <a:endParaRPr lang="en-US" sz="1300" dirty="0"/>
          </a:p>
        </p:txBody>
      </p:sp>
      <p:sp>
        <p:nvSpPr>
          <p:cNvPr id="16" name="Shape 14"/>
          <p:cNvSpPr/>
          <p:nvPr/>
        </p:nvSpPr>
        <p:spPr>
          <a:xfrm>
            <a:off x="3246120" y="3063240"/>
            <a:ext cx="2606040" cy="1508760"/>
          </a:xfrm>
          <a:prstGeom prst="roundRect">
            <a:avLst>
              <a:gd name="adj" fmla="val 4848"/>
            </a:avLst>
          </a:prstGeom>
          <a:solidFill>
            <a:srgbClr val="E8F0EE"/>
          </a:solidFill>
          <a:ln w="12700">
            <a:solidFill>
              <a:srgbClr val="E8F0EE"/>
            </a:solidFill>
            <a:prstDash val="solid"/>
          </a:ln>
        </p:spPr>
      </p:sp>
      <p:sp>
        <p:nvSpPr>
          <p:cNvPr id="17" name="Text 15"/>
          <p:cNvSpPr txBox="1"/>
          <p:nvPr/>
        </p:nvSpPr>
        <p:spPr>
          <a:xfrm>
            <a:off x="3246120" y="320040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84</a:t>
            </a:r>
            <a:endParaRPr lang="en-US" sz="4000" dirty="0"/>
          </a:p>
        </p:txBody>
      </p:sp>
      <p:sp>
        <p:nvSpPr>
          <p:cNvPr id="18" name="Text 16"/>
          <p:cNvSpPr txBox="1"/>
          <p:nvPr/>
        </p:nvSpPr>
        <p:spPr>
          <a:xfrm>
            <a:off x="3337560" y="397764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automated tests</a:t>
            </a:r>
            <a:endParaRPr lang="en-US" sz="1300" dirty="0"/>
          </a:p>
        </p:txBody>
      </p:sp>
      <p:sp>
        <p:nvSpPr>
          <p:cNvPr id="19" name="Shape 17"/>
          <p:cNvSpPr/>
          <p:nvPr/>
        </p:nvSpPr>
        <p:spPr>
          <a:xfrm>
            <a:off x="6035040" y="3063240"/>
            <a:ext cx="2606040" cy="1508760"/>
          </a:xfrm>
          <a:prstGeom prst="roundRect">
            <a:avLst>
              <a:gd name="adj" fmla="val 4848"/>
            </a:avLst>
          </a:prstGeom>
          <a:solidFill>
            <a:srgbClr val="E8F0EE"/>
          </a:solidFill>
          <a:ln w="12700">
            <a:solidFill>
              <a:srgbClr val="E8F0EE"/>
            </a:solidFill>
            <a:prstDash val="solid"/>
          </a:ln>
        </p:spPr>
      </p:sp>
      <p:sp>
        <p:nvSpPr>
          <p:cNvPr id="20" name="Text 18"/>
          <p:cNvSpPr txBox="1"/>
          <p:nvPr/>
        </p:nvSpPr>
        <p:spPr>
          <a:xfrm>
            <a:off x="6035040" y="320040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0.00</a:t>
            </a:r>
            <a:endParaRPr lang="en-US" sz="4000" dirty="0"/>
          </a:p>
        </p:txBody>
      </p:sp>
      <p:sp>
        <p:nvSpPr>
          <p:cNvPr id="21" name="Text 19"/>
          <p:cNvSpPr txBox="1"/>
          <p:nvPr/>
        </p:nvSpPr>
        <p:spPr>
          <a:xfrm>
            <a:off x="6126480" y="397764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trial balance total</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Core rule: nothing that happened is ever deleted</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Four techniques answer every question of the form "what was true on date X?"</a:t>
            </a:r>
            <a:endParaRPr lang="en-US" sz="1200" dirty="0"/>
          </a:p>
        </p:txBody>
      </p:sp>
      <p:sp>
        <p:nvSpPr>
          <p:cNvPr id="4" name="Shape 2"/>
          <p:cNvSpPr/>
          <p:nvPr/>
        </p:nvSpPr>
        <p:spPr>
          <a:xfrm>
            <a:off x="457200" y="1325880"/>
            <a:ext cx="4023360" cy="1600200"/>
          </a:xfrm>
          <a:prstGeom prst="roundRect">
            <a:avLst>
              <a:gd name="adj" fmla="val 4571"/>
            </a:avLst>
          </a:prstGeom>
          <a:solidFill>
            <a:srgbClr val="E8F0EE"/>
          </a:solidFill>
          <a:ln w="12700">
            <a:solidFill>
              <a:srgbClr val="E8F0EE"/>
            </a:solidFill>
            <a:prstDash val="solid"/>
          </a:ln>
        </p:spPr>
      </p:sp>
      <p:sp>
        <p:nvSpPr>
          <p:cNvPr id="5" name="Shape 3"/>
          <p:cNvSpPr/>
          <p:nvPr/>
        </p:nvSpPr>
        <p:spPr>
          <a:xfrm>
            <a:off x="640080" y="1527048"/>
            <a:ext cx="384048" cy="384048"/>
          </a:xfrm>
          <a:prstGeom prst="ellipse">
            <a:avLst/>
          </a:prstGeom>
          <a:solidFill>
            <a:srgbClr val="B8862F"/>
          </a:solidFill>
          <a:ln/>
        </p:spPr>
      </p:sp>
      <p:sp>
        <p:nvSpPr>
          <p:cNvPr id="6" name="Text 4"/>
          <p:cNvSpPr txBox="1"/>
          <p:nvPr/>
        </p:nvSpPr>
        <p:spPr>
          <a:xfrm>
            <a:off x="640080" y="15270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5"/>
          <p:cNvSpPr txBox="1"/>
          <p:nvPr/>
        </p:nvSpPr>
        <p:spPr>
          <a:xfrm>
            <a:off x="1188720" y="150876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Periods</a:t>
            </a:r>
            <a:endParaRPr lang="en-US" sz="1700" dirty="0"/>
          </a:p>
        </p:txBody>
      </p:sp>
      <p:sp>
        <p:nvSpPr>
          <p:cNvPr id="8" name="Text 6"/>
          <p:cNvSpPr txBox="1"/>
          <p:nvPr/>
        </p:nvSpPr>
        <p:spPr>
          <a:xfrm>
            <a:off x="1188720" y="194767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Mandates, officer roles, ownerships, restrictions and RM assignments are valid from-to. Revoking closes the period.</a:t>
            </a:r>
            <a:endParaRPr lang="en-US" sz="1250" dirty="0"/>
          </a:p>
        </p:txBody>
      </p:sp>
      <p:sp>
        <p:nvSpPr>
          <p:cNvPr id="9" name="Shape 7"/>
          <p:cNvSpPr/>
          <p:nvPr/>
        </p:nvSpPr>
        <p:spPr>
          <a:xfrm>
            <a:off x="4663440" y="1325880"/>
            <a:ext cx="4023360" cy="1600200"/>
          </a:xfrm>
          <a:prstGeom prst="roundRect">
            <a:avLst>
              <a:gd name="adj" fmla="val 4571"/>
            </a:avLst>
          </a:prstGeom>
          <a:solidFill>
            <a:srgbClr val="E8F0EE"/>
          </a:solidFill>
          <a:ln w="12700">
            <a:solidFill>
              <a:srgbClr val="E8F0EE"/>
            </a:solidFill>
            <a:prstDash val="solid"/>
          </a:ln>
        </p:spPr>
      </p:sp>
      <p:sp>
        <p:nvSpPr>
          <p:cNvPr id="10" name="Shape 8"/>
          <p:cNvSpPr/>
          <p:nvPr/>
        </p:nvSpPr>
        <p:spPr>
          <a:xfrm>
            <a:off x="4846320" y="1527048"/>
            <a:ext cx="384048" cy="384048"/>
          </a:xfrm>
          <a:prstGeom prst="ellipse">
            <a:avLst/>
          </a:prstGeom>
          <a:solidFill>
            <a:srgbClr val="B8862F"/>
          </a:solidFill>
          <a:ln/>
        </p:spPr>
      </p:sp>
      <p:sp>
        <p:nvSpPr>
          <p:cNvPr id="11" name="Text 9"/>
          <p:cNvSpPr txBox="1"/>
          <p:nvPr/>
        </p:nvSpPr>
        <p:spPr>
          <a:xfrm>
            <a:off x="4846320" y="15270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2" name="Text 10"/>
          <p:cNvSpPr txBox="1"/>
          <p:nvPr/>
        </p:nvSpPr>
        <p:spPr>
          <a:xfrm>
            <a:off x="5394960" y="150876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Status histories</a:t>
            </a:r>
            <a:endParaRPr lang="en-US" sz="1700" dirty="0"/>
          </a:p>
        </p:txBody>
      </p:sp>
      <p:sp>
        <p:nvSpPr>
          <p:cNvPr id="13" name="Text 11"/>
          <p:cNvSpPr txBox="1"/>
          <p:nvPr/>
        </p:nvSpPr>
        <p:spPr>
          <a:xfrm>
            <a:off x="5394960" y="194767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Every lifecycle keeps each status with date, actor and reason, so status_on(date) is answerable.</a:t>
            </a:r>
            <a:endParaRPr lang="en-US" sz="1250" dirty="0"/>
          </a:p>
        </p:txBody>
      </p:sp>
      <p:sp>
        <p:nvSpPr>
          <p:cNvPr id="14" name="Shape 12"/>
          <p:cNvSpPr/>
          <p:nvPr/>
        </p:nvSpPr>
        <p:spPr>
          <a:xfrm>
            <a:off x="457200" y="3108960"/>
            <a:ext cx="4023360" cy="1600200"/>
          </a:xfrm>
          <a:prstGeom prst="roundRect">
            <a:avLst>
              <a:gd name="adj" fmla="val 4571"/>
            </a:avLst>
          </a:prstGeom>
          <a:solidFill>
            <a:srgbClr val="E8F0EE"/>
          </a:solidFill>
          <a:ln w="12700">
            <a:solidFill>
              <a:srgbClr val="E8F0EE"/>
            </a:solidFill>
            <a:prstDash val="solid"/>
          </a:ln>
        </p:spPr>
      </p:sp>
      <p:sp>
        <p:nvSpPr>
          <p:cNvPr id="15" name="Shape 13"/>
          <p:cNvSpPr/>
          <p:nvPr/>
        </p:nvSpPr>
        <p:spPr>
          <a:xfrm>
            <a:off x="640080" y="3310128"/>
            <a:ext cx="384048" cy="384048"/>
          </a:xfrm>
          <a:prstGeom prst="ellipse">
            <a:avLst/>
          </a:prstGeom>
          <a:solidFill>
            <a:srgbClr val="B8862F"/>
          </a:solidFill>
          <a:ln/>
        </p:spPr>
      </p:sp>
      <p:sp>
        <p:nvSpPr>
          <p:cNvPr id="16" name="Text 14"/>
          <p:cNvSpPr txBox="1"/>
          <p:nvPr/>
        </p:nvSpPr>
        <p:spPr>
          <a:xfrm>
            <a:off x="640080" y="33101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7" name="Text 15"/>
          <p:cNvSpPr txBox="1"/>
          <p:nvPr/>
        </p:nvSpPr>
        <p:spPr>
          <a:xfrm>
            <a:off x="1188720" y="329184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Versions</a:t>
            </a:r>
            <a:endParaRPr lang="en-US" sz="1700" dirty="0"/>
          </a:p>
        </p:txBody>
      </p:sp>
      <p:sp>
        <p:nvSpPr>
          <p:cNvPr id="18" name="Text 16"/>
          <p:cNvSpPr txBox="1"/>
          <p:nvPr/>
        </p:nvSpPr>
        <p:spPr>
          <a:xfrm>
            <a:off x="1188720" y="373075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Product terms, beneficiary details and repayment schedules change by adding a version, never by editing.</a:t>
            </a:r>
            <a:endParaRPr lang="en-US" sz="1250" dirty="0"/>
          </a:p>
        </p:txBody>
      </p:sp>
      <p:sp>
        <p:nvSpPr>
          <p:cNvPr id="19" name="Shape 17"/>
          <p:cNvSpPr/>
          <p:nvPr/>
        </p:nvSpPr>
        <p:spPr>
          <a:xfrm>
            <a:off x="4663440" y="3108960"/>
            <a:ext cx="4023360" cy="1600200"/>
          </a:xfrm>
          <a:prstGeom prst="roundRect">
            <a:avLst>
              <a:gd name="adj" fmla="val 4571"/>
            </a:avLst>
          </a:prstGeom>
          <a:solidFill>
            <a:srgbClr val="E8F0EE"/>
          </a:solidFill>
          <a:ln w="12700">
            <a:solidFill>
              <a:srgbClr val="E8F0EE"/>
            </a:solidFill>
            <a:prstDash val="solid"/>
          </a:ln>
        </p:spPr>
      </p:sp>
      <p:sp>
        <p:nvSpPr>
          <p:cNvPr id="20" name="Shape 18"/>
          <p:cNvSpPr/>
          <p:nvPr/>
        </p:nvSpPr>
        <p:spPr>
          <a:xfrm>
            <a:off x="4846320" y="3310128"/>
            <a:ext cx="384048" cy="384048"/>
          </a:xfrm>
          <a:prstGeom prst="ellipse">
            <a:avLst/>
          </a:prstGeom>
          <a:solidFill>
            <a:srgbClr val="B8862F"/>
          </a:solidFill>
          <a:ln/>
        </p:spPr>
      </p:sp>
      <p:sp>
        <p:nvSpPr>
          <p:cNvPr id="21" name="Text 19"/>
          <p:cNvSpPr txBox="1"/>
          <p:nvPr/>
        </p:nvSpPr>
        <p:spPr>
          <a:xfrm>
            <a:off x="4846320" y="33101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22" name="Text 20"/>
          <p:cNvSpPr txBox="1"/>
          <p:nvPr/>
        </p:nvSpPr>
        <p:spPr>
          <a:xfrm>
            <a:off x="5394960" y="329184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Counter-records</a:t>
            </a:r>
            <a:endParaRPr lang="en-US" sz="1700" dirty="0"/>
          </a:p>
        </p:txBody>
      </p:sp>
      <p:sp>
        <p:nvSpPr>
          <p:cNvPr id="23" name="Text 21"/>
          <p:cNvSpPr txBox="1"/>
          <p:nvPr/>
        </p:nvSpPr>
        <p:spPr>
          <a:xfrm>
            <a:off x="5394960" y="373075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Money is never edited: a Reversal posts equal and opposite entries; the original stays.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The class model at a glance</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Inheritance only for a true "is-a"; everything else is association</a:t>
            </a:r>
            <a:endParaRPr lang="en-US" sz="1200" dirty="0"/>
          </a:p>
        </p:txBody>
      </p:sp>
      <p:pic>
        <p:nvPicPr>
          <p:cNvPr id="4" name="Image 0" descr="/home/user/commercial-banking/docs/slide_overview.png">    </p:cNvPr>
          <p:cNvPicPr>
            <a:picLocks noChangeAspect="1"/>
          </p:cNvPicPr>
          <p:nvPr/>
        </p:nvPicPr>
        <p:blipFill>
          <a:blip r:embed="rId1"/>
          <a:stretch>
            <a:fillRect/>
          </a:stretch>
        </p:blipFill>
        <p:spPr>
          <a:xfrm>
            <a:off x="1361440" y="1188720"/>
            <a:ext cx="6421120" cy="361188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Parties: Party hierarchy</a:t>
            </a:r>
            <a:endParaRPr lang="en-US" sz="2800" dirty="0"/>
          </a:p>
        </p:txBody>
      </p:sp>
      <p:sp>
        <p:nvSpPr>
          <p:cNvPr id="3" name="Shape 1"/>
          <p:cNvSpPr/>
          <p:nvPr/>
        </p:nvSpPr>
        <p:spPr>
          <a:xfrm>
            <a:off x="365760" y="1051560"/>
            <a:ext cx="5760720" cy="3429000"/>
          </a:xfrm>
          <a:prstGeom prst="roundRect">
            <a:avLst>
              <a:gd name="adj" fmla="val 2133"/>
            </a:avLst>
          </a:prstGeom>
          <a:solidFill>
            <a:srgbClr val="F4F8F7"/>
          </a:solidFill>
          <a:ln w="12700">
            <a:solidFill>
              <a:srgbClr val="F4F8F7"/>
            </a:solidFill>
            <a:prstDash val="solid"/>
          </a:ln>
        </p:spPr>
      </p:sp>
      <p:pic>
        <p:nvPicPr>
          <p:cNvPr id="4" name="Image 0" descr="/home/user/commercial-banking/docs/slide_parties.png">    </p:cNvPr>
          <p:cNvPicPr>
            <a:picLocks noChangeAspect="1"/>
          </p:cNvPicPr>
          <p:nvPr/>
        </p:nvPicPr>
        <p:blipFill>
          <a:blip r:embed="rId1"/>
          <a:stretch>
            <a:fillRect/>
          </a:stretch>
        </p:blipFill>
        <p:spPr>
          <a:xfrm>
            <a:off x="411480" y="1171575"/>
            <a:ext cx="5669280" cy="3188970"/>
          </a:xfrm>
          <a:prstGeom prst="rect">
            <a:avLst/>
          </a:prstGeom>
        </p:spPr>
      </p:pic>
      <p:sp>
        <p:nvSpPr>
          <p:cNvPr id="5" name="Text 2"/>
          <p:cNvSpPr txBox="1"/>
          <p:nvPr/>
        </p:nvSpPr>
        <p:spPr>
          <a:xfrm>
            <a:off x="6309360" y="1097280"/>
            <a:ext cx="2468880" cy="3657600"/>
          </a:xfrm>
          <a:prstGeom prst="rect">
            <a:avLst/>
          </a:prstGeom>
          <a:noFill/>
          <a:ln/>
        </p:spPr>
        <p:txBody>
          <a:bodyPr wrap="square" lIns="635" tIns="635" rIns="635" bIns="635" rtlCol="0" anchor="t"/>
          <a:lstStyle/>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Party: identity, documents, checks, KYC</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Organization adds officers, owners, mandates</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Company: a director; Charity: 2 trustees</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kyc_gaps() is a template method</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Customer, director, signatory are roles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Arrangements: Arrangement hierarchy</a:t>
            </a:r>
            <a:endParaRPr lang="en-US" sz="2800" dirty="0"/>
          </a:p>
        </p:txBody>
      </p:sp>
      <p:sp>
        <p:nvSpPr>
          <p:cNvPr id="3" name="Shape 1"/>
          <p:cNvSpPr/>
          <p:nvPr/>
        </p:nvSpPr>
        <p:spPr>
          <a:xfrm>
            <a:off x="365760" y="1051560"/>
            <a:ext cx="5760720" cy="3429000"/>
          </a:xfrm>
          <a:prstGeom prst="roundRect">
            <a:avLst>
              <a:gd name="adj" fmla="val 2133"/>
            </a:avLst>
          </a:prstGeom>
          <a:solidFill>
            <a:srgbClr val="F4F8F7"/>
          </a:solidFill>
          <a:ln w="12700">
            <a:solidFill>
              <a:srgbClr val="F4F8F7"/>
            </a:solidFill>
            <a:prstDash val="solid"/>
          </a:ln>
        </p:spPr>
      </p:sp>
      <p:pic>
        <p:nvPicPr>
          <p:cNvPr id="4" name="Image 0" descr="/home/user/commercial-banking/docs/slide_arrangements.png">    </p:cNvPr>
          <p:cNvPicPr>
            <a:picLocks noChangeAspect="1"/>
          </p:cNvPicPr>
          <p:nvPr/>
        </p:nvPicPr>
        <p:blipFill>
          <a:blip r:embed="rId1"/>
          <a:stretch>
            <a:fillRect/>
          </a:stretch>
        </p:blipFill>
        <p:spPr>
          <a:xfrm>
            <a:off x="411480" y="1171575"/>
            <a:ext cx="5669280" cy="3188970"/>
          </a:xfrm>
          <a:prstGeom prst="rect">
            <a:avLst/>
          </a:prstGeom>
        </p:spPr>
      </p:pic>
      <p:sp>
        <p:nvSpPr>
          <p:cNvPr id="5" name="Text 2"/>
          <p:cNvSpPr txBox="1"/>
          <p:nvPr/>
        </p:nvSpPr>
        <p:spPr>
          <a:xfrm>
            <a:off x="6309360" y="1097280"/>
            <a:ext cx="2468880" cy="3657600"/>
          </a:xfrm>
          <a:prstGeom prst="rect">
            <a:avLst/>
          </a:prstGeom>
          <a:noFill/>
          <a:ln/>
        </p:spPr>
        <p:txBody>
          <a:bodyPr wrap="square" lIns="635" tIns="635" rIns="635" bIns="635" rtlCol="0" anchor="t"/>
          <a:lstStyle/>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Arrangement: product, pinned terms, holders</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DepositAccount adds ledger, holds, balances</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Each subclass changes one rule: overdraft, monthly limit, maturity</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FinancingAgreement holds no customer money: a sibling</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Transactions: BankTransaction hierarchy</a:t>
            </a:r>
            <a:endParaRPr lang="en-US" sz="2800" dirty="0"/>
          </a:p>
        </p:txBody>
      </p:sp>
      <p:sp>
        <p:nvSpPr>
          <p:cNvPr id="3" name="Shape 1"/>
          <p:cNvSpPr/>
          <p:nvPr/>
        </p:nvSpPr>
        <p:spPr>
          <a:xfrm>
            <a:off x="365760" y="1051560"/>
            <a:ext cx="5760720" cy="3429000"/>
          </a:xfrm>
          <a:prstGeom prst="roundRect">
            <a:avLst>
              <a:gd name="adj" fmla="val 2133"/>
            </a:avLst>
          </a:prstGeom>
          <a:solidFill>
            <a:srgbClr val="F4F8F7"/>
          </a:solidFill>
          <a:ln w="12700">
            <a:solidFill>
              <a:srgbClr val="F4F8F7"/>
            </a:solidFill>
            <a:prstDash val="solid"/>
          </a:ln>
        </p:spPr>
      </p:sp>
      <p:pic>
        <p:nvPicPr>
          <p:cNvPr id="4" name="Image 0" descr="/home/user/commercial-banking/docs/slide_transactions.png">    </p:cNvPr>
          <p:cNvPicPr>
            <a:picLocks noChangeAspect="1"/>
          </p:cNvPicPr>
          <p:nvPr/>
        </p:nvPicPr>
        <p:blipFill>
          <a:blip r:embed="rId1"/>
          <a:stretch>
            <a:fillRect/>
          </a:stretch>
        </p:blipFill>
        <p:spPr>
          <a:xfrm>
            <a:off x="411480" y="1171575"/>
            <a:ext cx="5669280" cy="3188970"/>
          </a:xfrm>
          <a:prstGeom prst="rect">
            <a:avLst/>
          </a:prstGeom>
        </p:spPr>
      </p:pic>
      <p:sp>
        <p:nvSpPr>
          <p:cNvPr id="5" name="Text 2"/>
          <p:cNvSpPr txBox="1"/>
          <p:nvPr/>
        </p:nvSpPr>
        <p:spPr>
          <a:xfrm>
            <a:off x="6309360" y="1097280"/>
            <a:ext cx="2468880" cy="3657600"/>
          </a:xfrm>
          <a:prstGeom prst="rect">
            <a:avLst/>
          </a:prstGeom>
          <a:noFill/>
          <a:ln/>
        </p:spPr>
        <p:txBody>
          <a:bodyPr wrap="square" lIns="635" tIns="635" rIns="635" bIns="635" rtlCol="0" anchor="t"/>
          <a:lstStyle/>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BankTransaction: amount, status, ledger entries</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CustomerPayment adds mandate and 2nd signatory</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Reversal -&gt; Chargeback: new records, never edits</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MerchantRefund is NOT a Reversal</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Cases: Case hierarchy</a:t>
            </a:r>
            <a:endParaRPr lang="en-US" sz="2800" dirty="0"/>
          </a:p>
        </p:txBody>
      </p:sp>
      <p:sp>
        <p:nvSpPr>
          <p:cNvPr id="3" name="Shape 1"/>
          <p:cNvSpPr/>
          <p:nvPr/>
        </p:nvSpPr>
        <p:spPr>
          <a:xfrm>
            <a:off x="365760" y="1051560"/>
            <a:ext cx="5760720" cy="3429000"/>
          </a:xfrm>
          <a:prstGeom prst="roundRect">
            <a:avLst>
              <a:gd name="adj" fmla="val 2133"/>
            </a:avLst>
          </a:prstGeom>
          <a:solidFill>
            <a:srgbClr val="F4F8F7"/>
          </a:solidFill>
          <a:ln w="12700">
            <a:solidFill>
              <a:srgbClr val="F4F8F7"/>
            </a:solidFill>
            <a:prstDash val="solid"/>
          </a:ln>
        </p:spPr>
      </p:sp>
      <p:pic>
        <p:nvPicPr>
          <p:cNvPr id="4" name="Image 0" descr="/home/user/commercial-banking/docs/slide_cases.png">    </p:cNvPr>
          <p:cNvPicPr>
            <a:picLocks noChangeAspect="1"/>
          </p:cNvPicPr>
          <p:nvPr/>
        </p:nvPicPr>
        <p:blipFill>
          <a:blip r:embed="rId1"/>
          <a:stretch>
            <a:fillRect/>
          </a:stretch>
        </p:blipFill>
        <p:spPr>
          <a:xfrm>
            <a:off x="411480" y="1171575"/>
            <a:ext cx="5669280" cy="3188970"/>
          </a:xfrm>
          <a:prstGeom prst="rect">
            <a:avLst/>
          </a:prstGeom>
        </p:spPr>
      </p:pic>
      <p:sp>
        <p:nvSpPr>
          <p:cNvPr id="5" name="Text 2"/>
          <p:cNvSpPr txBox="1"/>
          <p:nvPr/>
        </p:nvSpPr>
        <p:spPr>
          <a:xfrm>
            <a:off x="6309360" y="1097280"/>
            <a:ext cx="2468880" cy="3657600"/>
          </a:xfrm>
          <a:prstGeom prst="rect">
            <a:avLst/>
          </a:prstGeom>
          <a:noFill/>
          <a:ln/>
        </p:spPr>
        <p:txBody>
          <a:bodyPr wrap="square" lIns="635" tIns="635" rIns="635" bIns="635" rtlCol="0" anchor="t"/>
          <a:lstStyle/>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Case: subject, status, notes, evidence</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CustomerCase: channel and contact person</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RiskCase: restrictions; cannot close while one is live</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CollectionsCase: overdue loan, promises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Abstract classes and inherited state machines</a:t>
            </a:r>
            <a:endParaRPr lang="en-US" sz="2200" dirty="0"/>
          </a:p>
        </p:txBody>
      </p:sp>
      <p:sp>
        <p:nvSpPr>
          <p:cNvPr id="3" name="Text 1"/>
          <p:cNvSpPr txBox="1"/>
          <p:nvPr/>
        </p:nvSpPr>
        <p:spPr>
          <a:xfrm>
            <a:off x="457200" y="1097280"/>
            <a:ext cx="3749040" cy="356616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Hierarchy roots are abstract (my own Abstract class): no "plain" transaction or party can exist</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Abstract methods differ by class: counterparty(), overdraft_limit(), position(), handler_roles()</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Type checks replaced by polymorphism: transaction_story is txn.story_lines()</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Each class declares its LIFECYCLE; StatusHistory refuses any other move</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Subclasses extend it: CustomerPayment adds dual control, TransferPayment the review hold</a:t>
            </a:r>
            <a:endParaRPr lang="en-US" sz="1300" dirty="0"/>
          </a:p>
        </p:txBody>
      </p:sp>
      <p:sp>
        <p:nvSpPr>
          <p:cNvPr id="4" name="Shape 2"/>
          <p:cNvSpPr/>
          <p:nvPr/>
        </p:nvSpPr>
        <p:spPr>
          <a:xfrm>
            <a:off x="4434840" y="1005840"/>
            <a:ext cx="4251960" cy="3794760"/>
          </a:xfrm>
          <a:prstGeom prst="roundRect">
            <a:avLst>
              <a:gd name="adj" fmla="val 1928"/>
            </a:avLst>
          </a:prstGeom>
          <a:solidFill>
            <a:srgbClr val="F4F8F7"/>
          </a:solidFill>
          <a:ln w="12700">
            <a:solidFill>
              <a:srgbClr val="F4F8F7"/>
            </a:solidFill>
            <a:prstDash val="solid"/>
          </a:ln>
        </p:spPr>
      </p:sp>
      <p:pic>
        <p:nvPicPr>
          <p:cNvPr id="5" name="Image 0" descr="/home/user/commercial-banking/docs/state_1_payment.png">    </p:cNvPr>
          <p:cNvPicPr>
            <a:picLocks noChangeAspect="1"/>
          </p:cNvPicPr>
          <p:nvPr/>
        </p:nvPicPr>
        <p:blipFill>
          <a:blip r:embed="rId1"/>
          <a:stretch>
            <a:fillRect/>
          </a:stretch>
        </p:blipFill>
        <p:spPr>
          <a:xfrm>
            <a:off x="4526280" y="1668518"/>
            <a:ext cx="4069080" cy="2469404"/>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Tempting inheritances I rejected</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Fourteen in the report; four of the strongest</a:t>
            </a:r>
            <a:endParaRPr lang="en-US" sz="1200" dirty="0"/>
          </a:p>
        </p:txBody>
      </p:sp>
      <p:sp>
        <p:nvSpPr>
          <p:cNvPr id="4" name="Shape 2"/>
          <p:cNvSpPr/>
          <p:nvPr/>
        </p:nvSpPr>
        <p:spPr>
          <a:xfrm>
            <a:off x="457200" y="1325880"/>
            <a:ext cx="4023360" cy="1600200"/>
          </a:xfrm>
          <a:prstGeom prst="roundRect">
            <a:avLst>
              <a:gd name="adj" fmla="val 4571"/>
            </a:avLst>
          </a:prstGeom>
          <a:solidFill>
            <a:srgbClr val="E8F0EE"/>
          </a:solidFill>
          <a:ln w="12700">
            <a:solidFill>
              <a:srgbClr val="E8F0EE"/>
            </a:solidFill>
            <a:prstDash val="solid"/>
          </a:ln>
        </p:spPr>
      </p:sp>
      <p:sp>
        <p:nvSpPr>
          <p:cNvPr id="5" name="Text 3"/>
          <p:cNvSpPr txBox="1"/>
          <p:nvPr/>
        </p:nvSpPr>
        <p:spPr>
          <a:xfrm>
            <a:off x="640080" y="152704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6" name="Text 4"/>
          <p:cNvSpPr txBox="1"/>
          <p:nvPr/>
        </p:nvSpPr>
        <p:spPr>
          <a:xfrm>
            <a:off x="1188720" y="150876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Customer(Person)</a:t>
            </a:r>
            <a:endParaRPr lang="en-US" sz="1100" dirty="0"/>
          </a:p>
        </p:txBody>
      </p:sp>
      <p:sp>
        <p:nvSpPr>
          <p:cNvPr id="7" name="Text 5"/>
          <p:cNvSpPr txBox="1"/>
          <p:nvPr/>
        </p:nvSpPr>
        <p:spPr>
          <a:xfrm>
            <a:off x="1188720" y="196596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One human is customer, director and signatory at once; roles start and end on different dates.</a:t>
            </a:r>
            <a:endParaRPr lang="en-US" sz="1250" dirty="0"/>
          </a:p>
        </p:txBody>
      </p:sp>
      <p:sp>
        <p:nvSpPr>
          <p:cNvPr id="8" name="Shape 6"/>
          <p:cNvSpPr/>
          <p:nvPr/>
        </p:nvSpPr>
        <p:spPr>
          <a:xfrm>
            <a:off x="4663440" y="1325880"/>
            <a:ext cx="4023360" cy="1600200"/>
          </a:xfrm>
          <a:prstGeom prst="roundRect">
            <a:avLst>
              <a:gd name="adj" fmla="val 4571"/>
            </a:avLst>
          </a:prstGeom>
          <a:solidFill>
            <a:srgbClr val="E8F0EE"/>
          </a:solidFill>
          <a:ln w="12700">
            <a:solidFill>
              <a:srgbClr val="E8F0EE"/>
            </a:solidFill>
            <a:prstDash val="solid"/>
          </a:ln>
        </p:spPr>
      </p:sp>
      <p:sp>
        <p:nvSpPr>
          <p:cNvPr id="9" name="Text 7"/>
          <p:cNvSpPr txBox="1"/>
          <p:nvPr/>
        </p:nvSpPr>
        <p:spPr>
          <a:xfrm>
            <a:off x="4846320" y="152704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10" name="Text 8"/>
          <p:cNvSpPr txBox="1"/>
          <p:nvPr/>
        </p:nvSpPr>
        <p:spPr>
          <a:xfrm>
            <a:off x="5394960" y="150876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IssuedCard(DepositAccount)</a:t>
            </a:r>
            <a:endParaRPr lang="en-US" sz="1100" dirty="0"/>
          </a:p>
        </p:txBody>
      </p:sp>
      <p:sp>
        <p:nvSpPr>
          <p:cNvPr id="11" name="Text 9"/>
          <p:cNvSpPr txBox="1"/>
          <p:nvPr/>
        </p:nvSpPr>
        <p:spPr>
          <a:xfrm>
            <a:off x="5394960" y="196596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A card holds no money and many cards share one account: it is a credential.</a:t>
            </a:r>
            <a:endParaRPr lang="en-US" sz="1250" dirty="0"/>
          </a:p>
        </p:txBody>
      </p:sp>
      <p:sp>
        <p:nvSpPr>
          <p:cNvPr id="12" name="Shape 10"/>
          <p:cNvSpPr/>
          <p:nvPr/>
        </p:nvSpPr>
        <p:spPr>
          <a:xfrm>
            <a:off x="457200" y="3108960"/>
            <a:ext cx="4023360" cy="1600200"/>
          </a:xfrm>
          <a:prstGeom prst="roundRect">
            <a:avLst>
              <a:gd name="adj" fmla="val 4571"/>
            </a:avLst>
          </a:prstGeom>
          <a:solidFill>
            <a:srgbClr val="E8F0EE"/>
          </a:solidFill>
          <a:ln w="12700">
            <a:solidFill>
              <a:srgbClr val="E8F0EE"/>
            </a:solidFill>
            <a:prstDash val="solid"/>
          </a:ln>
        </p:spPr>
      </p:sp>
      <p:sp>
        <p:nvSpPr>
          <p:cNvPr id="13" name="Text 11"/>
          <p:cNvSpPr txBox="1"/>
          <p:nvPr/>
        </p:nvSpPr>
        <p:spPr>
          <a:xfrm>
            <a:off x="640080" y="331012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14" name="Text 12"/>
          <p:cNvSpPr txBox="1"/>
          <p:nvPr/>
        </p:nvSpPr>
        <p:spPr>
          <a:xfrm>
            <a:off x="1188720" y="329184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FinancingAgreement(DepositAccount)</a:t>
            </a:r>
            <a:endParaRPr lang="en-US" sz="1100" dirty="0"/>
          </a:p>
        </p:txBody>
      </p:sp>
      <p:sp>
        <p:nvSpPr>
          <p:cNvPr id="15" name="Text 13"/>
          <p:cNvSpPr txBox="1"/>
          <p:nvPr/>
        </p:nvSpPr>
        <p:spPr>
          <a:xfrm>
            <a:off x="1188720" y="374904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A loan has no ledger of customer funds, holds or available balance.</a:t>
            </a:r>
            <a:endParaRPr lang="en-US" sz="1250" dirty="0"/>
          </a:p>
        </p:txBody>
      </p:sp>
      <p:sp>
        <p:nvSpPr>
          <p:cNvPr id="16" name="Shape 14"/>
          <p:cNvSpPr/>
          <p:nvPr/>
        </p:nvSpPr>
        <p:spPr>
          <a:xfrm>
            <a:off x="4663440" y="3108960"/>
            <a:ext cx="4023360" cy="1600200"/>
          </a:xfrm>
          <a:prstGeom prst="roundRect">
            <a:avLst>
              <a:gd name="adj" fmla="val 4571"/>
            </a:avLst>
          </a:prstGeom>
          <a:solidFill>
            <a:srgbClr val="E8F0EE"/>
          </a:solidFill>
          <a:ln w="12700">
            <a:solidFill>
              <a:srgbClr val="E8F0EE"/>
            </a:solidFill>
            <a:prstDash val="solid"/>
          </a:ln>
        </p:spPr>
      </p:sp>
      <p:sp>
        <p:nvSpPr>
          <p:cNvPr id="17" name="Text 15"/>
          <p:cNvSpPr txBox="1"/>
          <p:nvPr/>
        </p:nvSpPr>
        <p:spPr>
          <a:xfrm>
            <a:off x="4846320" y="331012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18" name="Text 16"/>
          <p:cNvSpPr txBox="1"/>
          <p:nvPr/>
        </p:nvSpPr>
        <p:spPr>
          <a:xfrm>
            <a:off x="5394960" y="329184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MerchantRefund(Reversal)</a:t>
            </a:r>
            <a:endParaRPr lang="en-US" sz="1100" dirty="0"/>
          </a:p>
        </p:txBody>
      </p:sp>
      <p:sp>
        <p:nvSpPr>
          <p:cNvPr id="19" name="Text 17"/>
          <p:cNvSpPr txBox="1"/>
          <p:nvPr/>
        </p:nvSpPr>
        <p:spPr>
          <a:xfrm>
            <a:off x="5394960" y="374904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The merchant starts it, no bank approval, and the purchase stays POSTED: not an undo.</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Why not the obvious alternative?</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An account-centric model: Customer with flags, Account with a type field, edits in place</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286000"/>
                <a:gridCol w="2880360"/>
                <a:gridCol w="3063240"/>
              </a:tblGrid>
              <a:tr h="45720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Critical case</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0B4F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Account-centric alternative</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0B4F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This design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0B4F4A"/>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Signatory loses authority</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is_signatory = False erases the past</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Mandate with a Period; payments keep it</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Posted, reversed, disputed</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amount edited, original lost</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Reversal, re-post and Chargeback records</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Card replaced several times</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one card_number overwritten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IssuedCard chain; each payment keeps its card</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Loan restructured</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installments rewritten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new schedule version; paid stay PAID</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Product withdrawn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is_active blocks old customers too</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sale status + pinned terms version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r>
            </a:tbl>
          </a:graphicData>
        </a:graphic>
      </p:graphicFrame>
      <p:sp>
        <p:nvSpPr>
          <p:cNvPr id="5" name="Text 2"/>
          <p:cNvSpPr txBox="1"/>
          <p:nvPr/>
        </p:nvSpPr>
        <p:spPr>
          <a:xfrm>
            <a:off x="457200" y="4526280"/>
            <a:ext cx="8229600" cy="36576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The alternative fails all ten critical cases (report section 7.1).</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Checked against SOLID and design patterns</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The course's principles used as a checklist on the finished code: two problems found and fixed</a:t>
            </a:r>
            <a:endParaRPr lang="en-US" sz="1200" dirty="0"/>
          </a:p>
        </p:txBody>
      </p:sp>
      <p:sp>
        <p:nvSpPr>
          <p:cNvPr id="4" name="Shape 2"/>
          <p:cNvSpPr/>
          <p:nvPr/>
        </p:nvSpPr>
        <p:spPr>
          <a:xfrm>
            <a:off x="457200" y="1234440"/>
            <a:ext cx="384048" cy="384048"/>
          </a:xfrm>
          <a:prstGeom prst="ellipse">
            <a:avLst/>
          </a:prstGeom>
          <a:solidFill>
            <a:srgbClr val="B8862F"/>
          </a:solidFill>
          <a:ln/>
        </p:spPr>
      </p:sp>
      <p:sp>
        <p:nvSpPr>
          <p:cNvPr id="5" name="Text 3"/>
          <p:cNvSpPr txBox="1"/>
          <p:nvPr/>
        </p:nvSpPr>
        <p:spPr>
          <a:xfrm>
            <a:off x="457200" y="12344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S</a:t>
            </a:r>
            <a:endParaRPr lang="en-US" sz="1400" dirty="0"/>
          </a:p>
        </p:txBody>
      </p:sp>
      <p:sp>
        <p:nvSpPr>
          <p:cNvPr id="6" name="Text 4"/>
          <p:cNvSpPr txBox="1"/>
          <p:nvPr/>
        </p:nvSpPr>
        <p:spPr>
          <a:xfrm>
            <a:off x="960120" y="1188720"/>
            <a:ext cx="3977640" cy="512064"/>
          </a:xfrm>
          <a:prstGeom prst="rect">
            <a:avLst/>
          </a:prstGeom>
          <a:noFill/>
          <a:ln/>
        </p:spPr>
        <p:txBody>
          <a:bodyPr wrap="square" lIns="0" tIns="0" rIns="0" bIns="0" rtlCol="0" anchor="ctr"/>
          <a:lstStyle/>
          <a:p>
            <a:pPr indent="0" marL="0">
              <a:buNone/>
            </a:pPr>
            <a:r>
              <a:rPr lang="en-US" sz="1200" dirty="0">
                <a:solidFill>
                  <a:srgbClr val="1D2B2A"/>
                </a:solidFill>
                <a:latin typeface="Calibri" pitchFamily="34" charset="0"/>
                <a:ea typeface="Calibri" pitchFamily="34" charset="-122"/>
                <a:cs typeface="Calibri" pitchFamily="34" charset="-120"/>
              </a:rPr>
              <a:t>One job per class (Period, StatusHistory, Iban). Bank coordinates; honest limit: it is large</a:t>
            </a:r>
            <a:endParaRPr lang="en-US" sz="1200" dirty="0"/>
          </a:p>
        </p:txBody>
      </p:sp>
      <p:sp>
        <p:nvSpPr>
          <p:cNvPr id="7" name="Shape 5"/>
          <p:cNvSpPr/>
          <p:nvPr/>
        </p:nvSpPr>
        <p:spPr>
          <a:xfrm>
            <a:off x="457200" y="1837944"/>
            <a:ext cx="384048" cy="384048"/>
          </a:xfrm>
          <a:prstGeom prst="ellipse">
            <a:avLst/>
          </a:prstGeom>
          <a:solidFill>
            <a:srgbClr val="B8862F"/>
          </a:solidFill>
          <a:ln/>
        </p:spPr>
      </p:sp>
      <p:sp>
        <p:nvSpPr>
          <p:cNvPr id="8" name="Text 6"/>
          <p:cNvSpPr txBox="1"/>
          <p:nvPr/>
        </p:nvSpPr>
        <p:spPr>
          <a:xfrm>
            <a:off x="457200" y="18379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O</a:t>
            </a:r>
            <a:endParaRPr lang="en-US" sz="1400" dirty="0"/>
          </a:p>
        </p:txBody>
      </p:sp>
      <p:sp>
        <p:nvSpPr>
          <p:cNvPr id="9" name="Text 7"/>
          <p:cNvSpPr txBox="1"/>
          <p:nvPr/>
        </p:nvSpPr>
        <p:spPr>
          <a:xfrm>
            <a:off x="960120" y="1792224"/>
            <a:ext cx="3977640" cy="512064"/>
          </a:xfrm>
          <a:prstGeom prst="rect">
            <a:avLst/>
          </a:prstGeom>
          <a:noFill/>
          <a:ln/>
        </p:spPr>
        <p:txBody>
          <a:bodyPr wrap="square" lIns="0" tIns="0" rIns="0" bIns="0" rtlCol="0" anchor="ctr"/>
          <a:lstStyle/>
          <a:p>
            <a:pPr indent="0" marL="0">
              <a:buNone/>
            </a:pPr>
            <a:r>
              <a:rPr lang="en-US" sz="1200" dirty="0">
                <a:solidFill>
                  <a:srgbClr val="1D2B2A"/>
                </a:solidFill>
                <a:latin typeface="Calibri" pitchFamily="34" charset="0"/>
                <a:ea typeface="Calibri" pitchFamily="34" charset="-122"/>
                <a:cs typeface="Calibri" pitchFamily="34" charset="-120"/>
              </a:rPr>
              <a:t>A new kind is a new subclass, Bank unchanged: a test adds an IslamicTermDeposit</a:t>
            </a:r>
            <a:endParaRPr lang="en-US" sz="1200" dirty="0"/>
          </a:p>
        </p:txBody>
      </p:sp>
      <p:sp>
        <p:nvSpPr>
          <p:cNvPr id="10" name="Shape 8"/>
          <p:cNvSpPr/>
          <p:nvPr/>
        </p:nvSpPr>
        <p:spPr>
          <a:xfrm>
            <a:off x="457200" y="2441448"/>
            <a:ext cx="384048" cy="384048"/>
          </a:xfrm>
          <a:prstGeom prst="ellipse">
            <a:avLst/>
          </a:prstGeom>
          <a:solidFill>
            <a:srgbClr val="B8862F"/>
          </a:solidFill>
          <a:ln/>
        </p:spPr>
      </p:sp>
      <p:sp>
        <p:nvSpPr>
          <p:cNvPr id="11" name="Text 9"/>
          <p:cNvSpPr txBox="1"/>
          <p:nvPr/>
        </p:nvSpPr>
        <p:spPr>
          <a:xfrm>
            <a:off x="457200" y="24414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L</a:t>
            </a:r>
            <a:endParaRPr lang="en-US" sz="1400" dirty="0"/>
          </a:p>
        </p:txBody>
      </p:sp>
      <p:sp>
        <p:nvSpPr>
          <p:cNvPr id="12" name="Text 10"/>
          <p:cNvSpPr txBox="1"/>
          <p:nvPr/>
        </p:nvSpPr>
        <p:spPr>
          <a:xfrm>
            <a:off x="960120" y="2395728"/>
            <a:ext cx="3977640" cy="512064"/>
          </a:xfrm>
          <a:prstGeom prst="rect">
            <a:avLst/>
          </a:prstGeom>
          <a:noFill/>
          <a:ln/>
        </p:spPr>
        <p:txBody>
          <a:bodyPr wrap="square" lIns="0" tIns="0" rIns="0" bIns="0" rtlCol="0" anchor="ctr"/>
          <a:lstStyle/>
          <a:p>
            <a:pPr indent="0" marL="0">
              <a:buNone/>
            </a:pPr>
            <a:r>
              <a:rPr lang="en-US" sz="1200" dirty="0">
                <a:solidFill>
                  <a:srgbClr val="1D2B2A"/>
                </a:solidFill>
                <a:latin typeface="Calibri" pitchFamily="34" charset="0"/>
                <a:ea typeface="Calibri" pitchFamily="34" charset="-122"/>
                <a:cs typeface="Calibri" pitchFamily="34" charset="-120"/>
              </a:rPr>
              <a:t>Every subclass keeps its parent's promises; SubstitutionTests check every demo object</a:t>
            </a:r>
            <a:endParaRPr lang="en-US" sz="1200" dirty="0"/>
          </a:p>
        </p:txBody>
      </p:sp>
      <p:sp>
        <p:nvSpPr>
          <p:cNvPr id="13" name="Shape 11"/>
          <p:cNvSpPr/>
          <p:nvPr/>
        </p:nvSpPr>
        <p:spPr>
          <a:xfrm>
            <a:off x="457200" y="3044952"/>
            <a:ext cx="384048" cy="384048"/>
          </a:xfrm>
          <a:prstGeom prst="ellipse">
            <a:avLst/>
          </a:prstGeom>
          <a:solidFill>
            <a:srgbClr val="B8862F"/>
          </a:solidFill>
          <a:ln/>
        </p:spPr>
      </p:sp>
      <p:sp>
        <p:nvSpPr>
          <p:cNvPr id="14" name="Text 12"/>
          <p:cNvSpPr txBox="1"/>
          <p:nvPr/>
        </p:nvSpPr>
        <p:spPr>
          <a:xfrm>
            <a:off x="457200" y="304495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I</a:t>
            </a:r>
            <a:endParaRPr lang="en-US" sz="1400" dirty="0"/>
          </a:p>
        </p:txBody>
      </p:sp>
      <p:sp>
        <p:nvSpPr>
          <p:cNvPr id="15" name="Text 13"/>
          <p:cNvSpPr txBox="1"/>
          <p:nvPr/>
        </p:nvSpPr>
        <p:spPr>
          <a:xfrm>
            <a:off x="960120" y="2999232"/>
            <a:ext cx="3977640" cy="512064"/>
          </a:xfrm>
          <a:prstGeom prst="rect">
            <a:avLst/>
          </a:prstGeom>
          <a:noFill/>
          <a:ln/>
        </p:spPr>
        <p:txBody>
          <a:bodyPr wrap="square" lIns="0" tIns="0" rIns="0" bIns="0" rtlCol="0" anchor="ctr"/>
          <a:lstStyle/>
          <a:p>
            <a:pPr indent="0" marL="0">
              <a:buNone/>
            </a:pPr>
            <a:r>
              <a:rPr lang="en-US" sz="1200" dirty="0">
                <a:solidFill>
                  <a:srgbClr val="1D2B2A"/>
                </a:solidFill>
                <a:latin typeface="Calibri" pitchFamily="34" charset="0"/>
                <a:ea typeface="Calibri" pitchFamily="34" charset="-122"/>
                <a:cs typeface="Calibri" pitchFamily="34" charset="-120"/>
              </a:rPr>
              <a:t>Abstract classes ask for little: DepositAccount needs only overdraft_limit()</a:t>
            </a:r>
            <a:endParaRPr lang="en-US" sz="1200" dirty="0"/>
          </a:p>
        </p:txBody>
      </p:sp>
      <p:sp>
        <p:nvSpPr>
          <p:cNvPr id="16" name="Shape 14"/>
          <p:cNvSpPr/>
          <p:nvPr/>
        </p:nvSpPr>
        <p:spPr>
          <a:xfrm>
            <a:off x="457200" y="3648456"/>
            <a:ext cx="384048" cy="384048"/>
          </a:xfrm>
          <a:prstGeom prst="ellipse">
            <a:avLst/>
          </a:prstGeom>
          <a:solidFill>
            <a:srgbClr val="B8862F"/>
          </a:solidFill>
          <a:ln/>
        </p:spPr>
      </p:sp>
      <p:sp>
        <p:nvSpPr>
          <p:cNvPr id="17" name="Text 15"/>
          <p:cNvSpPr txBox="1"/>
          <p:nvPr/>
        </p:nvSpPr>
        <p:spPr>
          <a:xfrm>
            <a:off x="457200" y="36484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D</a:t>
            </a:r>
            <a:endParaRPr lang="en-US" sz="1400" dirty="0"/>
          </a:p>
        </p:txBody>
      </p:sp>
      <p:sp>
        <p:nvSpPr>
          <p:cNvPr id="18" name="Text 16"/>
          <p:cNvSpPr txBox="1"/>
          <p:nvPr/>
        </p:nvSpPr>
        <p:spPr>
          <a:xfrm>
            <a:off x="960120" y="3602736"/>
            <a:ext cx="3977640" cy="512064"/>
          </a:xfrm>
          <a:prstGeom prst="rect">
            <a:avLst/>
          </a:prstGeom>
          <a:noFill/>
          <a:ln/>
        </p:spPr>
        <p:txBody>
          <a:bodyPr wrap="square" lIns="0" tIns="0" rIns="0" bIns="0" rtlCol="0" anchor="ctr"/>
          <a:lstStyle/>
          <a:p>
            <a:pPr indent="0" marL="0">
              <a:buNone/>
            </a:pPr>
            <a:r>
              <a:rPr lang="en-US" sz="1200" dirty="0">
                <a:solidFill>
                  <a:srgbClr val="1D2B2A"/>
                </a:solidFill>
                <a:latin typeface="Calibri" pitchFamily="34" charset="0"/>
                <a:ea typeface="Calibri" pitchFamily="34" charset="-122"/>
                <a:cs typeface="Calibri" pitchFamily="34" charset="-120"/>
              </a:rPr>
              <a:t>Depend on abstractions: Repository, the injected Claude client, bank_source</a:t>
            </a:r>
            <a:endParaRPr lang="en-US" sz="1200" dirty="0"/>
          </a:p>
        </p:txBody>
      </p:sp>
      <p:sp>
        <p:nvSpPr>
          <p:cNvPr id="19" name="Shape 17"/>
          <p:cNvSpPr/>
          <p:nvPr/>
        </p:nvSpPr>
        <p:spPr>
          <a:xfrm>
            <a:off x="5166360" y="1188720"/>
            <a:ext cx="3520440" cy="2971800"/>
          </a:xfrm>
          <a:prstGeom prst="roundRect">
            <a:avLst>
              <a:gd name="adj" fmla="val 2462"/>
            </a:avLst>
          </a:prstGeom>
          <a:solidFill>
            <a:srgbClr val="E8F0EE"/>
          </a:solidFill>
          <a:ln w="12700">
            <a:solidFill>
              <a:srgbClr val="E8F0EE"/>
            </a:solidFill>
            <a:prstDash val="solid"/>
          </a:ln>
        </p:spPr>
      </p:sp>
      <p:sp>
        <p:nvSpPr>
          <p:cNvPr id="20" name="Text 18"/>
          <p:cNvSpPr txBox="1"/>
          <p:nvPr/>
        </p:nvSpPr>
        <p:spPr>
          <a:xfrm>
            <a:off x="5349240" y="1298448"/>
            <a:ext cx="3200400" cy="365760"/>
          </a:xfrm>
          <a:prstGeom prst="rect">
            <a:avLst/>
          </a:prstGeom>
          <a:noFill/>
          <a:ln/>
        </p:spPr>
        <p:txBody>
          <a:bodyPr wrap="square" lIns="0" tIns="0" rIns="0" bIns="0" rtlCol="0" anchor="ctr"/>
          <a:lstStyle/>
          <a:p>
            <a:pPr indent="0" marL="0">
              <a:buNone/>
            </a:pPr>
            <a:r>
              <a:rPr lang="en-US" sz="1500" b="1" dirty="0">
                <a:solidFill>
                  <a:srgbClr val="0B4F4A"/>
                </a:solidFill>
                <a:latin typeface="Cambria" pitchFamily="34" charset="0"/>
                <a:ea typeface="Cambria" pitchFamily="34" charset="-122"/>
                <a:cs typeface="Cambria" pitchFamily="34" charset="-120"/>
              </a:rPr>
              <a:t>Found and fixed</a:t>
            </a:r>
            <a:endParaRPr lang="en-US" sz="1500" dirty="0"/>
          </a:p>
        </p:txBody>
      </p:sp>
      <p:sp>
        <p:nvSpPr>
          <p:cNvPr id="21" name="Text 19"/>
          <p:cNvSpPr txBox="1"/>
          <p:nvPr/>
        </p:nvSpPr>
        <p:spPr>
          <a:xfrm>
            <a:off x="5303520" y="1737360"/>
            <a:ext cx="3246120" cy="2377440"/>
          </a:xfrm>
          <a:prstGeom prst="rect">
            <a:avLst/>
          </a:prstGeom>
          <a:noFill/>
          <a:ln/>
        </p:spPr>
        <p:txBody>
          <a:bodyPr wrap="square" lIns="635" tIns="635" rIns="635" bIns="635" rtlCol="0" anchor="t"/>
          <a:lstStyle/>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open_deposit_account tested "is FixedTermDeposit": a subclass skipped the payout rule. Now a class constant every term deposit inherits</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resolve_dispute tested for CardPayment. Now the payment answers dispute_refund(): Reversal, or Chargeback</a:t>
            </a:r>
            <a:endParaRPr lang="en-US" sz="1200" dirty="0"/>
          </a:p>
        </p:txBody>
      </p:sp>
      <p:sp>
        <p:nvSpPr>
          <p:cNvPr id="22" name="Text 20"/>
          <p:cNvSpPr txBox="1"/>
          <p:nvPr/>
        </p:nvSpPr>
        <p:spPr>
          <a:xfrm>
            <a:off x="457200" y="4343400"/>
            <a:ext cx="8229600" cy="411480"/>
          </a:xfrm>
          <a:prstGeom prst="rect">
            <a:avLst/>
          </a:prstGeom>
          <a:noFill/>
          <a:ln/>
        </p:spPr>
        <p:txBody>
          <a:bodyPr wrap="square" lIns="0" tIns="0" rIns="0" bIns="0" rtlCol="0" anchor="ctr"/>
          <a:lstStyle/>
          <a:p>
            <a:pPr indent="0" marL="0">
              <a:buNone/>
            </a:pPr>
            <a:r>
              <a:rPr lang="en-US" sz="1150" i="1" dirty="0">
                <a:solidFill>
                  <a:srgbClr val="5B6B69"/>
                </a:solidFill>
                <a:latin typeface="Calibri" pitchFamily="34" charset="0"/>
                <a:ea typeface="Calibri" pitchFamily="34" charset="-122"/>
                <a:cs typeface="Calibri" pitchFamily="34" charset="-120"/>
              </a:rPr>
              <a:t>Patterns in the code: template method, factory method, facade, value object, repository, state machine as data</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16 scenarios break the normal workflow</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All ten critical cases in the brief are covered, plus every participant it names</a:t>
            </a:r>
            <a:endParaRPr lang="en-US" sz="1200" dirty="0"/>
          </a:p>
        </p:txBody>
      </p:sp>
      <p:sp>
        <p:nvSpPr>
          <p:cNvPr id="4" name="Shape 2"/>
          <p:cNvSpPr/>
          <p:nvPr/>
        </p:nvSpPr>
        <p:spPr>
          <a:xfrm>
            <a:off x="457200" y="1188720"/>
            <a:ext cx="384048" cy="384048"/>
          </a:xfrm>
          <a:prstGeom prst="ellipse">
            <a:avLst/>
          </a:prstGeom>
          <a:solidFill>
            <a:srgbClr val="B8862F"/>
          </a:solidFill>
          <a:ln/>
        </p:spPr>
      </p:sp>
      <p:sp>
        <p:nvSpPr>
          <p:cNvPr id="5" name="Text 3"/>
          <p:cNvSpPr txBox="1"/>
          <p:nvPr/>
        </p:nvSpPr>
        <p:spPr>
          <a:xfrm>
            <a:off x="457200" y="1188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960120" y="1188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Document expires mid-onboarding</a:t>
            </a:r>
            <a:endParaRPr lang="en-US" sz="1250" dirty="0"/>
          </a:p>
        </p:txBody>
      </p:sp>
      <p:sp>
        <p:nvSpPr>
          <p:cNvPr id="7" name="Shape 5"/>
          <p:cNvSpPr/>
          <p:nvPr/>
        </p:nvSpPr>
        <p:spPr>
          <a:xfrm>
            <a:off x="457200" y="1645920"/>
            <a:ext cx="384048" cy="384048"/>
          </a:xfrm>
          <a:prstGeom prst="ellipse">
            <a:avLst/>
          </a:prstGeom>
          <a:solidFill>
            <a:srgbClr val="B8862F"/>
          </a:solidFill>
          <a:ln/>
        </p:spPr>
      </p:sp>
      <p:sp>
        <p:nvSpPr>
          <p:cNvPr id="8" name="Text 6"/>
          <p:cNvSpPr txBox="1"/>
          <p:nvPr/>
        </p:nvSpPr>
        <p:spPr>
          <a:xfrm>
            <a:off x="457200" y="1645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9" name="Text 7"/>
          <p:cNvSpPr txBox="1"/>
          <p:nvPr/>
        </p:nvSpPr>
        <p:spPr>
          <a:xfrm>
            <a:off x="960120" y="1645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Large transfer: dual control, hold, release</a:t>
            </a:r>
            <a:endParaRPr lang="en-US" sz="1250" dirty="0"/>
          </a:p>
        </p:txBody>
      </p:sp>
      <p:sp>
        <p:nvSpPr>
          <p:cNvPr id="10" name="Shape 8"/>
          <p:cNvSpPr/>
          <p:nvPr/>
        </p:nvSpPr>
        <p:spPr>
          <a:xfrm>
            <a:off x="457200" y="2103120"/>
            <a:ext cx="384048" cy="384048"/>
          </a:xfrm>
          <a:prstGeom prst="ellipse">
            <a:avLst/>
          </a:prstGeom>
          <a:solidFill>
            <a:srgbClr val="B8862F"/>
          </a:solidFill>
          <a:ln/>
        </p:spPr>
      </p:sp>
      <p:sp>
        <p:nvSpPr>
          <p:cNvPr id="11" name="Text 9"/>
          <p:cNvSpPr txBox="1"/>
          <p:nvPr/>
        </p:nvSpPr>
        <p:spPr>
          <a:xfrm>
            <a:off x="457200" y="2103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960120" y="2103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Card stolen, replaced twice, found</a:t>
            </a:r>
            <a:endParaRPr lang="en-US" sz="1250" dirty="0"/>
          </a:p>
        </p:txBody>
      </p:sp>
      <p:sp>
        <p:nvSpPr>
          <p:cNvPr id="13" name="Shape 11"/>
          <p:cNvSpPr/>
          <p:nvPr/>
        </p:nvSpPr>
        <p:spPr>
          <a:xfrm>
            <a:off x="457200" y="2560320"/>
            <a:ext cx="384048" cy="384048"/>
          </a:xfrm>
          <a:prstGeom prst="ellipse">
            <a:avLst/>
          </a:prstGeom>
          <a:solidFill>
            <a:srgbClr val="B8862F"/>
          </a:solidFill>
          <a:ln/>
        </p:spPr>
      </p:sp>
      <p:sp>
        <p:nvSpPr>
          <p:cNvPr id="14" name="Text 12"/>
          <p:cNvSpPr txBox="1"/>
          <p:nvPr/>
        </p:nvSpPr>
        <p:spPr>
          <a:xfrm>
            <a:off x="457200" y="25603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5" name="Text 13"/>
          <p:cNvSpPr txBox="1"/>
          <p:nvPr/>
        </p:nvSpPr>
        <p:spPr>
          <a:xfrm>
            <a:off x="960120" y="25603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Posted, reversed, re-posted, disputed</a:t>
            </a:r>
            <a:endParaRPr lang="en-US" sz="1250" dirty="0"/>
          </a:p>
        </p:txBody>
      </p:sp>
      <p:sp>
        <p:nvSpPr>
          <p:cNvPr id="16" name="Shape 14"/>
          <p:cNvSpPr/>
          <p:nvPr/>
        </p:nvSpPr>
        <p:spPr>
          <a:xfrm>
            <a:off x="457200" y="3017520"/>
            <a:ext cx="384048" cy="384048"/>
          </a:xfrm>
          <a:prstGeom prst="ellipse">
            <a:avLst/>
          </a:prstGeom>
          <a:solidFill>
            <a:srgbClr val="B8862F"/>
          </a:solidFill>
          <a:ln/>
        </p:spPr>
      </p:sp>
      <p:sp>
        <p:nvSpPr>
          <p:cNvPr id="17" name="Text 15"/>
          <p:cNvSpPr txBox="1"/>
          <p:nvPr/>
        </p:nvSpPr>
        <p:spPr>
          <a:xfrm>
            <a:off x="457200" y="3017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18" name="Text 16"/>
          <p:cNvSpPr txBox="1"/>
          <p:nvPr/>
        </p:nvSpPr>
        <p:spPr>
          <a:xfrm>
            <a:off x="960120" y="30175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Restricted then cleared</a:t>
            </a:r>
            <a:endParaRPr lang="en-US" sz="1250" dirty="0"/>
          </a:p>
        </p:txBody>
      </p:sp>
      <p:sp>
        <p:nvSpPr>
          <p:cNvPr id="19" name="Shape 17"/>
          <p:cNvSpPr/>
          <p:nvPr/>
        </p:nvSpPr>
        <p:spPr>
          <a:xfrm>
            <a:off x="457200" y="3474720"/>
            <a:ext cx="384048" cy="384048"/>
          </a:xfrm>
          <a:prstGeom prst="ellipse">
            <a:avLst/>
          </a:prstGeom>
          <a:solidFill>
            <a:srgbClr val="B8862F"/>
          </a:solidFill>
          <a:ln/>
        </p:spPr>
      </p:sp>
      <p:sp>
        <p:nvSpPr>
          <p:cNvPr id="20" name="Text 18"/>
          <p:cNvSpPr txBox="1"/>
          <p:nvPr/>
        </p:nvSpPr>
        <p:spPr>
          <a:xfrm>
            <a:off x="457200" y="3474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21" name="Text 19"/>
          <p:cNvSpPr txBox="1"/>
          <p:nvPr/>
        </p:nvSpPr>
        <p:spPr>
          <a:xfrm>
            <a:off x="960120" y="3474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Financing: limits, arrears, restructure</a:t>
            </a:r>
            <a:endParaRPr lang="en-US" sz="1250" dirty="0"/>
          </a:p>
        </p:txBody>
      </p:sp>
      <p:sp>
        <p:nvSpPr>
          <p:cNvPr id="22" name="Shape 20"/>
          <p:cNvSpPr/>
          <p:nvPr/>
        </p:nvSpPr>
        <p:spPr>
          <a:xfrm>
            <a:off x="457200" y="3931920"/>
            <a:ext cx="384048" cy="384048"/>
          </a:xfrm>
          <a:prstGeom prst="ellipse">
            <a:avLst/>
          </a:prstGeom>
          <a:solidFill>
            <a:srgbClr val="B8862F"/>
          </a:solidFill>
          <a:ln/>
        </p:spPr>
      </p:sp>
      <p:sp>
        <p:nvSpPr>
          <p:cNvPr id="23" name="Text 21"/>
          <p:cNvSpPr txBox="1"/>
          <p:nvPr/>
        </p:nvSpPr>
        <p:spPr>
          <a:xfrm>
            <a:off x="457200" y="3931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24" name="Text 22"/>
          <p:cNvSpPr txBox="1"/>
          <p:nvPr/>
        </p:nvSpPr>
        <p:spPr>
          <a:xfrm>
            <a:off x="960120" y="3931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Director leaves; authority provable</a:t>
            </a:r>
            <a:endParaRPr lang="en-US" sz="1250" dirty="0"/>
          </a:p>
        </p:txBody>
      </p:sp>
      <p:sp>
        <p:nvSpPr>
          <p:cNvPr id="25" name="Shape 23"/>
          <p:cNvSpPr/>
          <p:nvPr/>
        </p:nvSpPr>
        <p:spPr>
          <a:xfrm>
            <a:off x="457200" y="4389120"/>
            <a:ext cx="384048" cy="384048"/>
          </a:xfrm>
          <a:prstGeom prst="ellipse">
            <a:avLst/>
          </a:prstGeom>
          <a:solidFill>
            <a:srgbClr val="B8862F"/>
          </a:solidFill>
          <a:ln/>
        </p:spPr>
      </p:sp>
      <p:sp>
        <p:nvSpPr>
          <p:cNvPr id="26" name="Text 24"/>
          <p:cNvSpPr txBox="1"/>
          <p:nvPr/>
        </p:nvSpPr>
        <p:spPr>
          <a:xfrm>
            <a:off x="457200" y="4389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8</a:t>
            </a:r>
            <a:endParaRPr lang="en-US" sz="1400" dirty="0"/>
          </a:p>
        </p:txBody>
      </p:sp>
      <p:sp>
        <p:nvSpPr>
          <p:cNvPr id="27" name="Text 25"/>
          <p:cNvSpPr txBox="1"/>
          <p:nvPr/>
        </p:nvSpPr>
        <p:spPr>
          <a:xfrm>
            <a:off x="960120" y="4389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Beneficiary changes bank details</a:t>
            </a:r>
            <a:endParaRPr lang="en-US" sz="1250" dirty="0"/>
          </a:p>
        </p:txBody>
      </p:sp>
      <p:sp>
        <p:nvSpPr>
          <p:cNvPr id="28" name="Shape 26"/>
          <p:cNvSpPr/>
          <p:nvPr/>
        </p:nvSpPr>
        <p:spPr>
          <a:xfrm>
            <a:off x="4663440" y="1188720"/>
            <a:ext cx="384048" cy="384048"/>
          </a:xfrm>
          <a:prstGeom prst="ellipse">
            <a:avLst/>
          </a:prstGeom>
          <a:solidFill>
            <a:srgbClr val="B8862F"/>
          </a:solidFill>
          <a:ln/>
        </p:spPr>
      </p:sp>
      <p:sp>
        <p:nvSpPr>
          <p:cNvPr id="29" name="Text 27"/>
          <p:cNvSpPr txBox="1"/>
          <p:nvPr/>
        </p:nvSpPr>
        <p:spPr>
          <a:xfrm>
            <a:off x="4663440" y="1188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9</a:t>
            </a:r>
            <a:endParaRPr lang="en-US" sz="1400" dirty="0"/>
          </a:p>
        </p:txBody>
      </p:sp>
      <p:sp>
        <p:nvSpPr>
          <p:cNvPr id="30" name="Text 28"/>
          <p:cNvSpPr txBox="1"/>
          <p:nvPr/>
        </p:nvSpPr>
        <p:spPr>
          <a:xfrm>
            <a:off x="5166360" y="1188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Evidence keeps corrected data</a:t>
            </a:r>
            <a:endParaRPr lang="en-US" sz="1250" dirty="0"/>
          </a:p>
        </p:txBody>
      </p:sp>
      <p:sp>
        <p:nvSpPr>
          <p:cNvPr id="31" name="Shape 29"/>
          <p:cNvSpPr/>
          <p:nvPr/>
        </p:nvSpPr>
        <p:spPr>
          <a:xfrm>
            <a:off x="4663440" y="1645920"/>
            <a:ext cx="384048" cy="384048"/>
          </a:xfrm>
          <a:prstGeom prst="ellipse">
            <a:avLst/>
          </a:prstGeom>
          <a:solidFill>
            <a:srgbClr val="B8862F"/>
          </a:solidFill>
          <a:ln/>
        </p:spPr>
      </p:sp>
      <p:sp>
        <p:nvSpPr>
          <p:cNvPr id="32" name="Text 30"/>
          <p:cNvSpPr txBox="1"/>
          <p:nvPr/>
        </p:nvSpPr>
        <p:spPr>
          <a:xfrm>
            <a:off x="4663440" y="1645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10</a:t>
            </a:r>
            <a:endParaRPr lang="en-US" sz="1400" dirty="0"/>
          </a:p>
        </p:txBody>
      </p:sp>
      <p:sp>
        <p:nvSpPr>
          <p:cNvPr id="33" name="Text 31"/>
          <p:cNvSpPr txBox="1"/>
          <p:nvPr/>
        </p:nvSpPr>
        <p:spPr>
          <a:xfrm>
            <a:off x="5166360" y="1645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Product withdrawn, terms pinned</a:t>
            </a:r>
            <a:endParaRPr lang="en-US" sz="1250" dirty="0"/>
          </a:p>
        </p:txBody>
      </p:sp>
      <p:sp>
        <p:nvSpPr>
          <p:cNvPr id="34" name="Shape 32"/>
          <p:cNvSpPr/>
          <p:nvPr/>
        </p:nvSpPr>
        <p:spPr>
          <a:xfrm>
            <a:off x="4663440" y="2103120"/>
            <a:ext cx="384048" cy="384048"/>
          </a:xfrm>
          <a:prstGeom prst="ellipse">
            <a:avLst/>
          </a:prstGeom>
          <a:solidFill>
            <a:srgbClr val="B8862F"/>
          </a:solidFill>
          <a:ln/>
        </p:spPr>
      </p:sp>
      <p:sp>
        <p:nvSpPr>
          <p:cNvPr id="35" name="Text 33"/>
          <p:cNvSpPr txBox="1"/>
          <p:nvPr/>
        </p:nvSpPr>
        <p:spPr>
          <a:xfrm>
            <a:off x="4663440" y="2103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11</a:t>
            </a:r>
            <a:endParaRPr lang="en-US" sz="1400" dirty="0"/>
          </a:p>
        </p:txBody>
      </p:sp>
      <p:sp>
        <p:nvSpPr>
          <p:cNvPr id="36" name="Text 34"/>
          <p:cNvSpPr txBox="1"/>
          <p:nvPr/>
        </p:nvSpPr>
        <p:spPr>
          <a:xfrm>
            <a:off x="5166360" y="2103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Branch closes; all moves</a:t>
            </a:r>
            <a:endParaRPr lang="en-US" sz="1250" dirty="0"/>
          </a:p>
        </p:txBody>
      </p:sp>
      <p:sp>
        <p:nvSpPr>
          <p:cNvPr id="37" name="Shape 35"/>
          <p:cNvSpPr/>
          <p:nvPr/>
        </p:nvSpPr>
        <p:spPr>
          <a:xfrm>
            <a:off x="4663440" y="2560320"/>
            <a:ext cx="384048" cy="384048"/>
          </a:xfrm>
          <a:prstGeom prst="ellipse">
            <a:avLst/>
          </a:prstGeom>
          <a:solidFill>
            <a:srgbClr val="B8862F"/>
          </a:solidFill>
          <a:ln/>
        </p:spPr>
      </p:sp>
      <p:sp>
        <p:nvSpPr>
          <p:cNvPr id="38" name="Text 36"/>
          <p:cNvSpPr txBox="1"/>
          <p:nvPr/>
        </p:nvSpPr>
        <p:spPr>
          <a:xfrm>
            <a:off x="4663440" y="25603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12</a:t>
            </a:r>
            <a:endParaRPr lang="en-US" sz="1400" dirty="0"/>
          </a:p>
        </p:txBody>
      </p:sp>
      <p:sp>
        <p:nvSpPr>
          <p:cNvPr id="39" name="Text 37"/>
          <p:cNvSpPr txBox="1"/>
          <p:nvPr/>
        </p:nvSpPr>
        <p:spPr>
          <a:xfrm>
            <a:off x="5166360" y="25603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Savings limit; closure not deletion</a:t>
            </a:r>
            <a:endParaRPr lang="en-US" sz="1250" dirty="0"/>
          </a:p>
        </p:txBody>
      </p:sp>
      <p:sp>
        <p:nvSpPr>
          <p:cNvPr id="40" name="Shape 38"/>
          <p:cNvSpPr/>
          <p:nvPr/>
        </p:nvSpPr>
        <p:spPr>
          <a:xfrm>
            <a:off x="4663440" y="3017520"/>
            <a:ext cx="384048" cy="384048"/>
          </a:xfrm>
          <a:prstGeom prst="ellipse">
            <a:avLst/>
          </a:prstGeom>
          <a:solidFill>
            <a:srgbClr val="B8862F"/>
          </a:solidFill>
          <a:ln/>
        </p:spPr>
      </p:sp>
      <p:sp>
        <p:nvSpPr>
          <p:cNvPr id="41" name="Text 39"/>
          <p:cNvSpPr txBox="1"/>
          <p:nvPr/>
        </p:nvSpPr>
        <p:spPr>
          <a:xfrm>
            <a:off x="4663440" y="3017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13</a:t>
            </a:r>
            <a:endParaRPr lang="en-US" sz="1400" dirty="0"/>
          </a:p>
        </p:txBody>
      </p:sp>
      <p:sp>
        <p:nvSpPr>
          <p:cNvPr id="42" name="Text 40"/>
          <p:cNvSpPr txBox="1"/>
          <p:nvPr/>
        </p:nvSpPr>
        <p:spPr>
          <a:xfrm>
            <a:off x="5166360" y="30175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Staff and customer leave</a:t>
            </a:r>
            <a:endParaRPr lang="en-US" sz="1250" dirty="0"/>
          </a:p>
        </p:txBody>
      </p:sp>
      <p:sp>
        <p:nvSpPr>
          <p:cNvPr id="43" name="Shape 41"/>
          <p:cNvSpPr/>
          <p:nvPr/>
        </p:nvSpPr>
        <p:spPr>
          <a:xfrm>
            <a:off x="4663440" y="3474720"/>
            <a:ext cx="384048" cy="384048"/>
          </a:xfrm>
          <a:prstGeom prst="ellipse">
            <a:avLst/>
          </a:prstGeom>
          <a:solidFill>
            <a:srgbClr val="B8862F"/>
          </a:solidFill>
          <a:ln/>
        </p:spPr>
      </p:sp>
      <p:sp>
        <p:nvSpPr>
          <p:cNvPr id="44" name="Text 42"/>
          <p:cNvSpPr txBox="1"/>
          <p:nvPr/>
        </p:nvSpPr>
        <p:spPr>
          <a:xfrm>
            <a:off x="4663440" y="3474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14</a:t>
            </a:r>
            <a:endParaRPr lang="en-US" sz="1400" dirty="0"/>
          </a:p>
        </p:txBody>
      </p:sp>
      <p:sp>
        <p:nvSpPr>
          <p:cNvPr id="45" name="Text 43"/>
          <p:cNvSpPr txBox="1"/>
          <p:nvPr/>
        </p:nvSpPr>
        <p:spPr>
          <a:xfrm>
            <a:off x="5166360" y="3474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Sole trader, private client, term deposits</a:t>
            </a:r>
            <a:endParaRPr lang="en-US" sz="1250" dirty="0"/>
          </a:p>
        </p:txBody>
      </p:sp>
      <p:sp>
        <p:nvSpPr>
          <p:cNvPr id="46" name="Shape 44"/>
          <p:cNvSpPr/>
          <p:nvPr/>
        </p:nvSpPr>
        <p:spPr>
          <a:xfrm>
            <a:off x="4663440" y="3931920"/>
            <a:ext cx="384048" cy="384048"/>
          </a:xfrm>
          <a:prstGeom prst="ellipse">
            <a:avLst/>
          </a:prstGeom>
          <a:solidFill>
            <a:srgbClr val="B8862F"/>
          </a:solidFill>
          <a:ln/>
        </p:spPr>
      </p:sp>
      <p:sp>
        <p:nvSpPr>
          <p:cNvPr id="47" name="Text 45"/>
          <p:cNvSpPr txBox="1"/>
          <p:nvPr/>
        </p:nvSpPr>
        <p:spPr>
          <a:xfrm>
            <a:off x="4663440" y="3931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15</a:t>
            </a:r>
            <a:endParaRPr lang="en-US" sz="1400" dirty="0"/>
          </a:p>
        </p:txBody>
      </p:sp>
      <p:sp>
        <p:nvSpPr>
          <p:cNvPr id="48" name="Text 46"/>
          <p:cNvSpPr txBox="1"/>
          <p:nvPr/>
        </p:nvSpPr>
        <p:spPr>
          <a:xfrm>
            <a:off x="5166360" y="3931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Card controls, bills, card search</a:t>
            </a:r>
            <a:endParaRPr lang="en-US" sz="1250" dirty="0"/>
          </a:p>
        </p:txBody>
      </p:sp>
      <p:sp>
        <p:nvSpPr>
          <p:cNvPr id="49" name="Shape 47"/>
          <p:cNvSpPr/>
          <p:nvPr/>
        </p:nvSpPr>
        <p:spPr>
          <a:xfrm>
            <a:off x="4663440" y="4389120"/>
            <a:ext cx="384048" cy="384048"/>
          </a:xfrm>
          <a:prstGeom prst="ellipse">
            <a:avLst/>
          </a:prstGeom>
          <a:solidFill>
            <a:srgbClr val="B8862F"/>
          </a:solidFill>
          <a:ln/>
        </p:spPr>
      </p:sp>
      <p:sp>
        <p:nvSpPr>
          <p:cNvPr id="50" name="Text 48"/>
          <p:cNvSpPr txBox="1"/>
          <p:nvPr/>
        </p:nvSpPr>
        <p:spPr>
          <a:xfrm>
            <a:off x="4663440" y="4389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16</a:t>
            </a:r>
            <a:endParaRPr lang="en-US" sz="1400" dirty="0"/>
          </a:p>
        </p:txBody>
      </p:sp>
      <p:sp>
        <p:nvSpPr>
          <p:cNvPr id="51" name="Text 49"/>
          <p:cNvSpPr txBox="1"/>
          <p:nvPr/>
        </p:nvSpPr>
        <p:spPr>
          <a:xfrm>
            <a:off x="5166360" y="4389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Auditor review; archive vs delete</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Everything the brief names is modelled</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Found by rereading Problem 4 line by line; each has a test</a:t>
            </a:r>
            <a:endParaRPr lang="en-US" sz="1200" dirty="0"/>
          </a:p>
        </p:txBody>
      </p:sp>
      <p:sp>
        <p:nvSpPr>
          <p:cNvPr id="4" name="Shape 2"/>
          <p:cNvSpPr/>
          <p:nvPr/>
        </p:nvSpPr>
        <p:spPr>
          <a:xfrm>
            <a:off x="457200" y="1280160"/>
            <a:ext cx="2606040" cy="1600200"/>
          </a:xfrm>
          <a:prstGeom prst="roundRect">
            <a:avLst>
              <a:gd name="adj" fmla="val 4571"/>
            </a:avLst>
          </a:prstGeom>
          <a:solidFill>
            <a:srgbClr val="E8F0EE"/>
          </a:solidFill>
          <a:ln w="12700">
            <a:solidFill>
              <a:srgbClr val="E8F0EE"/>
            </a:solidFill>
            <a:prstDash val="solid"/>
          </a:ln>
        </p:spPr>
      </p:sp>
      <p:sp>
        <p:nvSpPr>
          <p:cNvPr id="5" name="Text 3"/>
          <p:cNvSpPr txBox="1"/>
          <p:nvPr/>
        </p:nvSpPr>
        <p:spPr>
          <a:xfrm>
            <a:off x="594360" y="138988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Sole traders &amp; private clients</a:t>
            </a:r>
            <a:endParaRPr lang="en-US" sz="1400" dirty="0"/>
          </a:p>
        </p:txBody>
      </p:sp>
      <p:sp>
        <p:nvSpPr>
          <p:cNvPr id="6" name="Text 4"/>
          <p:cNvSpPr txBox="1"/>
          <p:nvPr/>
        </p:nvSpPr>
        <p:spPr>
          <a:xfrm>
            <a:off x="594360" y="192024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Person with a trading name; PRIVATE needs verified source of wealth (EDD)</a:t>
            </a:r>
            <a:endParaRPr lang="en-US" sz="1200" dirty="0"/>
          </a:p>
        </p:txBody>
      </p:sp>
      <p:sp>
        <p:nvSpPr>
          <p:cNvPr id="7" name="Shape 5"/>
          <p:cNvSpPr/>
          <p:nvPr/>
        </p:nvSpPr>
        <p:spPr>
          <a:xfrm>
            <a:off x="3246120" y="1280160"/>
            <a:ext cx="2606040" cy="1600200"/>
          </a:xfrm>
          <a:prstGeom prst="roundRect">
            <a:avLst>
              <a:gd name="adj" fmla="val 4571"/>
            </a:avLst>
          </a:prstGeom>
          <a:solidFill>
            <a:srgbClr val="E8F0EE"/>
          </a:solidFill>
          <a:ln w="12700">
            <a:solidFill>
              <a:srgbClr val="E8F0EE"/>
            </a:solidFill>
            <a:prstDash val="solid"/>
          </a:ln>
        </p:spPr>
      </p:sp>
      <p:sp>
        <p:nvSpPr>
          <p:cNvPr id="8" name="Text 6"/>
          <p:cNvSpPr txBox="1"/>
          <p:nvPr/>
        </p:nvSpPr>
        <p:spPr>
          <a:xfrm>
            <a:off x="3383280" y="138988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Fixed-term deposits</a:t>
            </a:r>
            <a:endParaRPr lang="en-US" sz="1400" dirty="0"/>
          </a:p>
        </p:txBody>
      </p:sp>
      <p:sp>
        <p:nvSpPr>
          <p:cNvPr id="9" name="Text 7"/>
          <p:cNvSpPr txBox="1"/>
          <p:nvPr/>
        </p:nvSpPr>
        <p:spPr>
          <a:xfrm>
            <a:off x="3383280" y="192024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Third DepositAccount subclass: no early debits, maturity payout, break penalty</a:t>
            </a:r>
            <a:endParaRPr lang="en-US" sz="1200" dirty="0"/>
          </a:p>
        </p:txBody>
      </p:sp>
      <p:sp>
        <p:nvSpPr>
          <p:cNvPr id="10" name="Shape 8"/>
          <p:cNvSpPr/>
          <p:nvPr/>
        </p:nvSpPr>
        <p:spPr>
          <a:xfrm>
            <a:off x="6035040" y="1280160"/>
            <a:ext cx="2606040" cy="1600200"/>
          </a:xfrm>
          <a:prstGeom prst="roundRect">
            <a:avLst>
              <a:gd name="adj" fmla="val 4571"/>
            </a:avLst>
          </a:prstGeom>
          <a:solidFill>
            <a:srgbClr val="E8F0EE"/>
          </a:solidFill>
          <a:ln w="12700">
            <a:solidFill>
              <a:srgbClr val="E8F0EE"/>
            </a:solidFill>
            <a:prstDash val="solid"/>
          </a:ln>
        </p:spPr>
      </p:sp>
      <p:sp>
        <p:nvSpPr>
          <p:cNvPr id="11" name="Text 9"/>
          <p:cNvSpPr txBox="1"/>
          <p:nvPr/>
        </p:nvSpPr>
        <p:spPr>
          <a:xfrm>
            <a:off x="6172200" y="138988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Card controls</a:t>
            </a:r>
            <a:endParaRPr lang="en-US" sz="1400" dirty="0"/>
          </a:p>
        </p:txBody>
      </p:sp>
      <p:sp>
        <p:nvSpPr>
          <p:cNvPr id="12" name="Text 10"/>
          <p:cNvSpPr txBox="1"/>
          <p:nvPr/>
        </p:nvSpPr>
        <p:spPr>
          <a:xfrm>
            <a:off x="6172200" y="192024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Online, international, cash, merchant category - each with a validity period</a:t>
            </a:r>
            <a:endParaRPr lang="en-US" sz="1200" dirty="0"/>
          </a:p>
        </p:txBody>
      </p:sp>
      <p:sp>
        <p:nvSpPr>
          <p:cNvPr id="13" name="Shape 11"/>
          <p:cNvSpPr/>
          <p:nvPr/>
        </p:nvSpPr>
        <p:spPr>
          <a:xfrm>
            <a:off x="457200" y="3063240"/>
            <a:ext cx="2606040" cy="1600200"/>
          </a:xfrm>
          <a:prstGeom prst="roundRect">
            <a:avLst>
              <a:gd name="adj" fmla="val 4571"/>
            </a:avLst>
          </a:prstGeom>
          <a:solidFill>
            <a:srgbClr val="E8F0EE"/>
          </a:solidFill>
          <a:ln w="12700">
            <a:solidFill>
              <a:srgbClr val="E8F0EE"/>
            </a:solidFill>
            <a:prstDash val="solid"/>
          </a:ln>
        </p:spPr>
      </p:sp>
      <p:sp>
        <p:nvSpPr>
          <p:cNvPr id="14" name="Text 12"/>
          <p:cNvSpPr txBox="1"/>
          <p:nvPr/>
        </p:nvSpPr>
        <p:spPr>
          <a:xfrm>
            <a:off x="594360" y="317296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Billers</a:t>
            </a:r>
            <a:endParaRPr lang="en-US" sz="1400" dirty="0"/>
          </a:p>
        </p:txBody>
      </p:sp>
      <p:sp>
        <p:nvSpPr>
          <p:cNvPr id="15" name="Text 13"/>
          <p:cNvSpPr txBox="1"/>
          <p:nvPr/>
        </p:nvSpPr>
        <p:spPr>
          <a:xfrm>
            <a:off x="594360" y="370332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BillPayment is a CustomerPayment: same mandates, restrictions, dual control</a:t>
            </a:r>
            <a:endParaRPr lang="en-US" sz="1200" dirty="0"/>
          </a:p>
        </p:txBody>
      </p:sp>
      <p:sp>
        <p:nvSpPr>
          <p:cNvPr id="16" name="Shape 14"/>
          <p:cNvSpPr/>
          <p:nvPr/>
        </p:nvSpPr>
        <p:spPr>
          <a:xfrm>
            <a:off x="3246120" y="3063240"/>
            <a:ext cx="2606040" cy="1600200"/>
          </a:xfrm>
          <a:prstGeom prst="roundRect">
            <a:avLst>
              <a:gd name="adj" fmla="val 4571"/>
            </a:avLst>
          </a:prstGeom>
          <a:solidFill>
            <a:srgbClr val="E8F0EE"/>
          </a:solidFill>
          <a:ln w="12700">
            <a:solidFill>
              <a:srgbClr val="E8F0EE"/>
            </a:solidFill>
            <a:prstDash val="solid"/>
          </a:ln>
        </p:spPr>
      </p:sp>
      <p:sp>
        <p:nvSpPr>
          <p:cNvPr id="17" name="Text 15"/>
          <p:cNvSpPr txBox="1"/>
          <p:nvPr/>
        </p:nvSpPr>
        <p:spPr>
          <a:xfrm>
            <a:off x="3383280" y="317296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Collections staff</a:t>
            </a:r>
            <a:endParaRPr lang="en-US" sz="1400" dirty="0"/>
          </a:p>
        </p:txBody>
      </p:sp>
      <p:sp>
        <p:nvSpPr>
          <p:cNvPr id="18" name="Text 16"/>
          <p:cNvSpPr txBox="1"/>
          <p:nvPr/>
        </p:nvSpPr>
        <p:spPr>
          <a:xfrm>
            <a:off x="3383280" y="370332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Collections officer works the case; promise to pay marked kept or broken</a:t>
            </a:r>
            <a:endParaRPr lang="en-US" sz="1200" dirty="0"/>
          </a:p>
        </p:txBody>
      </p:sp>
      <p:sp>
        <p:nvSpPr>
          <p:cNvPr id="19" name="Shape 17"/>
          <p:cNvSpPr/>
          <p:nvPr/>
        </p:nvSpPr>
        <p:spPr>
          <a:xfrm>
            <a:off x="6035040" y="3063240"/>
            <a:ext cx="2606040" cy="1600200"/>
          </a:xfrm>
          <a:prstGeom prst="roundRect">
            <a:avLst>
              <a:gd name="adj" fmla="val 4571"/>
            </a:avLst>
          </a:prstGeom>
          <a:solidFill>
            <a:srgbClr val="E8F0EE"/>
          </a:solidFill>
          <a:ln w="12700">
            <a:solidFill>
              <a:srgbClr val="E8F0EE"/>
            </a:solidFill>
            <a:prstDash val="solid"/>
          </a:ln>
        </p:spPr>
      </p:sp>
      <p:sp>
        <p:nvSpPr>
          <p:cNvPr id="20" name="Text 18"/>
          <p:cNvSpPr txBox="1"/>
          <p:nvPr/>
        </p:nvSpPr>
        <p:spPr>
          <a:xfrm>
            <a:off x="6172200" y="317296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Auditors &amp; retention</a:t>
            </a:r>
            <a:endParaRPr lang="en-US" sz="1400" dirty="0"/>
          </a:p>
        </p:txBody>
      </p:sp>
      <p:sp>
        <p:nvSpPr>
          <p:cNvPr id="21" name="Text 19"/>
          <p:cNvSpPr txBox="1"/>
          <p:nvPr/>
        </p:nvSpPr>
        <p:spPr>
          <a:xfrm>
            <a:off x="6172200" y="370332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Approvals audit with role at the time; archive, never delete (10-year retention)</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Behaviour: six flowcharts traced from the code</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Standard symbols (ISO 5807); the diamonds are in the order the code checks the rules</a:t>
            </a:r>
            <a:endParaRPr lang="en-US" sz="1200" dirty="0"/>
          </a:p>
        </p:txBody>
      </p:sp>
      <p:sp>
        <p:nvSpPr>
          <p:cNvPr id="4" name="Shape 2"/>
          <p:cNvSpPr/>
          <p:nvPr/>
        </p:nvSpPr>
        <p:spPr>
          <a:xfrm>
            <a:off x="457200" y="1188720"/>
            <a:ext cx="3200400" cy="3611880"/>
          </a:xfrm>
          <a:prstGeom prst="roundRect">
            <a:avLst>
              <a:gd name="adj" fmla="val 2286"/>
            </a:avLst>
          </a:prstGeom>
          <a:solidFill>
            <a:srgbClr val="F4F8F7"/>
          </a:solidFill>
          <a:ln w="12700">
            <a:solidFill>
              <a:srgbClr val="F4F8F7"/>
            </a:solidFill>
            <a:prstDash val="solid"/>
          </a:ln>
        </p:spPr>
      </p:sp>
      <p:pic>
        <p:nvPicPr>
          <p:cNvPr id="5" name="Image 0" descr="/home/user/commercial-banking/docs/flowchart_3_transfer.png">    </p:cNvPr>
          <p:cNvPicPr>
            <a:picLocks noChangeAspect="1"/>
          </p:cNvPicPr>
          <p:nvPr/>
        </p:nvPicPr>
        <p:blipFill>
          <a:blip r:embed="rId1"/>
          <a:stretch>
            <a:fillRect/>
          </a:stretch>
        </p:blipFill>
        <p:spPr>
          <a:xfrm>
            <a:off x="782195" y="1261872"/>
            <a:ext cx="2550410" cy="3474720"/>
          </a:xfrm>
          <a:prstGeom prst="rect">
            <a:avLst/>
          </a:prstGeom>
        </p:spPr>
      </p:pic>
      <p:sp>
        <p:nvSpPr>
          <p:cNvPr id="6" name="Shape 3"/>
          <p:cNvSpPr/>
          <p:nvPr/>
        </p:nvSpPr>
        <p:spPr>
          <a:xfrm>
            <a:off x="3931920" y="1234440"/>
            <a:ext cx="640080" cy="329184"/>
          </a:xfrm>
          <a:prstGeom prst="flowChartTerminator">
            <a:avLst/>
          </a:prstGeom>
          <a:solidFill>
            <a:srgbClr val="E8F0EE"/>
          </a:solidFill>
          <a:ln w="12700">
            <a:solidFill>
              <a:srgbClr val="0B4F4A"/>
            </a:solidFill>
            <a:prstDash val="solid"/>
          </a:ln>
        </p:spPr>
      </p:sp>
      <p:sp>
        <p:nvSpPr>
          <p:cNvPr id="7" name="Text 4"/>
          <p:cNvSpPr txBox="1"/>
          <p:nvPr/>
        </p:nvSpPr>
        <p:spPr>
          <a:xfrm>
            <a:off x="4663440" y="1234440"/>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Start / end; red = refused</a:t>
            </a:r>
            <a:endParaRPr lang="en-US" sz="1100" dirty="0"/>
          </a:p>
        </p:txBody>
      </p:sp>
      <p:sp>
        <p:nvSpPr>
          <p:cNvPr id="8" name="Shape 5"/>
          <p:cNvSpPr/>
          <p:nvPr/>
        </p:nvSpPr>
        <p:spPr>
          <a:xfrm>
            <a:off x="3931920" y="1664208"/>
            <a:ext cx="640080" cy="329184"/>
          </a:xfrm>
          <a:prstGeom prst="flowChartProcess">
            <a:avLst/>
          </a:prstGeom>
          <a:solidFill>
            <a:srgbClr val="E8F0EE"/>
          </a:solidFill>
          <a:ln w="12700">
            <a:solidFill>
              <a:srgbClr val="0B4F4A"/>
            </a:solidFill>
            <a:prstDash val="solid"/>
          </a:ln>
        </p:spPr>
      </p:sp>
      <p:sp>
        <p:nvSpPr>
          <p:cNvPr id="9" name="Text 6"/>
          <p:cNvSpPr txBox="1"/>
          <p:nvPr/>
        </p:nvSpPr>
        <p:spPr>
          <a:xfrm>
            <a:off x="4663440" y="1664208"/>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Process: one step</a:t>
            </a:r>
            <a:endParaRPr lang="en-US" sz="1100" dirty="0"/>
          </a:p>
        </p:txBody>
      </p:sp>
      <p:sp>
        <p:nvSpPr>
          <p:cNvPr id="10" name="Shape 7"/>
          <p:cNvSpPr/>
          <p:nvPr/>
        </p:nvSpPr>
        <p:spPr>
          <a:xfrm>
            <a:off x="3931920" y="2093976"/>
            <a:ext cx="640080" cy="329184"/>
          </a:xfrm>
          <a:prstGeom prst="flowChartDecision">
            <a:avLst/>
          </a:prstGeom>
          <a:solidFill>
            <a:srgbClr val="FDF1D6"/>
          </a:solidFill>
          <a:ln w="12700">
            <a:solidFill>
              <a:srgbClr val="0B4F4A"/>
            </a:solidFill>
            <a:prstDash val="solid"/>
          </a:ln>
        </p:spPr>
      </p:sp>
      <p:sp>
        <p:nvSpPr>
          <p:cNvPr id="11" name="Text 8"/>
          <p:cNvSpPr txBox="1"/>
          <p:nvPr/>
        </p:nvSpPr>
        <p:spPr>
          <a:xfrm>
            <a:off x="4663440" y="2093976"/>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Decision: Yes / No</a:t>
            </a:r>
            <a:endParaRPr lang="en-US" sz="1100" dirty="0"/>
          </a:p>
        </p:txBody>
      </p:sp>
      <p:sp>
        <p:nvSpPr>
          <p:cNvPr id="12" name="Shape 9"/>
          <p:cNvSpPr/>
          <p:nvPr/>
        </p:nvSpPr>
        <p:spPr>
          <a:xfrm>
            <a:off x="3931920" y="2523744"/>
            <a:ext cx="640080" cy="329184"/>
          </a:xfrm>
          <a:prstGeom prst="flowChartInputOutput">
            <a:avLst/>
          </a:prstGeom>
          <a:solidFill>
            <a:srgbClr val="E8F0EE"/>
          </a:solidFill>
          <a:ln w="12700">
            <a:solidFill>
              <a:srgbClr val="0B4F4A"/>
            </a:solidFill>
            <a:prstDash val="solid"/>
          </a:ln>
        </p:spPr>
      </p:sp>
      <p:sp>
        <p:nvSpPr>
          <p:cNvPr id="13" name="Text 10"/>
          <p:cNvSpPr txBox="1"/>
          <p:nvPr/>
        </p:nvSpPr>
        <p:spPr>
          <a:xfrm>
            <a:off x="4663440" y="2523744"/>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Input / output</a:t>
            </a:r>
            <a:endParaRPr lang="en-US" sz="1100" dirty="0"/>
          </a:p>
        </p:txBody>
      </p:sp>
      <p:sp>
        <p:nvSpPr>
          <p:cNvPr id="14" name="Shape 11"/>
          <p:cNvSpPr/>
          <p:nvPr/>
        </p:nvSpPr>
        <p:spPr>
          <a:xfrm>
            <a:off x="3931920" y="2953512"/>
            <a:ext cx="640080" cy="329184"/>
          </a:xfrm>
          <a:prstGeom prst="flowChartPredefinedProcess">
            <a:avLst/>
          </a:prstGeom>
          <a:solidFill>
            <a:srgbClr val="E8F0EE"/>
          </a:solidFill>
          <a:ln w="12700">
            <a:solidFill>
              <a:srgbClr val="0B4F4A"/>
            </a:solidFill>
            <a:prstDash val="solid"/>
          </a:ln>
        </p:spPr>
      </p:sp>
      <p:sp>
        <p:nvSpPr>
          <p:cNvPr id="15" name="Text 12"/>
          <p:cNvSpPr txBox="1"/>
          <p:nvPr/>
        </p:nvSpPr>
        <p:spPr>
          <a:xfrm>
            <a:off x="4663440" y="2953512"/>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A named Bank operation</a:t>
            </a:r>
            <a:endParaRPr lang="en-US" sz="1100" dirty="0"/>
          </a:p>
        </p:txBody>
      </p:sp>
      <p:sp>
        <p:nvSpPr>
          <p:cNvPr id="16" name="Shape 13"/>
          <p:cNvSpPr/>
          <p:nvPr/>
        </p:nvSpPr>
        <p:spPr>
          <a:xfrm>
            <a:off x="3931920" y="3383280"/>
            <a:ext cx="640080" cy="329184"/>
          </a:xfrm>
          <a:prstGeom prst="flowChartMagneticDisk">
            <a:avLst/>
          </a:prstGeom>
          <a:solidFill>
            <a:srgbClr val="E8F0EE"/>
          </a:solidFill>
          <a:ln w="12700">
            <a:solidFill>
              <a:srgbClr val="0B4F4A"/>
            </a:solidFill>
            <a:prstDash val="solid"/>
          </a:ln>
        </p:spPr>
      </p:sp>
      <p:sp>
        <p:nvSpPr>
          <p:cNvPr id="17" name="Text 14"/>
          <p:cNvSpPr txBox="1"/>
          <p:nvPr/>
        </p:nvSpPr>
        <p:spPr>
          <a:xfrm>
            <a:off x="4663440" y="3383280"/>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Ledger / audit log</a:t>
            </a:r>
            <a:endParaRPr lang="en-US" sz="1100" dirty="0"/>
          </a:p>
        </p:txBody>
      </p:sp>
      <p:sp>
        <p:nvSpPr>
          <p:cNvPr id="18" name="Text 15"/>
          <p:cNvSpPr txBox="1"/>
          <p:nvPr/>
        </p:nvSpPr>
        <p:spPr>
          <a:xfrm>
            <a:off x="6720840" y="1234440"/>
            <a:ext cx="1965960" cy="2560320"/>
          </a:xfrm>
          <a:prstGeom prst="rect">
            <a:avLst/>
          </a:prstGeom>
          <a:noFill/>
          <a:ln/>
        </p:spPr>
        <p:txBody>
          <a:bodyPr wrap="square" lIns="0" tIns="0" rIns="0" bIns="0" rtlCol="0" anchor="t"/>
          <a:lstStyle/>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1. Program overview</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2. Onboarding</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3. Transfer payment</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4. Card purchase</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5. Financing lifecycle</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6. Desktop console</a:t>
            </a:r>
            <a:endParaRPr lang="en-US" sz="1200" dirty="0"/>
          </a:p>
        </p:txBody>
      </p:sp>
      <p:sp>
        <p:nvSpPr>
          <p:cNvPr id="19" name="Text 16"/>
          <p:cNvSpPr txBox="1"/>
          <p:nvPr/>
        </p:nvSpPr>
        <p:spPr>
          <a:xfrm>
            <a:off x="3931920" y="4069080"/>
            <a:ext cx="4754880" cy="457200"/>
          </a:xfrm>
          <a:prstGeom prst="rect">
            <a:avLst/>
          </a:prstGeom>
          <a:noFill/>
          <a:ln/>
        </p:spPr>
        <p:txBody>
          <a:bodyPr wrap="square" lIns="0" tIns="0" rIns="0" bIns="0" rtlCol="0" anchor="ctr"/>
          <a:lstStyle/>
          <a:p>
            <a:pPr indent="0" marL="0">
              <a:buNone/>
            </a:pPr>
            <a:r>
              <a:rPr lang="en-US" sz="1100" i="1" dirty="0">
                <a:solidFill>
                  <a:srgbClr val="5B6B69"/>
                </a:solidFill>
                <a:latin typeface="Calibri" pitchFamily="34" charset="0"/>
                <a:ea typeface="Calibri" pitchFamily="34" charset="-122"/>
                <a:cs typeface="Calibri" pitchFamily="34" charset="-120"/>
              </a:rPr>
              <a:t>Report section 4.1 (flowcharts) and 4.2 (state machines)</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Objects working together: one large transfer</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UML sequence diagram of scenario 2 (TRF-002), labelled from the demonstration's own records</a:t>
            </a:r>
            <a:endParaRPr lang="en-US" sz="1200" dirty="0"/>
          </a:p>
        </p:txBody>
      </p:sp>
      <p:sp>
        <p:nvSpPr>
          <p:cNvPr id="4" name="Shape 2"/>
          <p:cNvSpPr/>
          <p:nvPr/>
        </p:nvSpPr>
        <p:spPr>
          <a:xfrm>
            <a:off x="457200" y="1188720"/>
            <a:ext cx="3429000" cy="3611880"/>
          </a:xfrm>
          <a:prstGeom prst="roundRect">
            <a:avLst>
              <a:gd name="adj" fmla="val 2133"/>
            </a:avLst>
          </a:prstGeom>
          <a:solidFill>
            <a:srgbClr val="F4F8F7"/>
          </a:solidFill>
          <a:ln w="12700">
            <a:solidFill>
              <a:srgbClr val="F4F8F7"/>
            </a:solidFill>
            <a:prstDash val="solid"/>
          </a:ln>
        </p:spPr>
      </p:sp>
      <p:pic>
        <p:nvPicPr>
          <p:cNvPr id="5" name="Image 0" descr="/home/user/commercial-banking/docs/sequence_1_large_transfer.png">    </p:cNvPr>
          <p:cNvPicPr>
            <a:picLocks noChangeAspect="1"/>
          </p:cNvPicPr>
          <p:nvPr/>
        </p:nvPicPr>
        <p:blipFill>
          <a:blip r:embed="rId1"/>
          <a:stretch>
            <a:fillRect/>
          </a:stretch>
        </p:blipFill>
        <p:spPr>
          <a:xfrm>
            <a:off x="581755" y="1234440"/>
            <a:ext cx="3179890" cy="3520440"/>
          </a:xfrm>
          <a:prstGeom prst="rect">
            <a:avLst/>
          </a:prstGeom>
        </p:spPr>
      </p:pic>
      <p:sp>
        <p:nvSpPr>
          <p:cNvPr id="6" name="Text 3"/>
          <p:cNvSpPr txBox="1"/>
          <p:nvPr/>
        </p:nvSpPr>
        <p:spPr>
          <a:xfrm>
            <a:off x="4160520" y="1234440"/>
            <a:ext cx="4526280" cy="3566160"/>
          </a:xfrm>
          <a:prstGeom prst="rect">
            <a:avLst/>
          </a:prstGeom>
          <a:noFill/>
          <a:ln/>
        </p:spPr>
        <p:txBody>
          <a:bodyPr wrap="square" lIns="635" tIns="635" rIns="635" bIns="635" rtlCol="0" anchor="t"/>
          <a:lstStyle/>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Hamza starts TRF-002: the Bank asks Ravi Textiles for his mandate and CUR-002 for the funds</a:t>
            </a:r>
            <a:endParaRPr lang="en-US" sz="1250" dirty="0"/>
          </a:p>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Above PKR 1,000,000 the mandate needs a second signatory: the payment waits</a:t>
            </a:r>
            <a:endParaRPr lang="en-US" sz="1250" dirty="0"/>
          </a:p>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Ayesha approves: mandate and funds are checked again; above the review threshold it is held and a FraudAlert is created</a:t>
            </a:r>
            <a:endParaRPr lang="en-US" sz="1250" dirty="0"/>
          </a:p>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Kamran (compliance) releases it: the hold ends and post() writes two legs that sum to zero</a:t>
            </a:r>
            <a:endParaRPr lang="en-US" sz="1250" dirty="0"/>
          </a:p>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The script that draws it stops if the diagram differs from the payment's recorded status trail</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Beyond the brief: saving and an assistant</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Both are small class hierarchies, built like the model</a:t>
            </a:r>
            <a:endParaRPr lang="en-US" sz="1200" dirty="0"/>
          </a:p>
        </p:txBody>
      </p:sp>
      <p:sp>
        <p:nvSpPr>
          <p:cNvPr id="4" name="Shape 2"/>
          <p:cNvSpPr/>
          <p:nvPr/>
        </p:nvSpPr>
        <p:spPr>
          <a:xfrm>
            <a:off x="457200" y="1234440"/>
            <a:ext cx="4023360" cy="3474720"/>
          </a:xfrm>
          <a:prstGeom prst="roundRect">
            <a:avLst>
              <a:gd name="adj" fmla="val 2105"/>
            </a:avLst>
          </a:prstGeom>
          <a:solidFill>
            <a:srgbClr val="E8F0EE"/>
          </a:solidFill>
          <a:ln w="12700">
            <a:solidFill>
              <a:srgbClr val="E8F0EE"/>
            </a:solidFill>
            <a:prstDash val="solid"/>
          </a:ln>
        </p:spPr>
      </p:sp>
      <p:sp>
        <p:nvSpPr>
          <p:cNvPr id="5" name="Text 3"/>
          <p:cNvSpPr txBox="1"/>
          <p:nvPr/>
        </p:nvSpPr>
        <p:spPr>
          <a:xfrm>
            <a:off x="640080" y="1371600"/>
            <a:ext cx="3657600" cy="457200"/>
          </a:xfrm>
          <a:prstGeom prst="rect">
            <a:avLst/>
          </a:prstGeom>
          <a:noFill/>
          <a:ln/>
        </p:spPr>
        <p:txBody>
          <a:bodyPr wrap="square" lIns="0" tIns="0" rIns="0" bIns="0" rtlCol="0" anchor="ctr"/>
          <a:lstStyle/>
          <a:p>
            <a:pPr indent="0" marL="0">
              <a:buNone/>
            </a:pPr>
            <a:r>
              <a:rPr lang="en-US" sz="1600" b="1" dirty="0">
                <a:solidFill>
                  <a:srgbClr val="0B4F4A"/>
                </a:solidFill>
                <a:latin typeface="Cambria" pitchFamily="34" charset="0"/>
                <a:ea typeface="Cambria" pitchFamily="34" charset="-122"/>
                <a:cs typeface="Cambria" pitchFamily="34" charset="-120"/>
              </a:rPr>
              <a:t>Save and load the whole bank (JSON)</a:t>
            </a:r>
            <a:endParaRPr lang="en-US" sz="1600" dirty="0"/>
          </a:p>
        </p:txBody>
      </p:sp>
      <p:sp>
        <p:nvSpPr>
          <p:cNvPr id="6" name="Text 4"/>
          <p:cNvSpPr txBox="1"/>
          <p:nvPr/>
        </p:nvSpPr>
        <p:spPr>
          <a:xfrm>
            <a:off x="594360" y="1920240"/>
            <a:ext cx="3749040" cy="265176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Repository (abstract): the JSON format, save() / load()</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JsonFileRepository and MemoryRepository only decide where</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Links saved as references; an exact round trip of 1,375 objects</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JSON written and read by the model's own Json and JsonReader</a:t>
            </a:r>
            <a:endParaRPr lang="en-US" sz="1300" dirty="0"/>
          </a:p>
        </p:txBody>
      </p:sp>
      <p:sp>
        <p:nvSpPr>
          <p:cNvPr id="7" name="Shape 5"/>
          <p:cNvSpPr/>
          <p:nvPr/>
        </p:nvSpPr>
        <p:spPr>
          <a:xfrm>
            <a:off x="4663440" y="1234440"/>
            <a:ext cx="4023360" cy="3474720"/>
          </a:xfrm>
          <a:prstGeom prst="roundRect">
            <a:avLst>
              <a:gd name="adj" fmla="val 2105"/>
            </a:avLst>
          </a:prstGeom>
          <a:solidFill>
            <a:srgbClr val="E8F0EE"/>
          </a:solidFill>
          <a:ln w="12700">
            <a:solidFill>
              <a:srgbClr val="E8F0EE"/>
            </a:solidFill>
            <a:prstDash val="solid"/>
          </a:ln>
        </p:spPr>
      </p:sp>
      <p:sp>
        <p:nvSpPr>
          <p:cNvPr id="8" name="Text 6"/>
          <p:cNvSpPr txBox="1"/>
          <p:nvPr/>
        </p:nvSpPr>
        <p:spPr>
          <a:xfrm>
            <a:off x="4846320" y="1371600"/>
            <a:ext cx="3657600" cy="457200"/>
          </a:xfrm>
          <a:prstGeom prst="rect">
            <a:avLst/>
          </a:prstGeom>
          <a:noFill/>
          <a:ln/>
        </p:spPr>
        <p:txBody>
          <a:bodyPr wrap="square" lIns="0" tIns="0" rIns="0" bIns="0" rtlCol="0" anchor="ctr"/>
          <a:lstStyle/>
          <a:p>
            <a:pPr indent="0" marL="0">
              <a:buNone/>
            </a:pPr>
            <a:r>
              <a:rPr lang="en-US" sz="1600" b="1" dirty="0">
                <a:solidFill>
                  <a:srgbClr val="0B4F4A"/>
                </a:solidFill>
                <a:latin typeface="Cambria" pitchFamily="34" charset="0"/>
                <a:ea typeface="Cambria" pitchFamily="34" charset="-122"/>
                <a:cs typeface="Cambria" pitchFamily="34" charset="-120"/>
              </a:rPr>
              <a:t>AI assistant (optional)</a:t>
            </a:r>
            <a:endParaRPr lang="en-US" sz="1600" dirty="0"/>
          </a:p>
        </p:txBody>
      </p:sp>
      <p:sp>
        <p:nvSpPr>
          <p:cNvPr id="9" name="Text 7"/>
          <p:cNvSpPr txBox="1"/>
          <p:nvPr/>
        </p:nvSpPr>
        <p:spPr>
          <a:xfrm>
            <a:off x="4800600" y="1920240"/>
            <a:ext cx="3749040" cy="265176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Assistant -&gt; OfflineAssistant -&gt; ClaudeAssistant</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Answers from the records; prepares a form, never runs it</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Works offline; Claude only sees the facts it needs</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No libraries: the building blocks are classes too</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banking_system.py imports only sys; a test reads the file's own source to prove it</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3931920" cy="914400"/>
        </p:xfrm>
        <a:graphic>
          <a:graphicData uri="http://schemas.openxmlformats.org/drawingml/2006/table">
            <a:tbl>
              <a:tblPr/>
              <a:tblGrid>
                <a:gridCol w="2377440"/>
                <a:gridCol w="1554480"/>
              </a:tblGrid>
              <a:tr h="42062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Own class</a:t>
                      </a:r>
                      <a:endParaRPr lang="en-US" sz="12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0B4F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Instead of</a:t>
                      </a:r>
                      <a:endParaRPr lang="en-US" sz="12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0B4F4A"/>
                    </a:solidFill>
                  </a:tcPr>
                </a:tc>
              </a:tr>
              <a:tr h="420624">
                <a:tc>
                  <a:txBody>
                    <a:bodyPr/>
                    <a:lstStyle/>
                    <a:p>
                      <a:pPr indent="0" marL="0">
                        <a:buNone/>
                      </a:pPr>
                      <a:r>
                        <a:rPr lang="en-US" sz="1200" dirty="0">
                          <a:solidFill>
                            <a:srgbClr val="1D2B2A"/>
                          </a:solidFill>
                          <a:latin typeface="Calibri" pitchFamily="34" charset="0"/>
                          <a:ea typeface="Calibri" pitchFamily="34" charset="-122"/>
                          <a:cs typeface="Calibri" pitchFamily="34" charset="-120"/>
                        </a:rPr>
                        <a:t>Exact → Money</a:t>
                      </a:r>
                      <a:endParaRPr lang="en-US" sz="12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200" dirty="0">
                          <a:solidFill>
                            <a:srgbClr val="1D2B2A"/>
                          </a:solidFill>
                          <a:latin typeface="Courier New" pitchFamily="34" charset="0"/>
                          <a:ea typeface="Courier New" pitchFamily="34" charset="-122"/>
                          <a:cs typeface="Courier New" pitchFamily="34" charset="-120"/>
                        </a:rPr>
                        <a:t>decimal</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r>
              <a:tr h="420624">
                <a:tc>
                  <a:txBody>
                    <a:bodyPr/>
                    <a:lstStyle/>
                    <a:p>
                      <a:pPr indent="0" marL="0">
                        <a:buNone/>
                      </a:pPr>
                      <a:r>
                        <a:rPr lang="en-US" sz="1200" dirty="0">
                          <a:solidFill>
                            <a:srgbClr val="1D2B2A"/>
                          </a:solidFill>
                          <a:latin typeface="Calibri" pitchFamily="34" charset="0"/>
                          <a:ea typeface="Calibri" pitchFamily="34" charset="-122"/>
                          <a:cs typeface="Calibri" pitchFamily="34" charset="-120"/>
                        </a:rPr>
                        <a:t>Date, Days</a:t>
                      </a:r>
                      <a:endParaRPr lang="en-US" sz="12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200" dirty="0">
                          <a:solidFill>
                            <a:srgbClr val="1D2B2A"/>
                          </a:solidFill>
                          <a:latin typeface="Courier New" pitchFamily="34" charset="0"/>
                          <a:ea typeface="Courier New" pitchFamily="34" charset="-122"/>
                          <a:cs typeface="Courier New" pitchFamily="34" charset="-120"/>
                        </a:rPr>
                        <a:t>datetime</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r>
              <a:tr h="420624">
                <a:tc>
                  <a:txBody>
                    <a:bodyPr/>
                    <a:lstStyle/>
                    <a:p>
                      <a:pPr indent="0" marL="0">
                        <a:buNone/>
                      </a:pPr>
                      <a:r>
                        <a:rPr lang="en-US" sz="1200" dirty="0">
                          <a:solidFill>
                            <a:srgbClr val="1D2B2A"/>
                          </a:solidFill>
                          <a:latin typeface="Calibri" pitchFamily="34" charset="0"/>
                          <a:ea typeface="Calibri" pitchFamily="34" charset="-122"/>
                          <a:cs typeface="Calibri" pitchFamily="34" charset="-120"/>
                        </a:rPr>
                        <a:t>Abstract, @abstract</a:t>
                      </a:r>
                      <a:endParaRPr lang="en-US" sz="12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200" dirty="0">
                          <a:solidFill>
                            <a:srgbClr val="1D2B2A"/>
                          </a:solidFill>
                          <a:latin typeface="Courier New" pitchFamily="34" charset="0"/>
                          <a:ea typeface="Courier New" pitchFamily="34" charset="-122"/>
                          <a:cs typeface="Courier New" pitchFamily="34" charset="-120"/>
                        </a:rPr>
                        <a:t>abc</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r>
              <a:tr h="420624">
                <a:tc>
                  <a:txBody>
                    <a:bodyPr/>
                    <a:lstStyle/>
                    <a:p>
                      <a:pPr indent="0" marL="0">
                        <a:buNone/>
                      </a:pPr>
                      <a:r>
                        <a:rPr lang="en-US" sz="1200" dirty="0">
                          <a:solidFill>
                            <a:srgbClr val="1D2B2A"/>
                          </a:solidFill>
                          <a:latin typeface="Calibri" pitchFamily="34" charset="0"/>
                          <a:ea typeface="Calibri" pitchFamily="34" charset="-122"/>
                          <a:cs typeface="Calibri" pitchFamily="34" charset="-120"/>
                        </a:rPr>
                        <a:t>Json, JsonReader</a:t>
                      </a:r>
                      <a:endParaRPr lang="en-US" sz="12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200" dirty="0">
                          <a:solidFill>
                            <a:srgbClr val="1D2B2A"/>
                          </a:solidFill>
                          <a:latin typeface="Courier New" pitchFamily="34" charset="0"/>
                          <a:ea typeface="Courier New" pitchFamily="34" charset="-122"/>
                          <a:cs typeface="Courier New" pitchFamily="34" charset="-120"/>
                        </a:rPr>
                        <a:t>json</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r>
              <a:tr h="420624">
                <a:tc>
                  <a:txBody>
                    <a:bodyPr/>
                    <a:lstStyle/>
                    <a:p>
                      <a:pPr indent="0" marL="0">
                        <a:buNone/>
                      </a:pPr>
                      <a:r>
                        <a:rPr lang="en-US" sz="1200" dirty="0">
                          <a:solidFill>
                            <a:srgbClr val="1D2B2A"/>
                          </a:solidFill>
                          <a:latin typeface="Calibri" pitchFamily="34" charset="0"/>
                          <a:ea typeface="Calibri" pitchFamily="34" charset="-122"/>
                          <a:cs typeface="Calibri" pitchFamily="34" charset="-120"/>
                        </a:rPr>
                        <a:t>TestCase, TestRunner</a:t>
                      </a:r>
                      <a:endParaRPr lang="en-US" sz="12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200" dirty="0">
                          <a:solidFill>
                            <a:srgbClr val="1D2B2A"/>
                          </a:solidFill>
                          <a:latin typeface="Courier New" pitchFamily="34" charset="0"/>
                          <a:ea typeface="Courier New" pitchFamily="34" charset="-122"/>
                          <a:cs typeface="Courier New" pitchFamily="34" charset="-120"/>
                        </a:rPr>
                        <a:t>unittest</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r>
              <a:tr h="420624">
                <a:tc>
                  <a:txBody>
                    <a:bodyPr/>
                    <a:lstStyle/>
                    <a:p>
                      <a:pPr indent="0" marL="0">
                        <a:buNone/>
                      </a:pPr>
                      <a:r>
                        <a:rPr lang="en-US" sz="1200" dirty="0">
                          <a:solidFill>
                            <a:srgbClr val="1D2B2A"/>
                          </a:solidFill>
                          <a:latin typeface="Calibri" pitchFamily="34" charset="0"/>
                          <a:ea typeface="Calibri" pitchFamily="34" charset="-122"/>
                          <a:cs typeface="Calibri" pitchFamily="34" charset="-120"/>
                        </a:rPr>
                        <a:t>DemoLog, SourceIndex</a:t>
                      </a:r>
                      <a:endParaRPr lang="en-US" sz="12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200" dirty="0">
                          <a:solidFill>
                            <a:srgbClr val="1D2B2A"/>
                          </a:solidFill>
                          <a:latin typeface="Courier New" pitchFamily="34" charset="0"/>
                          <a:ea typeface="Courier New" pitchFamily="34" charset="-122"/>
                          <a:cs typeface="Courier New" pitchFamily="34" charset="-120"/>
                        </a:rPr>
                        <a:t>io, inspect</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4343400"/>
            <a:ext cx="3931920" cy="457200"/>
          </a:xfrm>
          <a:prstGeom prst="rect">
            <a:avLst/>
          </a:prstGeom>
          <a:noFill/>
          <a:ln/>
        </p:spPr>
        <p:txBody>
          <a:bodyPr wrap="square" lIns="0" tIns="0" rIns="0" bIns="0" rtlCol="0" anchor="ctr"/>
          <a:lstStyle/>
          <a:p>
            <a:pPr indent="0" marL="0">
              <a:buNone/>
            </a:pPr>
            <a:r>
              <a:rPr lang="en-US" sz="1100" i="1" dirty="0">
                <a:solidFill>
                  <a:srgbClr val="5B6B69"/>
                </a:solidFill>
                <a:latin typeface="Calibri" pitchFamily="34" charset="0"/>
                <a:ea typeface="Calibri" pitchFamily="34" charset="-122"/>
                <a:cs typeface="Calibri" pitchFamily="34" charset="-120"/>
              </a:rPr>
              <a:t>Money inherits all of Exact's arithmetic and adds one rule: round half up to the paisa.</a:t>
            </a:r>
            <a:endParaRPr lang="en-US" sz="1100" dirty="0"/>
          </a:p>
        </p:txBody>
      </p:sp>
      <p:sp>
        <p:nvSpPr>
          <p:cNvPr id="6" name="Shape 3"/>
          <p:cNvSpPr/>
          <p:nvPr/>
        </p:nvSpPr>
        <p:spPr>
          <a:xfrm>
            <a:off x="4663440" y="1280160"/>
            <a:ext cx="4023360" cy="3520440"/>
          </a:xfrm>
          <a:prstGeom prst="roundRect">
            <a:avLst>
              <a:gd name="adj" fmla="val 2078"/>
            </a:avLst>
          </a:prstGeom>
          <a:solidFill>
            <a:srgbClr val="E8F0EE"/>
          </a:solidFill>
          <a:ln w="12700">
            <a:solidFill>
              <a:srgbClr val="E8F0EE"/>
            </a:solidFill>
            <a:prstDash val="solid"/>
          </a:ln>
        </p:spPr>
      </p:sp>
      <p:sp>
        <p:nvSpPr>
          <p:cNvPr id="7" name="Text 4"/>
          <p:cNvSpPr txBox="1"/>
          <p:nvPr/>
        </p:nvSpPr>
        <p:spPr>
          <a:xfrm>
            <a:off x="4846320" y="1389888"/>
            <a:ext cx="3657600" cy="411480"/>
          </a:xfrm>
          <a:prstGeom prst="rect">
            <a:avLst/>
          </a:prstGeom>
          <a:noFill/>
          <a:ln/>
        </p:spPr>
        <p:txBody>
          <a:bodyPr wrap="square" lIns="0" tIns="0" rIns="0" bIns="0" rtlCol="0" anchor="ctr"/>
          <a:lstStyle/>
          <a:p>
            <a:pPr indent="0" marL="0">
              <a:buNone/>
            </a:pPr>
            <a:r>
              <a:rPr lang="en-US" sz="1600" b="1" dirty="0">
                <a:solidFill>
                  <a:srgbClr val="0B4F4A"/>
                </a:solidFill>
                <a:latin typeface="Cambria" pitchFamily="34" charset="0"/>
                <a:ea typeface="Cambria" pitchFamily="34" charset="-122"/>
                <a:cs typeface="Cambria" pitchFamily="34" charset="-120"/>
              </a:rPr>
              <a:t>Numbers that check themselves</a:t>
            </a:r>
            <a:endParaRPr lang="en-US" sz="1600" dirty="0"/>
          </a:p>
        </p:txBody>
      </p:sp>
      <p:sp>
        <p:nvSpPr>
          <p:cNvPr id="8" name="Text 5"/>
          <p:cNvSpPr txBox="1"/>
          <p:nvPr/>
        </p:nvSpPr>
        <p:spPr>
          <a:xfrm>
            <a:off x="4800600" y="1874520"/>
            <a:ext cx="3749040" cy="2834640"/>
          </a:xfrm>
          <a:prstGeom prst="rect">
            <a:avLst/>
          </a:prstGeom>
          <a:noFill/>
          <a:ln/>
        </p:spPr>
        <p:txBody>
          <a:bodyPr wrap="square" lIns="635" tIns="635" rIns="635" bIns="635" rtlCol="0" anchor="t"/>
          <a:lstStyle/>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Iban (ISO 13616): PK, 2 check digits, bank code, 16 digits; rearranged and divided by 97, it leaves 1</a:t>
            </a:r>
            <a:endParaRPr lang="en-US" sz="1250" dirty="0"/>
          </a:p>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A mistyped IBAN, or a UBL IBAN entered as HBL, is refused before any payment</a:t>
            </a:r>
            <a:endParaRPr lang="en-US" sz="1250" dirty="0"/>
          </a:p>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CardNumber (ISO/IEC 7812): the last digit is a Luhn check digit</a:t>
            </a:r>
            <a:endParaRPr lang="en-US" sz="1250" dirty="0"/>
          </a:p>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Only the first 6 and last 4 digits are kept (PCI DSS), so no screen or file shows a full card number</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Live demo: staff console and digital banking</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banking_gui.py - Python and Tkinter only; every button calls one Bank operation</a:t>
            </a:r>
            <a:endParaRPr lang="en-US" sz="1200" dirty="0"/>
          </a:p>
        </p:txBody>
      </p:sp>
      <p:sp>
        <p:nvSpPr>
          <p:cNvPr id="4" name="Shape 2"/>
          <p:cNvSpPr/>
          <p:nvPr/>
        </p:nvSpPr>
        <p:spPr>
          <a:xfrm>
            <a:off x="457200" y="1188720"/>
            <a:ext cx="5577840" cy="3611880"/>
          </a:xfrm>
          <a:prstGeom prst="roundRect">
            <a:avLst>
              <a:gd name="adj" fmla="val 2025"/>
            </a:avLst>
          </a:prstGeom>
          <a:solidFill>
            <a:srgbClr val="F4F8F7"/>
          </a:solidFill>
          <a:ln w="12700">
            <a:solidFill>
              <a:srgbClr val="F4F8F7"/>
            </a:solidFill>
            <a:prstDash val="solid"/>
          </a:ln>
        </p:spPr>
      </p:sp>
      <p:pic>
        <p:nvPicPr>
          <p:cNvPr id="5" name="Image 0" descr="/home/user/commercial-banking/docs/screenshots/gui_02_overview.png">    </p:cNvPr>
          <p:cNvPicPr>
            <a:picLocks noChangeAspect="1"/>
          </p:cNvPicPr>
          <p:nvPr/>
        </p:nvPicPr>
        <p:blipFill>
          <a:blip r:embed="rId1"/>
          <a:stretch>
            <a:fillRect/>
          </a:stretch>
        </p:blipFill>
        <p:spPr>
          <a:xfrm>
            <a:off x="548640" y="1280160"/>
            <a:ext cx="5394960" cy="3291840"/>
          </a:xfrm>
          <a:prstGeom prst="rect">
            <a:avLst/>
          </a:prstGeom>
        </p:spPr>
      </p:pic>
      <p:sp>
        <p:nvSpPr>
          <p:cNvPr id="6" name="Text 3"/>
          <p:cNvSpPr txBox="1"/>
          <p:nvPr/>
        </p:nvSpPr>
        <p:spPr>
          <a:xfrm>
            <a:off x="6263640" y="1234440"/>
            <a:ext cx="2468880" cy="3566160"/>
          </a:xfrm>
          <a:prstGeom prst="rect">
            <a:avLst/>
          </a:prstGeom>
          <a:noFill/>
          <a:ln/>
        </p:spPr>
        <p:txBody>
          <a:bodyPr wrap="square" lIns="635" tIns="635" rIns="635" bIns="635" rtlCol="0" anchor="t"/>
          <a:lstStyle/>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Sign in as staff or as a customer; the model checks that person's authority</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Staff: forms list what your role may do and record you automatically</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Digital banking: own accounts plus companies under a mandate; approvals, cards, disputes</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80 forms and 14 guided checks cover every workflow in the brief</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GUI classes inherit too: Page -&gt; MasterDetailPage, CustomerView, Chart</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Code review: 20 defects fixed, each with a test</a:t>
            </a:r>
            <a:endParaRPr lang="en-US" sz="2200" dirty="0"/>
          </a:p>
        </p:txBody>
      </p:sp>
      <p:sp>
        <p:nvSpPr>
          <p:cNvPr id="3" name="Shape 1"/>
          <p:cNvSpPr/>
          <p:nvPr/>
        </p:nvSpPr>
        <p:spPr>
          <a:xfrm>
            <a:off x="457200" y="1097280"/>
            <a:ext cx="2651760" cy="3566160"/>
          </a:xfrm>
          <a:prstGeom prst="roundRect">
            <a:avLst>
              <a:gd name="adj" fmla="val 2759"/>
            </a:avLst>
          </a:prstGeom>
          <a:solidFill>
            <a:srgbClr val="0B4F4A"/>
          </a:solidFill>
          <a:ln w="12700">
            <a:solidFill>
              <a:srgbClr val="0B4F4A"/>
            </a:solidFill>
            <a:prstDash val="solid"/>
          </a:ln>
        </p:spPr>
      </p:sp>
      <p:sp>
        <p:nvSpPr>
          <p:cNvPr id="4" name="Text 2"/>
          <p:cNvSpPr txBox="1"/>
          <p:nvPr/>
        </p:nvSpPr>
        <p:spPr>
          <a:xfrm>
            <a:off x="457200" y="1463040"/>
            <a:ext cx="2651760" cy="10972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20</a:t>
            </a:r>
            <a:endParaRPr lang="en-US" sz="6000" dirty="0"/>
          </a:p>
        </p:txBody>
      </p:sp>
      <p:sp>
        <p:nvSpPr>
          <p:cNvPr id="5" name="Text 3"/>
          <p:cNvSpPr txBox="1"/>
          <p:nvPr/>
        </p:nvSpPr>
        <p:spPr>
          <a:xfrm>
            <a:off x="685800" y="2651760"/>
            <a:ext cx="2194560" cy="1097280"/>
          </a:xfrm>
          <a:prstGeom prst="rect">
            <a:avLst/>
          </a:prstGeom>
          <a:noFill/>
          <a:ln/>
        </p:spPr>
        <p:txBody>
          <a:bodyPr wrap="square" lIns="0" tIns="0" rIns="0" bIns="0" rtlCol="0" anchor="ctr"/>
          <a:lstStyle/>
          <a:p>
            <a:pPr algn="ctr" indent="0" marL="0">
              <a:buNone/>
            </a:pPr>
            <a:r>
              <a:rPr lang="en-US" sz="1400" dirty="0">
                <a:solidFill>
                  <a:srgbClr val="CFE3DF"/>
                </a:solidFill>
                <a:latin typeface="Calibri" pitchFamily="34" charset="0"/>
                <a:ea typeface="Calibri" pitchFamily="34" charset="-122"/>
                <a:cs typeface="Calibri" pitchFamily="34" charset="-120"/>
              </a:rPr>
              <a:t>defects found and fixed, each with a regression test</a:t>
            </a:r>
            <a:endParaRPr lang="en-US" sz="1400" dirty="0"/>
          </a:p>
        </p:txBody>
      </p:sp>
      <p:sp>
        <p:nvSpPr>
          <p:cNvPr id="6" name="Text 4"/>
          <p:cNvSpPr txBox="1"/>
          <p:nvPr/>
        </p:nvSpPr>
        <p:spPr>
          <a:xfrm>
            <a:off x="3474720" y="1143000"/>
            <a:ext cx="5212080" cy="3566160"/>
          </a:xfrm>
          <a:prstGeom prst="rect">
            <a:avLst/>
          </a:prstGeom>
          <a:noFill/>
          <a:ln/>
        </p:spPr>
        <p:txBody>
          <a:bodyPr wrap="square" lIns="635" tIns="635" rIns="635" bIns="635" rtlCol="0" anchor="t"/>
          <a:lstStyle/>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A refused loan overpayment still marked installments as paid</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Resolving a dispute twice refunded the customer twice</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Recording an ACTIVE card as found destroyed it</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Replacement cards blocked once the product was withdrawn</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Bank fees used up customers' savings withdrawals</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Account closure ignored holds and pending payments</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No delegated limit on credit approvals</a:t>
            </a:r>
            <a:endParaRPr lang="en-US" sz="13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4F4A"/>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Limitations and how it would scale</a:t>
            </a:r>
            <a:endParaRPr lang="en-US" sz="2800" dirty="0"/>
          </a:p>
        </p:txBody>
      </p:sp>
      <p:sp>
        <p:nvSpPr>
          <p:cNvPr id="3" name="Text 1"/>
          <p:cNvSpPr txBox="1"/>
          <p:nvPr/>
        </p:nvSpPr>
        <p:spPr>
          <a:xfrm>
            <a:off x="548640" y="1188720"/>
            <a:ext cx="3749040" cy="411480"/>
          </a:xfrm>
          <a:prstGeom prst="rect">
            <a:avLst/>
          </a:prstGeom>
          <a:noFill/>
          <a:ln/>
        </p:spPr>
        <p:txBody>
          <a:bodyPr wrap="square" lIns="0" tIns="0" rIns="0" bIns="0" rtlCol="0" anchor="ctr"/>
          <a:lstStyle/>
          <a:p>
            <a:pPr indent="0" marL="0">
              <a:buNone/>
            </a:pPr>
            <a:r>
              <a:rPr lang="en-US" sz="1900" b="1" dirty="0">
                <a:solidFill>
                  <a:srgbClr val="E9D3A6"/>
                </a:solidFill>
                <a:latin typeface="Cambria" pitchFamily="34" charset="0"/>
                <a:ea typeface="Cambria" pitchFamily="34" charset="-122"/>
                <a:cs typeface="Cambria" pitchFamily="34" charset="-120"/>
              </a:rPr>
              <a:t>Today</a:t>
            </a:r>
            <a:endParaRPr lang="en-US" sz="1900" dirty="0"/>
          </a:p>
        </p:txBody>
      </p:sp>
      <p:sp>
        <p:nvSpPr>
          <p:cNvPr id="4" name="Text 2"/>
          <p:cNvSpPr txBox="1"/>
          <p:nvPr/>
        </p:nvSpPr>
        <p:spPr>
          <a:xfrm>
            <a:off x="548640" y="1691640"/>
            <a:ext cx="3749040" cy="2286000"/>
          </a:xfrm>
          <a:prstGeom prst="rect">
            <a:avLst/>
          </a:prstGeom>
          <a:noFill/>
          <a:ln/>
        </p:spPr>
        <p:txBody>
          <a:bodyPr wrap="square" lIns="635" tIns="635" rIns="635" bIns="635"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Single currency (PKR)</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One JSON file, no database</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Two-signatory dual control only</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Fixed review threshold, simple interest</a:t>
            </a:r>
            <a:endParaRPr lang="en-US" sz="1400" dirty="0"/>
          </a:p>
        </p:txBody>
      </p:sp>
      <p:sp>
        <p:nvSpPr>
          <p:cNvPr id="5" name="Text 3"/>
          <p:cNvSpPr txBox="1"/>
          <p:nvPr/>
        </p:nvSpPr>
        <p:spPr>
          <a:xfrm>
            <a:off x="4663440" y="1188720"/>
            <a:ext cx="3749040" cy="411480"/>
          </a:xfrm>
          <a:prstGeom prst="rect">
            <a:avLst/>
          </a:prstGeom>
          <a:noFill/>
          <a:ln/>
        </p:spPr>
        <p:txBody>
          <a:bodyPr wrap="square" lIns="0" tIns="0" rIns="0" bIns="0" rtlCol="0" anchor="ctr"/>
          <a:lstStyle/>
          <a:p>
            <a:pPr indent="0" marL="0">
              <a:buNone/>
            </a:pPr>
            <a:r>
              <a:rPr lang="en-US" sz="1900" b="1" dirty="0">
                <a:solidFill>
                  <a:srgbClr val="E9D3A6"/>
                </a:solidFill>
                <a:latin typeface="Cambria" pitchFamily="34" charset="0"/>
                <a:ea typeface="Cambria" pitchFamily="34" charset="-122"/>
                <a:cs typeface="Cambria" pitchFamily="34" charset="-120"/>
              </a:rPr>
              <a:t>At scale</a:t>
            </a:r>
            <a:endParaRPr lang="en-US" sz="1900" dirty="0"/>
          </a:p>
        </p:txBody>
      </p:sp>
      <p:sp>
        <p:nvSpPr>
          <p:cNvPr id="6" name="Text 4"/>
          <p:cNvSpPr txBox="1"/>
          <p:nvPr/>
        </p:nvSpPr>
        <p:spPr>
          <a:xfrm>
            <a:off x="4663440" y="1691640"/>
            <a:ext cx="3749040" cy="2286000"/>
          </a:xfrm>
          <a:prstGeom prst="rect">
            <a:avLst/>
          </a:prstGeom>
          <a:noFill/>
          <a:ln/>
        </p:spPr>
        <p:txBody>
          <a:bodyPr wrap="square" lIns="635" tIns="635" rIns="635" bIns="635"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Period -&gt; valid_from / valid_to columns in a database</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Bank split into services linked by events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Login supplies the acting person</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Islamic products as new Arrangement subclasses</a:t>
            </a:r>
            <a:endParaRPr lang="en-US" sz="1400" dirty="0"/>
          </a:p>
        </p:txBody>
      </p:sp>
      <p:sp>
        <p:nvSpPr>
          <p:cNvPr id="7" name="Text 5"/>
          <p:cNvSpPr txBox="1"/>
          <p:nvPr/>
        </p:nvSpPr>
        <p:spPr>
          <a:xfrm>
            <a:off x="548640" y="4206240"/>
            <a:ext cx="8046720" cy="457200"/>
          </a:xfrm>
          <a:prstGeom prst="rect">
            <a:avLst/>
          </a:prstGeom>
          <a:noFill/>
          <a:ln/>
        </p:spPr>
        <p:txBody>
          <a:bodyPr wrap="square" lIns="0" tIns="0" rIns="0" bIns="0" rtlCol="0" anchor="ctr"/>
          <a:lstStyle/>
          <a:p>
            <a:pPr indent="0" marL="0">
              <a:buNone/>
            </a:pPr>
            <a:r>
              <a:rPr lang="en-US" sz="2000" i="1" dirty="0">
                <a:solidFill>
                  <a:srgbClr val="FFFFFF"/>
                </a:solidFill>
                <a:latin typeface="Cambria" pitchFamily="34" charset="0"/>
                <a:ea typeface="Cambria" pitchFamily="34" charset="-122"/>
                <a:cs typeface="Cambria" pitchFamily="34" charset="-120"/>
              </a:rPr>
              <a:t>Thank you - questions?</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Problem 4 - Commercial Banking OOP design</dc:title>
  <dc:subject>PptxGenJS Presentation</dc:subject>
  <dc:creator>PptxGenJS</dc:creator>
  <cp:lastModifiedBy>PptxGenJS</cp:lastModifiedBy>
  <cp:revision>1</cp:revision>
  <dcterms:created xsi:type="dcterms:W3CDTF">2026-10-20T04:58:33Z</dcterms:created>
  <dcterms:modified xsi:type="dcterms:W3CDTF">2026-10-20T04:58:33Z</dcterms:modified>
</cp:coreProperties>
</file>