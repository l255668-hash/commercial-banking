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Introduce the project: a teaching model of a commercial bank. The assessed concepts are classes and inheritance. The central idea is that history is never overwritten.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brief asks for at least 30 classes and 30 meaningful operations. Even counting only the 66 state-changing commands we are more than double. The trial balance is zero at the end of the demo, so no scenario created or lost money.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answer to the brief's question about deletion. Closing an account, ending a relationship or revoking a mandate are status changes or closed periods. Bank.party_snapshot rebuilds what the bank knew about a customer on any past date.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 levels because each level has a rule that is genuinely true there and not above it. Ayesha is one Person record with five capacities.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middle level exists because holding customer money is a real behavioural difference. A loan inheriting a ledger balance would be meaningless.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customer payments can be disputed, which is why that level exists. A reversal is a transaction of its own, pointing at the original.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Scenario 5 shows the override: closing the investigation is refused until the debit block is lifted.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obvious alternative, 'everything is an account with flags', fails every critical case: a flag change destroys the fact that it was once different.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python banking_system.py to show them live. Each refusal prints the exact rule, e.g. AuthorityError: the initiator cannot also be the second signatory.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table in docs/Code_Review.md. Every fix is protected by a test, so it cannot silently come 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Arrangement level is where the design pays off for new business models: an Ijarah or Murabaha contract is a new kind of arrangement, not a change to existing classes.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4</a:t>
            </a:r>
            <a:endParaRPr lang="en-US" sz="1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23444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Commercial Banking, Lending, Payments and Compliance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5146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E9D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object model where nothing is deleted and every past state can be rebuilt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38328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Name: ____________________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number: _____________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Course: __________________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project at a glance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Python file, standard library only - banking_system.py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45720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67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classes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4612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24612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3756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operations (66 commands)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035040" y="132588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035040" y="146304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126480" y="224028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multi-level hierarchies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5720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 scenarios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24612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24612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4000" dirty="0"/>
          </a:p>
        </p:txBody>
      </p:sp>
      <p:sp>
        <p:nvSpPr>
          <p:cNvPr id="18" name="Text 16"/>
          <p:cNvSpPr txBox="1"/>
          <p:nvPr/>
        </p:nvSpPr>
        <p:spPr>
          <a:xfrm>
            <a:off x="333756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035040" y="3063240"/>
            <a:ext cx="2606040" cy="1508760"/>
          </a:xfrm>
          <a:prstGeom prst="roundRect">
            <a:avLst>
              <a:gd name="adj" fmla="val 4848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035040" y="3200400"/>
            <a:ext cx="26060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0.00</a:t>
            </a:r>
            <a:endParaRPr lang="en-US" sz="4000" dirty="0"/>
          </a:p>
        </p:txBody>
      </p:sp>
      <p:sp>
        <p:nvSpPr>
          <p:cNvPr id="21" name="Text 19"/>
          <p:cNvSpPr txBox="1"/>
          <p:nvPr/>
        </p:nvSpPr>
        <p:spPr>
          <a:xfrm>
            <a:off x="6126480" y="3977640"/>
            <a:ext cx="2423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 balance total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rule: nothing that happened is ever deleted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techniques answer every question of the form "what was true on date X?"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4008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Periods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118872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Mandates, officer roles, ownerships, restrictions and RM assignments are valid from-to. Revoking closes the period.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52704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394960" y="150876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Status histories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5394960" y="194767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lifecycle keeps each status with date, actor and reason, so status_on(date) is answerable.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008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118872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Versions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18872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terms, beneficiary details and repayment schedules change by adding a version, never by editing.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846320" y="331012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5394960" y="3291840"/>
            <a:ext cx="3108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Counter-records</a:t>
            </a:r>
            <a:endParaRPr lang="en-US" sz="1700" dirty="0"/>
          </a:p>
        </p:txBody>
      </p:sp>
      <p:sp>
        <p:nvSpPr>
          <p:cNvPr id="23" name="Text 21"/>
          <p:cNvSpPr txBox="1"/>
          <p:nvPr/>
        </p:nvSpPr>
        <p:spPr>
          <a:xfrm>
            <a:off x="5394960" y="3730752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is never edited: a Reversal posts equal and opposite entries; the original stays.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Party -&gt; Organization -&gt; Company / Charity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Party: identity, documents, checks, corrections,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 adds officers, owners, mandates and a stricter KYC rule (connected persons must be verified too)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Company needs a director; Charity needs two trustees: structural_gaps() overridden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Customer, director, signatory are ROLES, not subclasses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part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26280" y="1164832"/>
            <a:ext cx="4069080" cy="347677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Arrangement -&gt; DepositAccount -&gt; Current / Savings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97280"/>
            <a:ext cx="374904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Arrangement: product, pinned terms, holders, branch history, status, restrictions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DepositAccount adds what only accounts holding money have: ledger, holds, available balance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CurrentAccount overrides overdraft_limit(); SavingsAccount extends check_debit()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FinancingAgreement sits beside DepositAccount: it holds no customer money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434840" y="1005840"/>
            <a:ext cx="4251960" cy="3794760"/>
          </a:xfrm>
          <a:prstGeom prst="roundRect">
            <a:avLst>
              <a:gd name="adj" fmla="val 1928"/>
            </a:avLst>
          </a:prstGeom>
          <a:solidFill>
            <a:srgbClr val="F4F8F7"/>
          </a:solidFill>
          <a:ln w="12700">
            <a:solidFill>
              <a:srgbClr val="F4F8F7"/>
            </a:solidFill>
            <a:prstDash val="solid"/>
          </a:ln>
        </p:spPr>
      </p:sp>
      <p:pic>
        <p:nvPicPr>
          <p:cNvPr id="5" name="Image 0" descr="/home/user/commercial-banking/docs/uml_arrangement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61269" y="1097280"/>
            <a:ext cx="3599102" cy="361188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BankTransaction -&gt; CustomerPayment / LoanTransaction</a:t>
            </a:r>
            <a:endParaRPr lang="en-US" sz="22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movement is double-entry; post() refuses legs that do not sum to zero</a:t>
            </a:r>
            <a:endParaRPr lang="en-US" sz="1200" dirty="0"/>
          </a:p>
        </p:txBody>
      </p:sp>
      <p:pic>
        <p:nvPicPr>
          <p:cNvPr id="4" name="Image 0" descr="/home/user/commercial-banking/docs/uml_transac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328703"/>
            <a:ext cx="8412480" cy="218891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CustomerPayment adds initiator, channel, mandate used, 2nd signatory, disputes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TransferPayment snapshots the beneficiary version; CardPayment the exact card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LoanTransaction groups disbursement, repayment and interest capitalisation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-&gt; CustomerCase / RiskCase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Separate, linked records: the branch complaint and the compliance investigation</a:t>
            </a:r>
            <a:endParaRPr lang="en-US" sz="1200" dirty="0"/>
          </a:p>
        </p:txBody>
      </p:sp>
      <p:pic>
        <p:nvPicPr>
          <p:cNvPr id="4" name="Image 0" descr="/home/user/commercial-banking/docs/uml_cas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89354" y="1234440"/>
            <a:ext cx="5765292" cy="23774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457200" y="3703320"/>
            <a:ext cx="8229600" cy="118872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CustomerCase: arrives through a channel from a contact person (dispute, complaint, service request)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RiskCase: bank-initiated; overrides close() so it cannot close while its restrictions are live</a:t>
            </a:r>
            <a:endParaRPr lang="en-US" sz="12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CollectionsCase: opened by the arrears batch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Tempting inheritances we rejected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 in the report; four of the strongest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4008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18872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Customer(Person)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118872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human is customer, director and signatory at once; roles start and end on different dates.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663440" y="132588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846320" y="152704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5394960" y="150876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IssuedCard(DepositAccount)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5394960" y="196596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card holds no money and many cards share one account: it is a credential.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45720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18872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FinancingAgreement(DepositAccount)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118872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loan has no ledger of customer funds, holds or available balance.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663440" y="3108960"/>
            <a:ext cx="4023360" cy="1600200"/>
          </a:xfrm>
          <a:prstGeom prst="roundRect">
            <a:avLst>
              <a:gd name="adj" fmla="val 4571"/>
            </a:avLst>
          </a:prstGeom>
          <a:solidFill>
            <a:srgbClr val="E8F0EE"/>
          </a:solidFill>
          <a:ln w="12700">
            <a:solidFill>
              <a:srgbClr val="E8F0E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3310128"/>
            <a:ext cx="384048" cy="384048"/>
          </a:xfrm>
          <a:prstGeom prst="rect">
            <a:avLst/>
          </a:prstGeom>
          <a:solidFill>
            <a:srgbClr val="9C3D1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x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94960" y="3291840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4F4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reversed = True flag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5394960" y="3749040"/>
            <a:ext cx="3154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reversal has its own date, amount, approver and reason, and can be partial.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 scenarios break the normal workflow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804672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ten critical cases in the brief are covered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57200" y="123444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5720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1234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expires mid-onboarding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57200" y="1746504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57200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960120" y="174650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transfer: dual control, hold, release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457200" y="225856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720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960120" y="2258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 stolen, replaced twice, found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457200" y="2770632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5720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60120" y="27706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Posted, reversed, re-posted, disputed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457200" y="3282696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45720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32826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then cleared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457200" y="379476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5720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37947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Financing: limits, arrears, restructure</a:t>
            </a:r>
            <a:endParaRPr lang="en-US" sz="1250" dirty="0"/>
          </a:p>
        </p:txBody>
      </p:sp>
      <p:sp>
        <p:nvSpPr>
          <p:cNvPr id="22" name="Shape 20"/>
          <p:cNvSpPr/>
          <p:nvPr/>
        </p:nvSpPr>
        <p:spPr>
          <a:xfrm>
            <a:off x="457200" y="4306824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457200" y="43068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960120" y="43068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 leaves; authority provable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663440" y="123444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663440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5166360" y="1234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Beneficiary changes bank details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4663440" y="1746504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4663440" y="174650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400" dirty="0"/>
          </a:p>
        </p:txBody>
      </p:sp>
      <p:sp>
        <p:nvSpPr>
          <p:cNvPr id="30" name="Text 28"/>
          <p:cNvSpPr txBox="1"/>
          <p:nvPr/>
        </p:nvSpPr>
        <p:spPr>
          <a:xfrm>
            <a:off x="5166360" y="174650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keeps corrected data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4663440" y="2258568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663440" y="22585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5166360" y="225856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 withdrawn, terms pinned</a:t>
            </a:r>
            <a:endParaRPr lang="en-US" sz="1250" dirty="0"/>
          </a:p>
        </p:txBody>
      </p:sp>
      <p:sp>
        <p:nvSpPr>
          <p:cNvPr id="34" name="Shape 32"/>
          <p:cNvSpPr/>
          <p:nvPr/>
        </p:nvSpPr>
        <p:spPr>
          <a:xfrm>
            <a:off x="4663440" y="2770632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4663440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5166360" y="27706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closes; all moves</a:t>
            </a:r>
            <a:endParaRPr lang="en-US" sz="1250" dirty="0"/>
          </a:p>
        </p:txBody>
      </p:sp>
      <p:sp>
        <p:nvSpPr>
          <p:cNvPr id="37" name="Shape 35"/>
          <p:cNvSpPr/>
          <p:nvPr/>
        </p:nvSpPr>
        <p:spPr>
          <a:xfrm>
            <a:off x="4663440" y="3282696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663440" y="32826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400" dirty="0"/>
          </a:p>
        </p:txBody>
      </p:sp>
      <p:sp>
        <p:nvSpPr>
          <p:cNvPr id="39" name="Text 37"/>
          <p:cNvSpPr txBox="1"/>
          <p:nvPr/>
        </p:nvSpPr>
        <p:spPr>
          <a:xfrm>
            <a:off x="5166360" y="328269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Savings limit; closure not deletion</a:t>
            </a:r>
            <a:endParaRPr lang="en-US" sz="1250" dirty="0"/>
          </a:p>
        </p:txBody>
      </p:sp>
      <p:sp>
        <p:nvSpPr>
          <p:cNvPr id="40" name="Shape 38"/>
          <p:cNvSpPr/>
          <p:nvPr/>
        </p:nvSpPr>
        <p:spPr>
          <a:xfrm>
            <a:off x="4663440" y="3794760"/>
            <a:ext cx="384048" cy="384048"/>
          </a:xfrm>
          <a:prstGeom prst="ellipse">
            <a:avLst/>
          </a:prstGeom>
          <a:solidFill>
            <a:srgbClr val="B8862F"/>
          </a:solidFill>
          <a:ln/>
        </p:spPr>
      </p:sp>
      <p:sp>
        <p:nvSpPr>
          <p:cNvPr id="41" name="Text 39"/>
          <p:cNvSpPr txBox="1"/>
          <p:nvPr/>
        </p:nvSpPr>
        <p:spPr>
          <a:xfrm>
            <a:off x="4663440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400" dirty="0"/>
          </a:p>
        </p:txBody>
      </p:sp>
      <p:sp>
        <p:nvSpPr>
          <p:cNvPr id="42" name="Text 40"/>
          <p:cNvSpPr txBox="1"/>
          <p:nvPr/>
        </p:nvSpPr>
        <p:spPr>
          <a:xfrm>
            <a:off x="5166360" y="37947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and customer leave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200" b="1" dirty="0">
                <a:solidFill>
                  <a:srgbClr val="0B4F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Code review: 20 defects fixed, each with a test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2651760" cy="3566160"/>
          </a:xfrm>
          <a:prstGeom prst="roundRect">
            <a:avLst>
              <a:gd name="adj" fmla="val 2759"/>
            </a:avLst>
          </a:prstGeom>
          <a:solidFill>
            <a:srgbClr val="0B4F4A"/>
          </a:solidFill>
          <a:ln w="12700">
            <a:solidFill>
              <a:srgbClr val="0B4F4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463040"/>
            <a:ext cx="2651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265176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FE3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defects found and fixed, each with a regression test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474720" y="1143000"/>
            <a:ext cx="5212080" cy="356616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refused loan overpayment still marked installments as paid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Resolving a dispute twice refunded the customer twice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Recording an ACTIVE card as found destroyed it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Replacement cards blocked once the product was withdrawn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fees used up customers' savings withdrawals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 closure ignored holds and pending payments</a:t>
            </a:r>
            <a:endParaRPr lang="en-US" sz="13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D2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delegated limit on credit approvals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4F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Limitations and how it would scale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Today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currency (PKR)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In-memory storage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Two-signatory dual control only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Fixed review threshold, simple interest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4663440" y="1188720"/>
            <a:ext cx="3749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E9D3A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At scale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4663440" y="1691640"/>
            <a:ext cx="3749040" cy="22860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Period -&gt; valid_from / valid_to columns in a database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Bank split into services linked by events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Login supplies the acting person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Islamic products as new Arrangement subclasses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42062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Thank you - questions?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Problem 4 - Commercial Banking OOP design</dc:title>
  <dc:subject>PptxGenJS Presentation</dc:subject>
  <dc:creator>PptxGenJS</dc:creator>
  <cp:lastModifiedBy>PptxGenJS</cp:lastModifiedBy>
  <cp:revision>1</cp:revision>
  <dcterms:created xsi:type="dcterms:W3CDTF">2026-09-25T16:00:39Z</dcterms:created>
  <dcterms:modified xsi:type="dcterms:W3CDTF">2026-09-25T16:00:39Z</dcterms:modified>
</cp:coreProperties>
</file>