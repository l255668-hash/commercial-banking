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71 business classes and the 80 state-changing commands we are more than double.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genuinely true there and not above it. Ayesha is one Person record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reversal is a transaction of its own, pointing at the original. Research on card schemes showed three different things: the bank's reversal, the merchant's refund and the chargeback. A chargeback has everything a reversal has plus a dispute, a merchant and a reason code, so it is a subclass; a refund is started by the merchant with no bank approval and leaves the purchase posted, so it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us to defend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 and Bilal Nadeem</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numbers: _____________</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Course: __________________</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(+6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73</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Party -&gt; Organization -&gt; Company / Charity</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Party: identity, documents, checks, corrections,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Organization adds officers, owners, mandates and a stricter KYC rule (connected persons must be verified too)</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Company needs a director; Charity needs two trustees: structural_gaps() overridden</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Customer, director, signatory are ROLES, not subclasses</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parties.png">    </p:cNvPr>
          <p:cNvPicPr>
            <a:picLocks noChangeAspect="1"/>
          </p:cNvPicPr>
          <p:nvPr/>
        </p:nvPicPr>
        <p:blipFill>
          <a:blip r:embed="rId1"/>
          <a:stretch>
            <a:fillRect/>
          </a:stretch>
        </p:blipFill>
        <p:spPr>
          <a:xfrm>
            <a:off x="4526280" y="1164832"/>
            <a:ext cx="4069080" cy="347677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Arrangement -&gt; DepositAccount -&gt; Current / Savings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Arrangement: product, pinned terms, holders, branch history, status, restrictions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DepositAccount adds what only accounts holding money have: ledger, holds, available balance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Current overrides overdraft_limit(); Savings and FixedTermDeposit extend check_debit()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FinancingAgreement sits beside DepositAccount: it holds no customer money</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uml_arrangements.png">    </p:cNvPr>
          <p:cNvPicPr>
            <a:picLocks noChangeAspect="1"/>
          </p:cNvPicPr>
          <p:nvPr/>
        </p:nvPicPr>
        <p:blipFill>
          <a:blip r:embed="rId1"/>
          <a:stretch>
            <a:fillRect/>
          </a:stretch>
        </p:blipFill>
        <p:spPr>
          <a:xfrm>
            <a:off x="4582463" y="1097280"/>
            <a:ext cx="3956715" cy="3611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BankTransaction -&gt; CustomerPayment / LoanTransaction / Reversal</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Every movement is double-entry; post() refuses legs that do not sum to zero</a:t>
            </a:r>
            <a:endParaRPr lang="en-US" sz="1200" dirty="0"/>
          </a:p>
        </p:txBody>
      </p:sp>
      <p:pic>
        <p:nvPicPr>
          <p:cNvPr id="4" name="Image 0" descr="/home/user/commercial-banking/docs/uml_transactions.png">    </p:cNvPr>
          <p:cNvPicPr>
            <a:picLocks noChangeAspect="1"/>
          </p:cNvPicPr>
          <p:nvPr/>
        </p:nvPicPr>
        <p:blipFill>
          <a:blip r:embed="rId1"/>
          <a:stretch>
            <a:fillRect/>
          </a:stretch>
        </p:blipFill>
        <p:spPr>
          <a:xfrm>
            <a:off x="365760" y="1377865"/>
            <a:ext cx="8412480" cy="2090591"/>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CustomerPayment adds initiator, channel, mandate used, 2nd signatory, disputes; Transfer, Card, Bill, OwnAccount add their own facts</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LoanTransaction groups disbursement, repayment and interest capitalisation</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Reversal -&gt; Chargeback: a card reversal claimed from the merchant with a scheme reason code; a MerchantRefund is NOT a reversal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 -&gt; CustomerCase / RiskCase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Separate, linked records: the branch complaint and the compliance investigation</a:t>
            </a:r>
            <a:endParaRPr lang="en-US" sz="1200" dirty="0"/>
          </a:p>
        </p:txBody>
      </p:sp>
      <p:pic>
        <p:nvPicPr>
          <p:cNvPr id="4" name="Image 0" descr="/home/user/commercial-banking/docs/uml_cases.png">    </p:cNvPr>
          <p:cNvPicPr>
            <a:picLocks noChangeAspect="1"/>
          </p:cNvPicPr>
          <p:nvPr/>
        </p:nvPicPr>
        <p:blipFill>
          <a:blip r:embed="rId1"/>
          <a:stretch>
            <a:fillRect/>
          </a:stretch>
        </p:blipFill>
        <p:spPr>
          <a:xfrm>
            <a:off x="1958401" y="1234440"/>
            <a:ext cx="5227198" cy="2377440"/>
          </a:xfrm>
          <a:prstGeom prst="rect">
            <a:avLst/>
          </a:prstGeom>
        </p:spPr>
      </p:pic>
      <p:sp>
        <p:nvSpPr>
          <p:cNvPr id="5" name="Text 2"/>
          <p:cNvSpPr txBox="1"/>
          <p:nvPr/>
        </p:nvSpPr>
        <p:spPr>
          <a:xfrm>
            <a:off x="457200" y="3703320"/>
            <a:ext cx="8229600" cy="118872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CustomerCase: arrives through a channel from a contact person (dispute, complaint, service request)</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RiskCase: bank-initiated; overrides close() so it cannot close while its restrictions are live</a:t>
            </a:r>
            <a:endParaRPr lang="en-US" sz="1250" dirty="0"/>
          </a:p>
          <a:p>
            <a:pPr marL="342900" indent="-342900">
              <a:spcAft>
                <a:spcPts val="600"/>
              </a:spcAft>
              <a:buSzPct val="100000"/>
              <a:buChar char="•"/>
            </a:pPr>
            <a:r>
              <a:rPr lang="en-US" sz="1250" dirty="0">
                <a:solidFill>
                  <a:srgbClr val="1D2B2A"/>
                </a:solidFill>
                <a:latin typeface="Calibri" pitchFamily="34" charset="0"/>
                <a:ea typeface="Calibri" pitchFamily="34" charset="-122"/>
                <a:cs typeface="Calibri" pitchFamily="34" charset="-120"/>
              </a:rPr>
              <a:t>CollectionsCase: opened by the arrears batch</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we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In-memory storage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2026-09-25T19:03:01Z</dcterms:created>
  <dcterms:modified xsi:type="dcterms:W3CDTF">2026-09-25T19:03:01Z</dcterms:modified>
</cp:coreProperties>
</file>