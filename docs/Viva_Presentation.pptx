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teaching model of a commercial bank. The assessed concepts are classes and inheritance. The central idea is that history is never overwritten.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at least 30 classes and 30 meaningful operations. Even counting only the 71 business classes and the 80 state-changing commands we are more than double. The trial balance is zero at the end of the demo, so no scenario created or lost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brief's question about deletion. Closing an account, ending a relationship or revoking a mandate are status changes or closed periods. Bank.party_snapshot rebuilds what the bank knew about a customer on any past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levels because each level has a rule that is genuinely true there and not above it. Ayesha is one Person record with five capacities.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level exists because holding customer money is a real behavioural difference. A loan inheriting a ledger balance would be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customer payments can be disputed, which is why that level exists. A reversal is a transaction of its own, pointing at the original. Research on card schemes showed three different things: the bank's reversal, the merchant's refund and the chargeback. A chargeback has everything a reversal has plus a dispute, a merchant and a reason code, so it is a subclass; a refund is started by the merchant with no bank approval and leaves the purchase posted, so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5 shows the override: closing the investigation is refused until the debit block is lifted.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Colours on the state diagram show which class introduced each status: blue BankTransaction, green CustomerPayment, amber TransferPayment. The diagram is drawn from the LIFECYCLE declarations, the same objects the code enforces, and CI fails if the committed diagram differs from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alternative, 'everything is an account with flags', fails every critical case: a flag change destroys the fact that it was once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us to defend the design against at least one plausible alternative. The account-centric model is simpler and would pass the class count, but it answers every historical question with the current value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banking_system.py to show them live. Each refusal prints the exact rule, e.g. AuthorityError: the initiator cannot also be the second signatory.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section 3.2 maps every participant, research area and scope item in the brief to a class, operation and scenario. Section 3.1 answers the brief's eight open questions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diagrams show structure; the flowcharts show behaviour. Walk through the transfer: beneficiary, authority (mandate within limit), funds, dual control, then the PKR 1,000,000 compliance hold. Every red terminator is a refusal that is still kept 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as Kamran (compliance) and show the Overview and a guided check. Then switch user to digital banking: Noor is refused (view only), Hamza starts a PKR 1.2m payment that waits for a 2nd signatory, Ayesha approves it. The GUI contains no business rules: refusals come from the model and name its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table in docs/Code_Review.md. Every fix is protected by a test, so it cannot silently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Arrangement level is where the design pays off for new business models: an Ijarah or Murabaha contract is a new kind of arrangement, not a change to existing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4A"/>
        </a:solidFill>
      </p:bgPr>
    </p:bg>
    <p:spTree>
      <p:nvGrpSpPr>
        <p:cNvPr id="1" name=""/>
        <p:cNvGrpSpPr/>
        <p:nvPr/>
      </p:nvGrpSpPr>
      <p:grpSpPr>
        <a:xfrm>
          <a:off x="0" y="0"/>
          <a:ext cx="0" cy="0"/>
          <a:chOff x="0" y="0"/>
          <a:chExt cx="0" cy="0"/>
        </a:xfrm>
      </p:grpSpPr>
      <p:sp>
        <p:nvSpPr>
          <p:cNvPr id="2" name="Text 0"/>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1800" dirty="0">
                <a:solidFill>
                  <a:srgbClr val="CFE3DF"/>
                </a:solidFill>
                <a:latin typeface="Calibri" pitchFamily="34" charset="0"/>
                <a:ea typeface="Calibri" pitchFamily="34" charset="-122"/>
                <a:cs typeface="Calibri" pitchFamily="34" charset="-120"/>
              </a:rPr>
              <a:t>Problem 4</a:t>
            </a:r>
            <a:endParaRPr lang="en-US" sz="1800" dirty="0"/>
          </a:p>
        </p:txBody>
      </p:sp>
      <p:sp>
        <p:nvSpPr>
          <p:cNvPr id="3" name="Text 1"/>
          <p:cNvSpPr txBox="1"/>
          <p:nvPr/>
        </p:nvSpPr>
        <p:spPr>
          <a:xfrm>
            <a:off x="548640" y="1234440"/>
            <a:ext cx="804672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Commercial Banking, Lending, Payments and Compliance</a:t>
            </a:r>
            <a:endParaRPr lang="en-US" sz="3600" dirty="0"/>
          </a:p>
        </p:txBody>
      </p:sp>
      <p:sp>
        <p:nvSpPr>
          <p:cNvPr id="4" name="Text 2"/>
          <p:cNvSpPr txBox="1"/>
          <p:nvPr/>
        </p:nvSpPr>
        <p:spPr>
          <a:xfrm>
            <a:off x="548640" y="2514600"/>
            <a:ext cx="8046720" cy="457200"/>
          </a:xfrm>
          <a:prstGeom prst="rect">
            <a:avLst/>
          </a:prstGeom>
          <a:noFill/>
          <a:ln/>
        </p:spPr>
        <p:txBody>
          <a:bodyPr wrap="square" lIns="0" tIns="0" rIns="0" bIns="0" rtlCol="0" anchor="ctr"/>
          <a:lstStyle/>
          <a:p>
            <a:pPr indent="0" marL="0">
              <a:buNone/>
            </a:pPr>
            <a:r>
              <a:rPr lang="en-US" sz="1600" i="1" dirty="0">
                <a:solidFill>
                  <a:srgbClr val="E9D3A6"/>
                </a:solidFill>
                <a:latin typeface="Calibri" pitchFamily="34" charset="0"/>
                <a:ea typeface="Calibri" pitchFamily="34" charset="-122"/>
                <a:cs typeface="Calibri" pitchFamily="34" charset="-120"/>
              </a:rPr>
              <a:t>An object model where nothing is deleted and every past state can be rebuilt</a:t>
            </a:r>
            <a:endParaRPr lang="en-US" sz="1600" dirty="0"/>
          </a:p>
        </p:txBody>
      </p:sp>
      <p:sp>
        <p:nvSpPr>
          <p:cNvPr id="5" name="Text 3"/>
          <p:cNvSpPr txBox="1"/>
          <p:nvPr/>
        </p:nvSpPr>
        <p:spPr>
          <a:xfrm>
            <a:off x="548640" y="3383280"/>
            <a:ext cx="4572000" cy="10972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Prepared by: Khizar Rizwan</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Roll number: 25L-5668</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CS2012 Introduction to OOP - Instructor: Bilal Nadeem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800" b="1" dirty="0">
                <a:solidFill>
                  <a:srgbClr val="0B4F4A"/>
                </a:solidFill>
                <a:latin typeface="Cambria" pitchFamily="34" charset="0"/>
                <a:ea typeface="Cambria" pitchFamily="34" charset="-122"/>
                <a:cs typeface="Cambria" pitchFamily="34" charset="-120"/>
              </a:rPr>
              <a:t>The project at a glance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One Python file, standard library only - banking_system.py</a:t>
            </a:r>
            <a:endParaRPr lang="en-US" sz="1200" dirty="0"/>
          </a:p>
        </p:txBody>
      </p:sp>
      <p:sp>
        <p:nvSpPr>
          <p:cNvPr id="4" name="Shape 2"/>
          <p:cNvSpPr/>
          <p:nvPr/>
        </p:nvSpPr>
        <p:spPr>
          <a:xfrm>
            <a:off x="457200" y="1325880"/>
            <a:ext cx="2606040" cy="1508760"/>
          </a:xfrm>
          <a:prstGeom prst="roundRect">
            <a:avLst>
              <a:gd name="adj" fmla="val 4848"/>
            </a:avLst>
          </a:prstGeom>
          <a:solidFill>
            <a:srgbClr val="E8F0EE"/>
          </a:solidFill>
          <a:ln w="12700">
            <a:solidFill>
              <a:srgbClr val="E8F0EE"/>
            </a:solidFill>
            <a:prstDash val="solid"/>
          </a:ln>
        </p:spPr>
      </p:sp>
      <p:sp>
        <p:nvSpPr>
          <p:cNvPr id="5" name="Text 3"/>
          <p:cNvSpPr txBox="1"/>
          <p:nvPr/>
        </p:nvSpPr>
        <p:spPr>
          <a:xfrm>
            <a:off x="457200" y="1463040"/>
            <a:ext cx="2606040" cy="777240"/>
          </a:xfrm>
          <a:prstGeom prst="rect">
            <a:avLst/>
          </a:prstGeom>
          <a:noFill/>
          <a:ln/>
        </p:spPr>
        <p:txBody>
          <a:bodyPr wrap="square" lIns="0" tIns="0" rIns="0" bIns="0" rtlCol="0" anchor="ctr"/>
          <a:lstStyle/>
          <a:p>
            <a:pPr algn="ctr" indent="0" marL="0">
              <a:buNone/>
            </a:pPr>
            <a:r>
              <a:rPr lang="en-US" sz="4000" b="1" dirty="0">
                <a:solidFill>
                  <a:srgbClr val="0B4F4A"/>
                </a:solidFill>
                <a:latin typeface="Cambria" pitchFamily="34" charset="0"/>
                <a:ea typeface="Cambria" pitchFamily="34" charset="-122"/>
                <a:cs typeface="Cambria" pitchFamily="34" charset="-120"/>
              </a:rPr>
              <a:t>71</a:t>
            </a:r>
            <a:endParaRPr lang="en-US" sz="4000" dirty="0"/>
          </a:p>
        </p:txBody>
      </p:sp>
      <p:sp>
        <p:nvSpPr>
          <p:cNvPr id="6" name="Text 4"/>
          <p:cNvSpPr txBox="1"/>
          <p:nvPr/>
        </p:nvSpPr>
        <p:spPr>
          <a:xfrm>
            <a:off x="548640" y="2240280"/>
            <a:ext cx="2423160" cy="457200"/>
          </a:xfrm>
          <a:prstGeom prst="rect">
            <a:avLst/>
          </a:prstGeom>
          <a:noFill/>
          <a:ln/>
        </p:spPr>
        <p:txBody>
          <a:bodyPr wrap="square" lIns="0" tIns="0" rIns="0" bIns="0" rtlCol="0" anchor="ctr"/>
          <a:lstStyle/>
          <a:p>
            <a:pPr algn="ctr" indent="0" marL="0">
              <a:buNone/>
            </a:pPr>
            <a:r>
              <a:rPr lang="en-US" sz="1300" dirty="0">
                <a:solidFill>
                  <a:srgbClr val="5B6B69"/>
                </a:solidFill>
                <a:latin typeface="Calibri" pitchFamily="34" charset="0"/>
                <a:ea typeface="Calibri" pitchFamily="34" charset="-122"/>
                <a:cs typeface="Calibri" pitchFamily="34" charset="-120"/>
              </a:rPr>
              <a:t>business classes (+9 supporting)</a:t>
            </a:r>
            <a:endParaRPr lang="en-US" sz="1300" dirty="0"/>
          </a:p>
        </p:txBody>
      </p:sp>
      <p:sp>
        <p:nvSpPr>
          <p:cNvPr id="7" name="Shape 5"/>
          <p:cNvSpPr/>
          <p:nvPr/>
        </p:nvSpPr>
        <p:spPr>
          <a:xfrm>
            <a:off x="3246120" y="1325880"/>
            <a:ext cx="2606040" cy="1508760"/>
          </a:xfrm>
          <a:prstGeom prst="roundRect">
            <a:avLst>
              <a:gd name="adj" fmla="val 4848"/>
            </a:avLst>
          </a:prstGeom>
          <a:solidFill>
            <a:srgbClr val="E8F0EE"/>
          </a:solidFill>
          <a:ln w="12700">
            <a:solidFill>
              <a:srgbClr val="E8F0EE"/>
            </a:solidFill>
            <a:prstDash val="solid"/>
          </a:ln>
        </p:spPr>
      </p:sp>
      <p:sp>
        <p:nvSpPr>
          <p:cNvPr id="8" name="Text 6"/>
          <p:cNvSpPr txBox="1"/>
          <p:nvPr/>
        </p:nvSpPr>
        <p:spPr>
          <a:xfrm>
            <a:off x="3246120" y="1463040"/>
            <a:ext cx="2606040" cy="777240"/>
          </a:xfrm>
          <a:prstGeom prst="rect">
            <a:avLst/>
          </a:prstGeom>
          <a:noFill/>
          <a:ln/>
        </p:spPr>
        <p:txBody>
          <a:bodyPr wrap="square" lIns="0" tIns="0" rIns="0" bIns="0" rtlCol="0" anchor="ctr"/>
          <a:lstStyle/>
          <a:p>
            <a:pPr algn="ctr" indent="0" marL="0">
              <a:buNone/>
            </a:pPr>
            <a:r>
              <a:rPr lang="en-US" sz="4000" b="1" dirty="0">
                <a:solidFill>
                  <a:srgbClr val="0B4F4A"/>
                </a:solidFill>
                <a:latin typeface="Cambria" pitchFamily="34" charset="0"/>
                <a:ea typeface="Cambria" pitchFamily="34" charset="-122"/>
                <a:cs typeface="Cambria" pitchFamily="34" charset="-120"/>
              </a:rPr>
              <a:t>98</a:t>
            </a:r>
            <a:endParaRPr lang="en-US" sz="4000" dirty="0"/>
          </a:p>
        </p:txBody>
      </p:sp>
      <p:sp>
        <p:nvSpPr>
          <p:cNvPr id="9" name="Text 7"/>
          <p:cNvSpPr txBox="1"/>
          <p:nvPr/>
        </p:nvSpPr>
        <p:spPr>
          <a:xfrm>
            <a:off x="3337560" y="2240280"/>
            <a:ext cx="2423160" cy="457200"/>
          </a:xfrm>
          <a:prstGeom prst="rect">
            <a:avLst/>
          </a:prstGeom>
          <a:noFill/>
          <a:ln/>
        </p:spPr>
        <p:txBody>
          <a:bodyPr wrap="square" lIns="0" tIns="0" rIns="0" bIns="0" rtlCol="0" anchor="ctr"/>
          <a:lstStyle/>
          <a:p>
            <a:pPr algn="ctr" indent="0" marL="0">
              <a:buNone/>
            </a:pPr>
            <a:r>
              <a:rPr lang="en-US" sz="1300" dirty="0">
                <a:solidFill>
                  <a:srgbClr val="5B6B69"/>
                </a:solidFill>
                <a:latin typeface="Calibri" pitchFamily="34" charset="0"/>
                <a:ea typeface="Calibri" pitchFamily="34" charset="-122"/>
                <a:cs typeface="Calibri" pitchFamily="34" charset="-120"/>
              </a:rPr>
              <a:t>Bank operations (80 commands)</a:t>
            </a:r>
            <a:endParaRPr lang="en-US" sz="1300" dirty="0"/>
          </a:p>
        </p:txBody>
      </p:sp>
      <p:sp>
        <p:nvSpPr>
          <p:cNvPr id="10" name="Shape 8"/>
          <p:cNvSpPr/>
          <p:nvPr/>
        </p:nvSpPr>
        <p:spPr>
          <a:xfrm>
            <a:off x="6035040" y="1325880"/>
            <a:ext cx="2606040" cy="1508760"/>
          </a:xfrm>
          <a:prstGeom prst="roundRect">
            <a:avLst>
              <a:gd name="adj" fmla="val 4848"/>
            </a:avLst>
          </a:prstGeom>
          <a:solidFill>
            <a:srgbClr val="E8F0EE"/>
          </a:solidFill>
          <a:ln w="12700">
            <a:solidFill>
              <a:srgbClr val="E8F0EE"/>
            </a:solidFill>
            <a:prstDash val="solid"/>
          </a:ln>
        </p:spPr>
      </p:sp>
      <p:sp>
        <p:nvSpPr>
          <p:cNvPr id="11" name="Text 9"/>
          <p:cNvSpPr txBox="1"/>
          <p:nvPr/>
        </p:nvSpPr>
        <p:spPr>
          <a:xfrm>
            <a:off x="6035040" y="1463040"/>
            <a:ext cx="2606040" cy="777240"/>
          </a:xfrm>
          <a:prstGeom prst="rect">
            <a:avLst/>
          </a:prstGeom>
          <a:noFill/>
          <a:ln/>
        </p:spPr>
        <p:txBody>
          <a:bodyPr wrap="square" lIns="0" tIns="0" rIns="0" bIns="0" rtlCol="0" anchor="ctr"/>
          <a:lstStyle/>
          <a:p>
            <a:pPr algn="ctr" indent="0" marL="0">
              <a:buNone/>
            </a:pPr>
            <a:r>
              <a:rPr lang="en-US" sz="4000" b="1" dirty="0">
                <a:solidFill>
                  <a:srgbClr val="0B4F4A"/>
                </a:solidFill>
                <a:latin typeface="Cambria" pitchFamily="34" charset="0"/>
                <a:ea typeface="Cambria" pitchFamily="34" charset="-122"/>
                <a:cs typeface="Cambria" pitchFamily="34" charset="-120"/>
              </a:rPr>
              <a:t>4</a:t>
            </a:r>
            <a:endParaRPr lang="en-US" sz="4000" dirty="0"/>
          </a:p>
        </p:txBody>
      </p:sp>
      <p:sp>
        <p:nvSpPr>
          <p:cNvPr id="12" name="Text 10"/>
          <p:cNvSpPr txBox="1"/>
          <p:nvPr/>
        </p:nvSpPr>
        <p:spPr>
          <a:xfrm>
            <a:off x="6126480" y="2240280"/>
            <a:ext cx="2423160" cy="457200"/>
          </a:xfrm>
          <a:prstGeom prst="rect">
            <a:avLst/>
          </a:prstGeom>
          <a:noFill/>
          <a:ln/>
        </p:spPr>
        <p:txBody>
          <a:bodyPr wrap="square" lIns="0" tIns="0" rIns="0" bIns="0" rtlCol="0" anchor="ctr"/>
          <a:lstStyle/>
          <a:p>
            <a:pPr algn="ctr" indent="0" marL="0">
              <a:buNone/>
            </a:pPr>
            <a:r>
              <a:rPr lang="en-US" sz="1300" dirty="0">
                <a:solidFill>
                  <a:srgbClr val="5B6B69"/>
                </a:solidFill>
                <a:latin typeface="Calibri" pitchFamily="34" charset="0"/>
                <a:ea typeface="Calibri" pitchFamily="34" charset="-122"/>
                <a:cs typeface="Calibri" pitchFamily="34" charset="-120"/>
              </a:rPr>
              <a:t>multi-level hierarchies</a:t>
            </a:r>
            <a:endParaRPr lang="en-US" sz="1300" dirty="0"/>
          </a:p>
        </p:txBody>
      </p:sp>
      <p:sp>
        <p:nvSpPr>
          <p:cNvPr id="13" name="Shape 11"/>
          <p:cNvSpPr/>
          <p:nvPr/>
        </p:nvSpPr>
        <p:spPr>
          <a:xfrm>
            <a:off x="457200" y="3063240"/>
            <a:ext cx="2606040" cy="1508760"/>
          </a:xfrm>
          <a:prstGeom prst="roundRect">
            <a:avLst>
              <a:gd name="adj" fmla="val 4848"/>
            </a:avLst>
          </a:prstGeom>
          <a:solidFill>
            <a:srgbClr val="E8F0EE"/>
          </a:solidFill>
          <a:ln w="12700">
            <a:solidFill>
              <a:srgbClr val="E8F0EE"/>
            </a:solidFill>
            <a:prstDash val="solid"/>
          </a:ln>
        </p:spPr>
      </p:sp>
      <p:sp>
        <p:nvSpPr>
          <p:cNvPr id="14" name="Text 12"/>
          <p:cNvSpPr txBox="1"/>
          <p:nvPr/>
        </p:nvSpPr>
        <p:spPr>
          <a:xfrm>
            <a:off x="457200" y="3200400"/>
            <a:ext cx="2606040" cy="777240"/>
          </a:xfrm>
          <a:prstGeom prst="rect">
            <a:avLst/>
          </a:prstGeom>
          <a:noFill/>
          <a:ln/>
        </p:spPr>
        <p:txBody>
          <a:bodyPr wrap="square" lIns="0" tIns="0" rIns="0" bIns="0" rtlCol="0" anchor="ctr"/>
          <a:lstStyle/>
          <a:p>
            <a:pPr algn="ctr" indent="0" marL="0">
              <a:buNone/>
            </a:pPr>
            <a:r>
              <a:rPr lang="en-US" sz="4000" b="1" dirty="0">
                <a:solidFill>
                  <a:srgbClr val="0B4F4A"/>
                </a:solidFill>
                <a:latin typeface="Cambria" pitchFamily="34" charset="0"/>
                <a:ea typeface="Cambria" pitchFamily="34" charset="-122"/>
                <a:cs typeface="Cambria" pitchFamily="34" charset="-120"/>
              </a:rPr>
              <a:t>16</a:t>
            </a:r>
            <a:endParaRPr lang="en-US" sz="4000" dirty="0"/>
          </a:p>
        </p:txBody>
      </p:sp>
      <p:sp>
        <p:nvSpPr>
          <p:cNvPr id="15" name="Text 13"/>
          <p:cNvSpPr txBox="1"/>
          <p:nvPr/>
        </p:nvSpPr>
        <p:spPr>
          <a:xfrm>
            <a:off x="548640" y="3977640"/>
            <a:ext cx="2423160" cy="457200"/>
          </a:xfrm>
          <a:prstGeom prst="rect">
            <a:avLst/>
          </a:prstGeom>
          <a:noFill/>
          <a:ln/>
        </p:spPr>
        <p:txBody>
          <a:bodyPr wrap="square" lIns="0" tIns="0" rIns="0" bIns="0" rtlCol="0" anchor="ctr"/>
          <a:lstStyle/>
          <a:p>
            <a:pPr algn="ctr" indent="0" marL="0">
              <a:buNone/>
            </a:pPr>
            <a:r>
              <a:rPr lang="en-US" sz="1300" dirty="0">
                <a:solidFill>
                  <a:srgbClr val="5B6B69"/>
                </a:solidFill>
                <a:latin typeface="Calibri" pitchFamily="34" charset="0"/>
                <a:ea typeface="Calibri" pitchFamily="34" charset="-122"/>
                <a:cs typeface="Calibri" pitchFamily="34" charset="-120"/>
              </a:rPr>
              <a:t>complex scenarios</a:t>
            </a:r>
            <a:endParaRPr lang="en-US" sz="1300" dirty="0"/>
          </a:p>
        </p:txBody>
      </p:sp>
      <p:sp>
        <p:nvSpPr>
          <p:cNvPr id="16" name="Shape 14"/>
          <p:cNvSpPr/>
          <p:nvPr/>
        </p:nvSpPr>
        <p:spPr>
          <a:xfrm>
            <a:off x="3246120" y="3063240"/>
            <a:ext cx="2606040" cy="1508760"/>
          </a:xfrm>
          <a:prstGeom prst="roundRect">
            <a:avLst>
              <a:gd name="adj" fmla="val 4848"/>
            </a:avLst>
          </a:prstGeom>
          <a:solidFill>
            <a:srgbClr val="E8F0EE"/>
          </a:solidFill>
          <a:ln w="12700">
            <a:solidFill>
              <a:srgbClr val="E8F0EE"/>
            </a:solidFill>
            <a:prstDash val="solid"/>
          </a:ln>
        </p:spPr>
      </p:sp>
      <p:sp>
        <p:nvSpPr>
          <p:cNvPr id="17" name="Text 15"/>
          <p:cNvSpPr txBox="1"/>
          <p:nvPr/>
        </p:nvSpPr>
        <p:spPr>
          <a:xfrm>
            <a:off x="3246120" y="3200400"/>
            <a:ext cx="2606040" cy="777240"/>
          </a:xfrm>
          <a:prstGeom prst="rect">
            <a:avLst/>
          </a:prstGeom>
          <a:noFill/>
          <a:ln/>
        </p:spPr>
        <p:txBody>
          <a:bodyPr wrap="square" lIns="0" tIns="0" rIns="0" bIns="0" rtlCol="0" anchor="ctr"/>
          <a:lstStyle/>
          <a:p>
            <a:pPr algn="ctr" indent="0" marL="0">
              <a:buNone/>
            </a:pPr>
            <a:r>
              <a:rPr lang="en-US" sz="4000" b="1" dirty="0">
                <a:solidFill>
                  <a:srgbClr val="0B4F4A"/>
                </a:solidFill>
                <a:latin typeface="Cambria" pitchFamily="34" charset="0"/>
                <a:ea typeface="Cambria" pitchFamily="34" charset="-122"/>
                <a:cs typeface="Cambria" pitchFamily="34" charset="-120"/>
              </a:rPr>
              <a:t>77</a:t>
            </a:r>
            <a:endParaRPr lang="en-US" sz="4000" dirty="0"/>
          </a:p>
        </p:txBody>
      </p:sp>
      <p:sp>
        <p:nvSpPr>
          <p:cNvPr id="18" name="Text 16"/>
          <p:cNvSpPr txBox="1"/>
          <p:nvPr/>
        </p:nvSpPr>
        <p:spPr>
          <a:xfrm>
            <a:off x="3337560" y="3977640"/>
            <a:ext cx="2423160" cy="457200"/>
          </a:xfrm>
          <a:prstGeom prst="rect">
            <a:avLst/>
          </a:prstGeom>
          <a:noFill/>
          <a:ln/>
        </p:spPr>
        <p:txBody>
          <a:bodyPr wrap="square" lIns="0" tIns="0" rIns="0" bIns="0" rtlCol="0" anchor="ctr"/>
          <a:lstStyle/>
          <a:p>
            <a:pPr algn="ctr" indent="0" marL="0">
              <a:buNone/>
            </a:pPr>
            <a:r>
              <a:rPr lang="en-US" sz="1300" dirty="0">
                <a:solidFill>
                  <a:srgbClr val="5B6B69"/>
                </a:solidFill>
                <a:latin typeface="Calibri" pitchFamily="34" charset="0"/>
                <a:ea typeface="Calibri" pitchFamily="34" charset="-122"/>
                <a:cs typeface="Calibri" pitchFamily="34" charset="-120"/>
              </a:rPr>
              <a:t>automated tests</a:t>
            </a:r>
            <a:endParaRPr lang="en-US" sz="1300" dirty="0"/>
          </a:p>
        </p:txBody>
      </p:sp>
      <p:sp>
        <p:nvSpPr>
          <p:cNvPr id="19" name="Shape 17"/>
          <p:cNvSpPr/>
          <p:nvPr/>
        </p:nvSpPr>
        <p:spPr>
          <a:xfrm>
            <a:off x="6035040" y="3063240"/>
            <a:ext cx="2606040" cy="1508760"/>
          </a:xfrm>
          <a:prstGeom prst="roundRect">
            <a:avLst>
              <a:gd name="adj" fmla="val 4848"/>
            </a:avLst>
          </a:prstGeom>
          <a:solidFill>
            <a:srgbClr val="E8F0EE"/>
          </a:solidFill>
          <a:ln w="12700">
            <a:solidFill>
              <a:srgbClr val="E8F0EE"/>
            </a:solidFill>
            <a:prstDash val="solid"/>
          </a:ln>
        </p:spPr>
      </p:sp>
      <p:sp>
        <p:nvSpPr>
          <p:cNvPr id="20" name="Text 18"/>
          <p:cNvSpPr txBox="1"/>
          <p:nvPr/>
        </p:nvSpPr>
        <p:spPr>
          <a:xfrm>
            <a:off x="6035040" y="3200400"/>
            <a:ext cx="2606040" cy="777240"/>
          </a:xfrm>
          <a:prstGeom prst="rect">
            <a:avLst/>
          </a:prstGeom>
          <a:noFill/>
          <a:ln/>
        </p:spPr>
        <p:txBody>
          <a:bodyPr wrap="square" lIns="0" tIns="0" rIns="0" bIns="0" rtlCol="0" anchor="ctr"/>
          <a:lstStyle/>
          <a:p>
            <a:pPr algn="ctr" indent="0" marL="0">
              <a:buNone/>
            </a:pPr>
            <a:r>
              <a:rPr lang="en-US" sz="4000" b="1" dirty="0">
                <a:solidFill>
                  <a:srgbClr val="0B4F4A"/>
                </a:solidFill>
                <a:latin typeface="Cambria" pitchFamily="34" charset="0"/>
                <a:ea typeface="Cambria" pitchFamily="34" charset="-122"/>
                <a:cs typeface="Cambria" pitchFamily="34" charset="-120"/>
              </a:rPr>
              <a:t>0.00</a:t>
            </a:r>
            <a:endParaRPr lang="en-US" sz="4000" dirty="0"/>
          </a:p>
        </p:txBody>
      </p:sp>
      <p:sp>
        <p:nvSpPr>
          <p:cNvPr id="21" name="Text 19"/>
          <p:cNvSpPr txBox="1"/>
          <p:nvPr/>
        </p:nvSpPr>
        <p:spPr>
          <a:xfrm>
            <a:off x="6126480" y="3977640"/>
            <a:ext cx="2423160" cy="457200"/>
          </a:xfrm>
          <a:prstGeom prst="rect">
            <a:avLst/>
          </a:prstGeom>
          <a:noFill/>
          <a:ln/>
        </p:spPr>
        <p:txBody>
          <a:bodyPr wrap="square" lIns="0" tIns="0" rIns="0" bIns="0" rtlCol="0" anchor="ctr"/>
          <a:lstStyle/>
          <a:p>
            <a:pPr algn="ctr" indent="0" marL="0">
              <a:buNone/>
            </a:pPr>
            <a:r>
              <a:rPr lang="en-US" sz="1300" dirty="0">
                <a:solidFill>
                  <a:srgbClr val="5B6B69"/>
                </a:solidFill>
                <a:latin typeface="Calibri" pitchFamily="34" charset="0"/>
                <a:ea typeface="Calibri" pitchFamily="34" charset="-122"/>
                <a:cs typeface="Calibri" pitchFamily="34" charset="-120"/>
              </a:rPr>
              <a:t>trial balance total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200" b="1" dirty="0">
                <a:solidFill>
                  <a:srgbClr val="0B4F4A"/>
                </a:solidFill>
                <a:latin typeface="Cambria" pitchFamily="34" charset="0"/>
                <a:ea typeface="Cambria" pitchFamily="34" charset="-122"/>
                <a:cs typeface="Cambria" pitchFamily="34" charset="-120"/>
              </a:rPr>
              <a:t>Core rule: nothing that happened is ever deleted</a:t>
            </a:r>
            <a:endParaRPr lang="en-US" sz="22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Four techniques answer every question of the form "what was true on date X?"</a:t>
            </a:r>
            <a:endParaRPr lang="en-US" sz="1200" dirty="0"/>
          </a:p>
        </p:txBody>
      </p:sp>
      <p:sp>
        <p:nvSpPr>
          <p:cNvPr id="4" name="Shape 2"/>
          <p:cNvSpPr/>
          <p:nvPr/>
        </p:nvSpPr>
        <p:spPr>
          <a:xfrm>
            <a:off x="457200" y="1325880"/>
            <a:ext cx="4023360" cy="1600200"/>
          </a:xfrm>
          <a:prstGeom prst="roundRect">
            <a:avLst>
              <a:gd name="adj" fmla="val 4571"/>
            </a:avLst>
          </a:prstGeom>
          <a:solidFill>
            <a:srgbClr val="E8F0EE"/>
          </a:solidFill>
          <a:ln w="12700">
            <a:solidFill>
              <a:srgbClr val="E8F0EE"/>
            </a:solidFill>
            <a:prstDash val="solid"/>
          </a:ln>
        </p:spPr>
      </p:sp>
      <p:sp>
        <p:nvSpPr>
          <p:cNvPr id="5" name="Shape 3"/>
          <p:cNvSpPr/>
          <p:nvPr/>
        </p:nvSpPr>
        <p:spPr>
          <a:xfrm>
            <a:off x="640080" y="1527048"/>
            <a:ext cx="384048" cy="384048"/>
          </a:xfrm>
          <a:prstGeom prst="ellipse">
            <a:avLst/>
          </a:prstGeom>
          <a:solidFill>
            <a:srgbClr val="B8862F"/>
          </a:solidFill>
          <a:ln/>
        </p:spPr>
      </p:sp>
      <p:sp>
        <p:nvSpPr>
          <p:cNvPr id="6" name="Text 4"/>
          <p:cNvSpPr txBox="1"/>
          <p:nvPr/>
        </p:nvSpPr>
        <p:spPr>
          <a:xfrm>
            <a:off x="640080"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188720" y="1508760"/>
            <a:ext cx="3108960" cy="411480"/>
          </a:xfrm>
          <a:prstGeom prst="rect">
            <a:avLst/>
          </a:prstGeom>
          <a:noFill/>
          <a:ln/>
        </p:spPr>
        <p:txBody>
          <a:bodyPr wrap="square" lIns="0" tIns="0" rIns="0" bIns="0" rtlCol="0" anchor="ctr"/>
          <a:lstStyle/>
          <a:p>
            <a:pPr indent="0" marL="0">
              <a:buNone/>
            </a:pPr>
            <a:r>
              <a:rPr lang="en-US" sz="1700" b="1" dirty="0">
                <a:solidFill>
                  <a:srgbClr val="0B4F4A"/>
                </a:solidFill>
                <a:latin typeface="Cambria" pitchFamily="34" charset="0"/>
                <a:ea typeface="Cambria" pitchFamily="34" charset="-122"/>
                <a:cs typeface="Cambria" pitchFamily="34" charset="-120"/>
              </a:rPr>
              <a:t>Periods</a:t>
            </a:r>
            <a:endParaRPr lang="en-US" sz="1700" dirty="0"/>
          </a:p>
        </p:txBody>
      </p:sp>
      <p:sp>
        <p:nvSpPr>
          <p:cNvPr id="8" name="Text 6"/>
          <p:cNvSpPr txBox="1"/>
          <p:nvPr/>
        </p:nvSpPr>
        <p:spPr>
          <a:xfrm>
            <a:off x="1188720" y="1947672"/>
            <a:ext cx="3154680" cy="86868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Mandates, officer roles, ownerships, restrictions and RM assignments are valid from-to. Revoking closes the period.</a:t>
            </a:r>
            <a:endParaRPr lang="en-US" sz="1250" dirty="0"/>
          </a:p>
        </p:txBody>
      </p:sp>
      <p:sp>
        <p:nvSpPr>
          <p:cNvPr id="9" name="Shape 7"/>
          <p:cNvSpPr/>
          <p:nvPr/>
        </p:nvSpPr>
        <p:spPr>
          <a:xfrm>
            <a:off x="4663440" y="1325880"/>
            <a:ext cx="4023360" cy="1600200"/>
          </a:xfrm>
          <a:prstGeom prst="roundRect">
            <a:avLst>
              <a:gd name="adj" fmla="val 4571"/>
            </a:avLst>
          </a:prstGeom>
          <a:solidFill>
            <a:srgbClr val="E8F0EE"/>
          </a:solidFill>
          <a:ln w="12700">
            <a:solidFill>
              <a:srgbClr val="E8F0EE"/>
            </a:solidFill>
            <a:prstDash val="solid"/>
          </a:ln>
        </p:spPr>
      </p:sp>
      <p:sp>
        <p:nvSpPr>
          <p:cNvPr id="10" name="Shape 8"/>
          <p:cNvSpPr/>
          <p:nvPr/>
        </p:nvSpPr>
        <p:spPr>
          <a:xfrm>
            <a:off x="4846320" y="1527048"/>
            <a:ext cx="384048" cy="384048"/>
          </a:xfrm>
          <a:prstGeom prst="ellipse">
            <a:avLst/>
          </a:prstGeom>
          <a:solidFill>
            <a:srgbClr val="B8862F"/>
          </a:solidFill>
          <a:ln/>
        </p:spPr>
      </p:sp>
      <p:sp>
        <p:nvSpPr>
          <p:cNvPr id="11" name="Text 9"/>
          <p:cNvSpPr txBox="1"/>
          <p:nvPr/>
        </p:nvSpPr>
        <p:spPr>
          <a:xfrm>
            <a:off x="4846320" y="1527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5394960" y="1508760"/>
            <a:ext cx="3108960" cy="411480"/>
          </a:xfrm>
          <a:prstGeom prst="rect">
            <a:avLst/>
          </a:prstGeom>
          <a:noFill/>
          <a:ln/>
        </p:spPr>
        <p:txBody>
          <a:bodyPr wrap="square" lIns="0" tIns="0" rIns="0" bIns="0" rtlCol="0" anchor="ctr"/>
          <a:lstStyle/>
          <a:p>
            <a:pPr indent="0" marL="0">
              <a:buNone/>
            </a:pPr>
            <a:r>
              <a:rPr lang="en-US" sz="1700" b="1" dirty="0">
                <a:solidFill>
                  <a:srgbClr val="0B4F4A"/>
                </a:solidFill>
                <a:latin typeface="Cambria" pitchFamily="34" charset="0"/>
                <a:ea typeface="Cambria" pitchFamily="34" charset="-122"/>
                <a:cs typeface="Cambria" pitchFamily="34" charset="-120"/>
              </a:rPr>
              <a:t>Status histories</a:t>
            </a:r>
            <a:endParaRPr lang="en-US" sz="1700" dirty="0"/>
          </a:p>
        </p:txBody>
      </p:sp>
      <p:sp>
        <p:nvSpPr>
          <p:cNvPr id="13" name="Text 11"/>
          <p:cNvSpPr txBox="1"/>
          <p:nvPr/>
        </p:nvSpPr>
        <p:spPr>
          <a:xfrm>
            <a:off x="5394960" y="1947672"/>
            <a:ext cx="3154680" cy="86868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Every lifecycle keeps each status with date, actor and reason, so status_on(date) is answerable.</a:t>
            </a:r>
            <a:endParaRPr lang="en-US" sz="1250" dirty="0"/>
          </a:p>
        </p:txBody>
      </p:sp>
      <p:sp>
        <p:nvSpPr>
          <p:cNvPr id="14" name="Shape 12"/>
          <p:cNvSpPr/>
          <p:nvPr/>
        </p:nvSpPr>
        <p:spPr>
          <a:xfrm>
            <a:off x="457200" y="3108960"/>
            <a:ext cx="4023360" cy="1600200"/>
          </a:xfrm>
          <a:prstGeom prst="roundRect">
            <a:avLst>
              <a:gd name="adj" fmla="val 4571"/>
            </a:avLst>
          </a:prstGeom>
          <a:solidFill>
            <a:srgbClr val="E8F0EE"/>
          </a:solidFill>
          <a:ln w="12700">
            <a:solidFill>
              <a:srgbClr val="E8F0EE"/>
            </a:solidFill>
            <a:prstDash val="solid"/>
          </a:ln>
        </p:spPr>
      </p:sp>
      <p:sp>
        <p:nvSpPr>
          <p:cNvPr id="15" name="Shape 13"/>
          <p:cNvSpPr/>
          <p:nvPr/>
        </p:nvSpPr>
        <p:spPr>
          <a:xfrm>
            <a:off x="640080" y="3310128"/>
            <a:ext cx="384048" cy="384048"/>
          </a:xfrm>
          <a:prstGeom prst="ellipse">
            <a:avLst/>
          </a:prstGeom>
          <a:solidFill>
            <a:srgbClr val="B8862F"/>
          </a:solidFill>
          <a:ln/>
        </p:spPr>
      </p:sp>
      <p:sp>
        <p:nvSpPr>
          <p:cNvPr id="16" name="Text 14"/>
          <p:cNvSpPr txBox="1"/>
          <p:nvPr/>
        </p:nvSpPr>
        <p:spPr>
          <a:xfrm>
            <a:off x="640080" y="3310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188720" y="3291840"/>
            <a:ext cx="3108960" cy="411480"/>
          </a:xfrm>
          <a:prstGeom prst="rect">
            <a:avLst/>
          </a:prstGeom>
          <a:noFill/>
          <a:ln/>
        </p:spPr>
        <p:txBody>
          <a:bodyPr wrap="square" lIns="0" tIns="0" rIns="0" bIns="0" rtlCol="0" anchor="ctr"/>
          <a:lstStyle/>
          <a:p>
            <a:pPr indent="0" marL="0">
              <a:buNone/>
            </a:pPr>
            <a:r>
              <a:rPr lang="en-US" sz="1700" b="1" dirty="0">
                <a:solidFill>
                  <a:srgbClr val="0B4F4A"/>
                </a:solidFill>
                <a:latin typeface="Cambria" pitchFamily="34" charset="0"/>
                <a:ea typeface="Cambria" pitchFamily="34" charset="-122"/>
                <a:cs typeface="Cambria" pitchFamily="34" charset="-120"/>
              </a:rPr>
              <a:t>Versions</a:t>
            </a:r>
            <a:endParaRPr lang="en-US" sz="1700" dirty="0"/>
          </a:p>
        </p:txBody>
      </p:sp>
      <p:sp>
        <p:nvSpPr>
          <p:cNvPr id="18" name="Text 16"/>
          <p:cNvSpPr txBox="1"/>
          <p:nvPr/>
        </p:nvSpPr>
        <p:spPr>
          <a:xfrm>
            <a:off x="1188720" y="3730752"/>
            <a:ext cx="3154680" cy="86868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Product terms, beneficiary details and repayment schedules change by adding a version, never by editing.</a:t>
            </a:r>
            <a:endParaRPr lang="en-US" sz="1250" dirty="0"/>
          </a:p>
        </p:txBody>
      </p:sp>
      <p:sp>
        <p:nvSpPr>
          <p:cNvPr id="19" name="Shape 17"/>
          <p:cNvSpPr/>
          <p:nvPr/>
        </p:nvSpPr>
        <p:spPr>
          <a:xfrm>
            <a:off x="4663440" y="3108960"/>
            <a:ext cx="4023360" cy="1600200"/>
          </a:xfrm>
          <a:prstGeom prst="roundRect">
            <a:avLst>
              <a:gd name="adj" fmla="val 4571"/>
            </a:avLst>
          </a:prstGeom>
          <a:solidFill>
            <a:srgbClr val="E8F0EE"/>
          </a:solidFill>
          <a:ln w="12700">
            <a:solidFill>
              <a:srgbClr val="E8F0EE"/>
            </a:solidFill>
            <a:prstDash val="solid"/>
          </a:ln>
        </p:spPr>
      </p:sp>
      <p:sp>
        <p:nvSpPr>
          <p:cNvPr id="20" name="Shape 18"/>
          <p:cNvSpPr/>
          <p:nvPr/>
        </p:nvSpPr>
        <p:spPr>
          <a:xfrm>
            <a:off x="4846320" y="3310128"/>
            <a:ext cx="384048" cy="384048"/>
          </a:xfrm>
          <a:prstGeom prst="ellipse">
            <a:avLst/>
          </a:prstGeom>
          <a:solidFill>
            <a:srgbClr val="B8862F"/>
          </a:solidFill>
          <a:ln/>
        </p:spPr>
      </p:sp>
      <p:sp>
        <p:nvSpPr>
          <p:cNvPr id="21" name="Text 19"/>
          <p:cNvSpPr txBox="1"/>
          <p:nvPr/>
        </p:nvSpPr>
        <p:spPr>
          <a:xfrm>
            <a:off x="4846320" y="3310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5394960" y="3291840"/>
            <a:ext cx="3108960" cy="411480"/>
          </a:xfrm>
          <a:prstGeom prst="rect">
            <a:avLst/>
          </a:prstGeom>
          <a:noFill/>
          <a:ln/>
        </p:spPr>
        <p:txBody>
          <a:bodyPr wrap="square" lIns="0" tIns="0" rIns="0" bIns="0" rtlCol="0" anchor="ctr"/>
          <a:lstStyle/>
          <a:p>
            <a:pPr indent="0" marL="0">
              <a:buNone/>
            </a:pPr>
            <a:r>
              <a:rPr lang="en-US" sz="1700" b="1" dirty="0">
                <a:solidFill>
                  <a:srgbClr val="0B4F4A"/>
                </a:solidFill>
                <a:latin typeface="Cambria" pitchFamily="34" charset="0"/>
                <a:ea typeface="Cambria" pitchFamily="34" charset="-122"/>
                <a:cs typeface="Cambria" pitchFamily="34" charset="-120"/>
              </a:rPr>
              <a:t>Counter-records</a:t>
            </a:r>
            <a:endParaRPr lang="en-US" sz="1700" dirty="0"/>
          </a:p>
        </p:txBody>
      </p:sp>
      <p:sp>
        <p:nvSpPr>
          <p:cNvPr id="23" name="Text 21"/>
          <p:cNvSpPr txBox="1"/>
          <p:nvPr/>
        </p:nvSpPr>
        <p:spPr>
          <a:xfrm>
            <a:off x="5394960" y="3730752"/>
            <a:ext cx="3154680" cy="86868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Money is never edited: a Reversal posts equal and opposite entries; the original stays.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200" b="1" dirty="0">
                <a:solidFill>
                  <a:srgbClr val="0B4F4A"/>
                </a:solidFill>
                <a:latin typeface="Cambria" pitchFamily="34" charset="0"/>
                <a:ea typeface="Cambria" pitchFamily="34" charset="-122"/>
                <a:cs typeface="Cambria" pitchFamily="34" charset="-120"/>
              </a:rPr>
              <a:t>Party -&gt; Organization -&gt; Company / Charity</a:t>
            </a:r>
            <a:endParaRPr lang="en-US" sz="2200" dirty="0"/>
          </a:p>
        </p:txBody>
      </p:sp>
      <p:sp>
        <p:nvSpPr>
          <p:cNvPr id="3" name="Text 1"/>
          <p:cNvSpPr txBox="1"/>
          <p:nvPr/>
        </p:nvSpPr>
        <p:spPr>
          <a:xfrm>
            <a:off x="457200" y="1097280"/>
            <a:ext cx="3749040" cy="356616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Party: identity, documents, checks, corrections, restrictions</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Organization adds officers, owners, mandates and a stricter KYC rule (connected persons must be verified too)</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Company needs a director; Charity needs two trustees: structural_gaps() overridden</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Customer, director, signatory are ROLES, not subclasses</a:t>
            </a:r>
            <a:endParaRPr lang="en-US" sz="1300" dirty="0"/>
          </a:p>
        </p:txBody>
      </p:sp>
      <p:sp>
        <p:nvSpPr>
          <p:cNvPr id="4" name="Shape 2"/>
          <p:cNvSpPr/>
          <p:nvPr/>
        </p:nvSpPr>
        <p:spPr>
          <a:xfrm>
            <a:off x="4434840" y="1005840"/>
            <a:ext cx="4251960" cy="3794760"/>
          </a:xfrm>
          <a:prstGeom prst="roundRect">
            <a:avLst>
              <a:gd name="adj" fmla="val 1928"/>
            </a:avLst>
          </a:prstGeom>
          <a:solidFill>
            <a:srgbClr val="F4F8F7"/>
          </a:solidFill>
          <a:ln w="12700">
            <a:solidFill>
              <a:srgbClr val="F4F8F7"/>
            </a:solidFill>
            <a:prstDash val="solid"/>
          </a:ln>
        </p:spPr>
      </p:sp>
      <p:pic>
        <p:nvPicPr>
          <p:cNvPr id="5" name="Image 0" descr="/home/user/commercial-banking/docs/uml_parties.png">    </p:cNvPr>
          <p:cNvPicPr>
            <a:picLocks noChangeAspect="1"/>
          </p:cNvPicPr>
          <p:nvPr/>
        </p:nvPicPr>
        <p:blipFill>
          <a:blip r:embed="rId1"/>
          <a:stretch>
            <a:fillRect/>
          </a:stretch>
        </p:blipFill>
        <p:spPr>
          <a:xfrm>
            <a:off x="4526280" y="1164832"/>
            <a:ext cx="4069080" cy="34767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200" b="1" dirty="0">
                <a:solidFill>
                  <a:srgbClr val="0B4F4A"/>
                </a:solidFill>
                <a:latin typeface="Cambria" pitchFamily="34" charset="0"/>
                <a:ea typeface="Cambria" pitchFamily="34" charset="-122"/>
                <a:cs typeface="Cambria" pitchFamily="34" charset="-120"/>
              </a:rPr>
              <a:t>Arrangement -&gt; DepositAccount -&gt; Current / Savings</a:t>
            </a:r>
            <a:endParaRPr lang="en-US" sz="2200" dirty="0"/>
          </a:p>
        </p:txBody>
      </p:sp>
      <p:sp>
        <p:nvSpPr>
          <p:cNvPr id="3" name="Text 1"/>
          <p:cNvSpPr txBox="1"/>
          <p:nvPr/>
        </p:nvSpPr>
        <p:spPr>
          <a:xfrm>
            <a:off x="457200" y="1097280"/>
            <a:ext cx="3749040" cy="356616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Arrangement: product, pinned terms, holders, branch history, status, restrictions</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DepositAccount adds what only accounts holding money have: ledger, holds, available balance</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Current overrides overdraft_limit(); Savings and FixedTermDeposit extend check_debit()</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FinancingAgreement sits beside DepositAccount: it holds no customer money</a:t>
            </a:r>
            <a:endParaRPr lang="en-US" sz="1300" dirty="0"/>
          </a:p>
        </p:txBody>
      </p:sp>
      <p:sp>
        <p:nvSpPr>
          <p:cNvPr id="4" name="Shape 2"/>
          <p:cNvSpPr/>
          <p:nvPr/>
        </p:nvSpPr>
        <p:spPr>
          <a:xfrm>
            <a:off x="4434840" y="1005840"/>
            <a:ext cx="4251960" cy="3794760"/>
          </a:xfrm>
          <a:prstGeom prst="roundRect">
            <a:avLst>
              <a:gd name="adj" fmla="val 1928"/>
            </a:avLst>
          </a:prstGeom>
          <a:solidFill>
            <a:srgbClr val="F4F8F7"/>
          </a:solidFill>
          <a:ln w="12700">
            <a:solidFill>
              <a:srgbClr val="F4F8F7"/>
            </a:solidFill>
            <a:prstDash val="solid"/>
          </a:ln>
        </p:spPr>
      </p:sp>
      <p:pic>
        <p:nvPicPr>
          <p:cNvPr id="5" name="Image 0" descr="/home/user/commercial-banking/docs/uml_arrangements.png">    </p:cNvPr>
          <p:cNvPicPr>
            <a:picLocks noChangeAspect="1"/>
          </p:cNvPicPr>
          <p:nvPr/>
        </p:nvPicPr>
        <p:blipFill>
          <a:blip r:embed="rId1"/>
          <a:stretch>
            <a:fillRect/>
          </a:stretch>
        </p:blipFill>
        <p:spPr>
          <a:xfrm>
            <a:off x="4582463" y="1097280"/>
            <a:ext cx="3956715" cy="3611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200" b="1" dirty="0">
                <a:solidFill>
                  <a:srgbClr val="0B4F4A"/>
                </a:solidFill>
                <a:latin typeface="Cambria" pitchFamily="34" charset="0"/>
                <a:ea typeface="Cambria" pitchFamily="34" charset="-122"/>
                <a:cs typeface="Cambria" pitchFamily="34" charset="-120"/>
              </a:rPr>
              <a:t>BankTransaction -&gt; CustomerPayment / LoanTransaction / Reversal</a:t>
            </a:r>
            <a:endParaRPr lang="en-US" sz="22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Every movement is double-entry; post() refuses legs that do not sum to zero</a:t>
            </a:r>
            <a:endParaRPr lang="en-US" sz="1200" dirty="0"/>
          </a:p>
        </p:txBody>
      </p:sp>
      <p:pic>
        <p:nvPicPr>
          <p:cNvPr id="4" name="Image 0" descr="/home/user/commercial-banking/docs/uml_transactions.png">    </p:cNvPr>
          <p:cNvPicPr>
            <a:picLocks noChangeAspect="1"/>
          </p:cNvPicPr>
          <p:nvPr/>
        </p:nvPicPr>
        <p:blipFill>
          <a:blip r:embed="rId1"/>
          <a:stretch>
            <a:fillRect/>
          </a:stretch>
        </p:blipFill>
        <p:spPr>
          <a:xfrm>
            <a:off x="365760" y="1377865"/>
            <a:ext cx="8412480" cy="2090591"/>
          </a:xfrm>
          <a:prstGeom prst="rect">
            <a:avLst/>
          </a:prstGeom>
        </p:spPr>
      </p:pic>
      <p:sp>
        <p:nvSpPr>
          <p:cNvPr id="5" name="Text 2"/>
          <p:cNvSpPr txBox="1"/>
          <p:nvPr/>
        </p:nvSpPr>
        <p:spPr>
          <a:xfrm>
            <a:off x="457200" y="3703320"/>
            <a:ext cx="8229600" cy="1188720"/>
          </a:xfrm>
          <a:prstGeom prst="rect">
            <a:avLst/>
          </a:prstGeom>
          <a:noFill/>
          <a:ln/>
        </p:spPr>
        <p:txBody>
          <a:bodyPr wrap="square" lIns="635" tIns="635" rIns="635" bIns="635" rtlCol="0" anchor="t"/>
          <a:lstStyle/>
          <a:p>
            <a:pPr marL="342900" indent="-342900">
              <a:spcAft>
                <a:spcPts val="600"/>
              </a:spcAft>
              <a:buSzPct val="100000"/>
              <a:buChar char="•"/>
            </a:pPr>
            <a:r>
              <a:rPr lang="en-US" sz="1250" dirty="0">
                <a:solidFill>
                  <a:srgbClr val="1D2B2A"/>
                </a:solidFill>
                <a:latin typeface="Calibri" pitchFamily="34" charset="0"/>
                <a:ea typeface="Calibri" pitchFamily="34" charset="-122"/>
                <a:cs typeface="Calibri" pitchFamily="34" charset="-120"/>
              </a:rPr>
              <a:t>CustomerPayment adds initiator, channel, mandate used, 2nd signatory, disputes; Transfer, Card, Bill, OwnAccount add their own facts</a:t>
            </a:r>
            <a:endParaRPr lang="en-US" sz="1250" dirty="0"/>
          </a:p>
          <a:p>
            <a:pPr marL="342900" indent="-342900">
              <a:spcAft>
                <a:spcPts val="600"/>
              </a:spcAft>
              <a:buSzPct val="100000"/>
              <a:buChar char="•"/>
            </a:pPr>
            <a:r>
              <a:rPr lang="en-US" sz="1250" dirty="0">
                <a:solidFill>
                  <a:srgbClr val="1D2B2A"/>
                </a:solidFill>
                <a:latin typeface="Calibri" pitchFamily="34" charset="0"/>
                <a:ea typeface="Calibri" pitchFamily="34" charset="-122"/>
                <a:cs typeface="Calibri" pitchFamily="34" charset="-120"/>
              </a:rPr>
              <a:t>LoanTransaction groups disbursement, repayment and interest capitalisation</a:t>
            </a:r>
            <a:endParaRPr lang="en-US" sz="1250" dirty="0"/>
          </a:p>
          <a:p>
            <a:pPr marL="342900" indent="-342900">
              <a:spcAft>
                <a:spcPts val="600"/>
              </a:spcAft>
              <a:buSzPct val="100000"/>
              <a:buChar char="•"/>
            </a:pPr>
            <a:r>
              <a:rPr lang="en-US" sz="1250" dirty="0">
                <a:solidFill>
                  <a:srgbClr val="1D2B2A"/>
                </a:solidFill>
                <a:latin typeface="Calibri" pitchFamily="34" charset="0"/>
                <a:ea typeface="Calibri" pitchFamily="34" charset="-122"/>
                <a:cs typeface="Calibri" pitchFamily="34" charset="-120"/>
              </a:rPr>
              <a:t>Reversal -&gt; Chargeback: a card reversal claimed from the merchant with a scheme reason code; a MerchantRefund is NOT a reversal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800" b="1" dirty="0">
                <a:solidFill>
                  <a:srgbClr val="0B4F4A"/>
                </a:solidFill>
                <a:latin typeface="Cambria" pitchFamily="34" charset="0"/>
                <a:ea typeface="Cambria" pitchFamily="34" charset="-122"/>
                <a:cs typeface="Cambria" pitchFamily="34" charset="-120"/>
              </a:rPr>
              <a:t>Case -&gt; CustomerCase / RiskCase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Separate, linked records: the branch complaint and the compliance investigation</a:t>
            </a:r>
            <a:endParaRPr lang="en-US" sz="1200" dirty="0"/>
          </a:p>
        </p:txBody>
      </p:sp>
      <p:pic>
        <p:nvPicPr>
          <p:cNvPr id="4" name="Image 0" descr="/home/user/commercial-banking/docs/uml_cases.png">    </p:cNvPr>
          <p:cNvPicPr>
            <a:picLocks noChangeAspect="1"/>
          </p:cNvPicPr>
          <p:nvPr/>
        </p:nvPicPr>
        <p:blipFill>
          <a:blip r:embed="rId1"/>
          <a:stretch>
            <a:fillRect/>
          </a:stretch>
        </p:blipFill>
        <p:spPr>
          <a:xfrm>
            <a:off x="1958401" y="1234440"/>
            <a:ext cx="5227198" cy="2377440"/>
          </a:xfrm>
          <a:prstGeom prst="rect">
            <a:avLst/>
          </a:prstGeom>
        </p:spPr>
      </p:pic>
      <p:sp>
        <p:nvSpPr>
          <p:cNvPr id="5" name="Text 2"/>
          <p:cNvSpPr txBox="1"/>
          <p:nvPr/>
        </p:nvSpPr>
        <p:spPr>
          <a:xfrm>
            <a:off x="457200" y="3703320"/>
            <a:ext cx="8229600" cy="1188720"/>
          </a:xfrm>
          <a:prstGeom prst="rect">
            <a:avLst/>
          </a:prstGeom>
          <a:noFill/>
          <a:ln/>
        </p:spPr>
        <p:txBody>
          <a:bodyPr wrap="square" lIns="635" tIns="635" rIns="635" bIns="635" rtlCol="0" anchor="t"/>
          <a:lstStyle/>
          <a:p>
            <a:pPr marL="342900" indent="-342900">
              <a:spcAft>
                <a:spcPts val="600"/>
              </a:spcAft>
              <a:buSzPct val="100000"/>
              <a:buChar char="•"/>
            </a:pPr>
            <a:r>
              <a:rPr lang="en-US" sz="1250" dirty="0">
                <a:solidFill>
                  <a:srgbClr val="1D2B2A"/>
                </a:solidFill>
                <a:latin typeface="Calibri" pitchFamily="34" charset="0"/>
                <a:ea typeface="Calibri" pitchFamily="34" charset="-122"/>
                <a:cs typeface="Calibri" pitchFamily="34" charset="-120"/>
              </a:rPr>
              <a:t>CustomerCase: arrives through a channel from a contact person (dispute, complaint, service request)</a:t>
            </a:r>
            <a:endParaRPr lang="en-US" sz="1250" dirty="0"/>
          </a:p>
          <a:p>
            <a:pPr marL="342900" indent="-342900">
              <a:spcAft>
                <a:spcPts val="600"/>
              </a:spcAft>
              <a:buSzPct val="100000"/>
              <a:buChar char="•"/>
            </a:pPr>
            <a:r>
              <a:rPr lang="en-US" sz="1250" dirty="0">
                <a:solidFill>
                  <a:srgbClr val="1D2B2A"/>
                </a:solidFill>
                <a:latin typeface="Calibri" pitchFamily="34" charset="0"/>
                <a:ea typeface="Calibri" pitchFamily="34" charset="-122"/>
                <a:cs typeface="Calibri" pitchFamily="34" charset="-120"/>
              </a:rPr>
              <a:t>RiskCase: bank-initiated; overrides close() so it cannot close while its restrictions are live</a:t>
            </a:r>
            <a:endParaRPr lang="en-US" sz="1250" dirty="0"/>
          </a:p>
          <a:p>
            <a:pPr marL="342900" indent="-342900">
              <a:spcAft>
                <a:spcPts val="600"/>
              </a:spcAft>
              <a:buSzPct val="100000"/>
              <a:buChar char="•"/>
            </a:pPr>
            <a:r>
              <a:rPr lang="en-US" sz="1250" dirty="0">
                <a:solidFill>
                  <a:srgbClr val="1D2B2A"/>
                </a:solidFill>
                <a:latin typeface="Calibri" pitchFamily="34" charset="0"/>
                <a:ea typeface="Calibri" pitchFamily="34" charset="-122"/>
                <a:cs typeface="Calibri" pitchFamily="34" charset="-120"/>
              </a:rPr>
              <a:t>CollectionsCase: opened by the arrears batch</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200" b="1" dirty="0">
                <a:solidFill>
                  <a:srgbClr val="0B4F4A"/>
                </a:solidFill>
                <a:latin typeface="Cambria" pitchFamily="34" charset="0"/>
                <a:ea typeface="Cambria" pitchFamily="34" charset="-122"/>
                <a:cs typeface="Cambria" pitchFamily="34" charset="-120"/>
              </a:rPr>
              <a:t>Abstract classes and inherited state machines</a:t>
            </a:r>
            <a:endParaRPr lang="en-US" sz="2200" dirty="0"/>
          </a:p>
        </p:txBody>
      </p:sp>
      <p:sp>
        <p:nvSpPr>
          <p:cNvPr id="3" name="Text 1"/>
          <p:cNvSpPr txBox="1"/>
          <p:nvPr/>
        </p:nvSpPr>
        <p:spPr>
          <a:xfrm>
            <a:off x="457200" y="1097280"/>
            <a:ext cx="3749040" cy="356616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Hierarchy roots are abstract (abc): no "plain" transaction or party can exist</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Abstract methods differ by class: counterparty(), overdraft_limit(), position(), handler_roles()</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Type checks replaced by polymorphism: transaction_story is txn.story_lines()</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Each class declares its LIFECYCLE; StatusHistory refuses any other move</a:t>
            </a:r>
            <a:endParaRPr lang="en-US" sz="1300" dirty="0"/>
          </a:p>
          <a:p>
            <a:pPr marL="342900" indent="-342900">
              <a:spcAft>
                <a:spcPts val="600"/>
              </a:spcAft>
              <a:buSzPct val="100000"/>
              <a:buChar char="•"/>
            </a:pPr>
            <a:r>
              <a:rPr lang="en-US" sz="1300" dirty="0">
                <a:solidFill>
                  <a:srgbClr val="1D2B2A"/>
                </a:solidFill>
                <a:latin typeface="Calibri" pitchFamily="34" charset="0"/>
                <a:ea typeface="Calibri" pitchFamily="34" charset="-122"/>
                <a:cs typeface="Calibri" pitchFamily="34" charset="-120"/>
              </a:rPr>
              <a:t>Subclasses extend it: CustomerPayment adds dual control, TransferPayment the review hold</a:t>
            </a:r>
            <a:endParaRPr lang="en-US" sz="1300" dirty="0"/>
          </a:p>
        </p:txBody>
      </p:sp>
      <p:sp>
        <p:nvSpPr>
          <p:cNvPr id="4" name="Shape 2"/>
          <p:cNvSpPr/>
          <p:nvPr/>
        </p:nvSpPr>
        <p:spPr>
          <a:xfrm>
            <a:off x="4434840" y="1005840"/>
            <a:ext cx="4251960" cy="3794760"/>
          </a:xfrm>
          <a:prstGeom prst="roundRect">
            <a:avLst>
              <a:gd name="adj" fmla="val 1928"/>
            </a:avLst>
          </a:prstGeom>
          <a:solidFill>
            <a:srgbClr val="F4F8F7"/>
          </a:solidFill>
          <a:ln w="12700">
            <a:solidFill>
              <a:srgbClr val="F4F8F7"/>
            </a:solidFill>
            <a:prstDash val="solid"/>
          </a:ln>
        </p:spPr>
      </p:sp>
      <p:pic>
        <p:nvPicPr>
          <p:cNvPr id="5" name="Image 0" descr="/home/user/commercial-banking/docs/state_1_payment.png">    </p:cNvPr>
          <p:cNvPicPr>
            <a:picLocks noChangeAspect="1"/>
          </p:cNvPicPr>
          <p:nvPr/>
        </p:nvPicPr>
        <p:blipFill>
          <a:blip r:embed="rId1"/>
          <a:stretch>
            <a:fillRect/>
          </a:stretch>
        </p:blipFill>
        <p:spPr>
          <a:xfrm>
            <a:off x="4526280" y="1668518"/>
            <a:ext cx="4069080" cy="24694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800" b="1" dirty="0">
                <a:solidFill>
                  <a:srgbClr val="0B4F4A"/>
                </a:solidFill>
                <a:latin typeface="Cambria" pitchFamily="34" charset="0"/>
                <a:ea typeface="Cambria" pitchFamily="34" charset="-122"/>
                <a:cs typeface="Cambria" pitchFamily="34" charset="-120"/>
              </a:rPr>
              <a:t>Tempting inheritances we rejected</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Fourteen in the report; four of the strongest</a:t>
            </a:r>
            <a:endParaRPr lang="en-US" sz="1200" dirty="0"/>
          </a:p>
        </p:txBody>
      </p:sp>
      <p:sp>
        <p:nvSpPr>
          <p:cNvPr id="4" name="Shape 2"/>
          <p:cNvSpPr/>
          <p:nvPr/>
        </p:nvSpPr>
        <p:spPr>
          <a:xfrm>
            <a:off x="457200" y="1325880"/>
            <a:ext cx="4023360" cy="1600200"/>
          </a:xfrm>
          <a:prstGeom prst="roundRect">
            <a:avLst>
              <a:gd name="adj" fmla="val 4571"/>
            </a:avLst>
          </a:prstGeom>
          <a:solidFill>
            <a:srgbClr val="E8F0EE"/>
          </a:solidFill>
          <a:ln w="12700">
            <a:solidFill>
              <a:srgbClr val="E8F0EE"/>
            </a:solidFill>
            <a:prstDash val="solid"/>
          </a:ln>
        </p:spPr>
      </p:sp>
      <p:sp>
        <p:nvSpPr>
          <p:cNvPr id="5" name="Text 3"/>
          <p:cNvSpPr txBox="1"/>
          <p:nvPr/>
        </p:nvSpPr>
        <p:spPr>
          <a:xfrm>
            <a:off x="640080" y="1527048"/>
            <a:ext cx="384048" cy="384048"/>
          </a:xfrm>
          <a:prstGeom prst="rect">
            <a:avLst/>
          </a:prstGeom>
          <a:solidFill>
            <a:srgbClr val="9C3D1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x</a:t>
            </a:r>
            <a:endParaRPr lang="en-US" sz="1600" dirty="0"/>
          </a:p>
        </p:txBody>
      </p:sp>
      <p:sp>
        <p:nvSpPr>
          <p:cNvPr id="6" name="Text 4"/>
          <p:cNvSpPr txBox="1"/>
          <p:nvPr/>
        </p:nvSpPr>
        <p:spPr>
          <a:xfrm>
            <a:off x="1188720" y="1508760"/>
            <a:ext cx="3154680" cy="411480"/>
          </a:xfrm>
          <a:prstGeom prst="rect">
            <a:avLst/>
          </a:prstGeom>
          <a:noFill/>
          <a:ln/>
        </p:spPr>
        <p:txBody>
          <a:bodyPr wrap="square" lIns="0" tIns="0" rIns="0" bIns="0" rtlCol="0" anchor="ctr"/>
          <a:lstStyle/>
          <a:p>
            <a:pPr indent="0" marL="0">
              <a:buNone/>
            </a:pPr>
            <a:r>
              <a:rPr lang="en-US" sz="1100" b="1" dirty="0">
                <a:solidFill>
                  <a:srgbClr val="0B4F4A"/>
                </a:solidFill>
                <a:latin typeface="Courier New" pitchFamily="34" charset="0"/>
                <a:ea typeface="Courier New" pitchFamily="34" charset="-122"/>
                <a:cs typeface="Courier New" pitchFamily="34" charset="-120"/>
              </a:rPr>
              <a:t>Customer(Person)</a:t>
            </a:r>
            <a:endParaRPr lang="en-US" sz="1100" dirty="0"/>
          </a:p>
        </p:txBody>
      </p:sp>
      <p:sp>
        <p:nvSpPr>
          <p:cNvPr id="7" name="Text 5"/>
          <p:cNvSpPr txBox="1"/>
          <p:nvPr/>
        </p:nvSpPr>
        <p:spPr>
          <a:xfrm>
            <a:off x="1188720" y="1965960"/>
            <a:ext cx="3154680" cy="86868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One human is customer, director and signatory at once; roles start and end on different dates.</a:t>
            </a:r>
            <a:endParaRPr lang="en-US" sz="1250" dirty="0"/>
          </a:p>
        </p:txBody>
      </p:sp>
      <p:sp>
        <p:nvSpPr>
          <p:cNvPr id="8" name="Shape 6"/>
          <p:cNvSpPr/>
          <p:nvPr/>
        </p:nvSpPr>
        <p:spPr>
          <a:xfrm>
            <a:off x="4663440" y="1325880"/>
            <a:ext cx="4023360" cy="1600200"/>
          </a:xfrm>
          <a:prstGeom prst="roundRect">
            <a:avLst>
              <a:gd name="adj" fmla="val 4571"/>
            </a:avLst>
          </a:prstGeom>
          <a:solidFill>
            <a:srgbClr val="E8F0EE"/>
          </a:solidFill>
          <a:ln w="12700">
            <a:solidFill>
              <a:srgbClr val="E8F0EE"/>
            </a:solidFill>
            <a:prstDash val="solid"/>
          </a:ln>
        </p:spPr>
      </p:sp>
      <p:sp>
        <p:nvSpPr>
          <p:cNvPr id="9" name="Text 7"/>
          <p:cNvSpPr txBox="1"/>
          <p:nvPr/>
        </p:nvSpPr>
        <p:spPr>
          <a:xfrm>
            <a:off x="4846320" y="1527048"/>
            <a:ext cx="384048" cy="384048"/>
          </a:xfrm>
          <a:prstGeom prst="rect">
            <a:avLst/>
          </a:prstGeom>
          <a:solidFill>
            <a:srgbClr val="9C3D1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x</a:t>
            </a:r>
            <a:endParaRPr lang="en-US" sz="1600" dirty="0"/>
          </a:p>
        </p:txBody>
      </p:sp>
      <p:sp>
        <p:nvSpPr>
          <p:cNvPr id="10" name="Text 8"/>
          <p:cNvSpPr txBox="1"/>
          <p:nvPr/>
        </p:nvSpPr>
        <p:spPr>
          <a:xfrm>
            <a:off x="5394960" y="1508760"/>
            <a:ext cx="3154680" cy="411480"/>
          </a:xfrm>
          <a:prstGeom prst="rect">
            <a:avLst/>
          </a:prstGeom>
          <a:noFill/>
          <a:ln/>
        </p:spPr>
        <p:txBody>
          <a:bodyPr wrap="square" lIns="0" tIns="0" rIns="0" bIns="0" rtlCol="0" anchor="ctr"/>
          <a:lstStyle/>
          <a:p>
            <a:pPr indent="0" marL="0">
              <a:buNone/>
            </a:pPr>
            <a:r>
              <a:rPr lang="en-US" sz="1100" b="1" dirty="0">
                <a:solidFill>
                  <a:srgbClr val="0B4F4A"/>
                </a:solidFill>
                <a:latin typeface="Courier New" pitchFamily="34" charset="0"/>
                <a:ea typeface="Courier New" pitchFamily="34" charset="-122"/>
                <a:cs typeface="Courier New" pitchFamily="34" charset="-120"/>
              </a:rPr>
              <a:t>IssuedCard(DepositAccount)</a:t>
            </a:r>
            <a:endParaRPr lang="en-US" sz="1100" dirty="0"/>
          </a:p>
        </p:txBody>
      </p:sp>
      <p:sp>
        <p:nvSpPr>
          <p:cNvPr id="11" name="Text 9"/>
          <p:cNvSpPr txBox="1"/>
          <p:nvPr/>
        </p:nvSpPr>
        <p:spPr>
          <a:xfrm>
            <a:off x="5394960" y="1965960"/>
            <a:ext cx="3154680" cy="86868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A card holds no money and many cards share one account: it is a credential.</a:t>
            </a:r>
            <a:endParaRPr lang="en-US" sz="1250" dirty="0"/>
          </a:p>
        </p:txBody>
      </p:sp>
      <p:sp>
        <p:nvSpPr>
          <p:cNvPr id="12" name="Shape 10"/>
          <p:cNvSpPr/>
          <p:nvPr/>
        </p:nvSpPr>
        <p:spPr>
          <a:xfrm>
            <a:off x="457200" y="3108960"/>
            <a:ext cx="4023360" cy="1600200"/>
          </a:xfrm>
          <a:prstGeom prst="roundRect">
            <a:avLst>
              <a:gd name="adj" fmla="val 4571"/>
            </a:avLst>
          </a:prstGeom>
          <a:solidFill>
            <a:srgbClr val="E8F0EE"/>
          </a:solidFill>
          <a:ln w="12700">
            <a:solidFill>
              <a:srgbClr val="E8F0EE"/>
            </a:solidFill>
            <a:prstDash val="solid"/>
          </a:ln>
        </p:spPr>
      </p:sp>
      <p:sp>
        <p:nvSpPr>
          <p:cNvPr id="13" name="Text 11"/>
          <p:cNvSpPr txBox="1"/>
          <p:nvPr/>
        </p:nvSpPr>
        <p:spPr>
          <a:xfrm>
            <a:off x="640080" y="3310128"/>
            <a:ext cx="384048" cy="384048"/>
          </a:xfrm>
          <a:prstGeom prst="rect">
            <a:avLst/>
          </a:prstGeom>
          <a:solidFill>
            <a:srgbClr val="9C3D1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x</a:t>
            </a:r>
            <a:endParaRPr lang="en-US" sz="1600" dirty="0"/>
          </a:p>
        </p:txBody>
      </p:sp>
      <p:sp>
        <p:nvSpPr>
          <p:cNvPr id="14" name="Text 12"/>
          <p:cNvSpPr txBox="1"/>
          <p:nvPr/>
        </p:nvSpPr>
        <p:spPr>
          <a:xfrm>
            <a:off x="1188720" y="3291840"/>
            <a:ext cx="3154680" cy="411480"/>
          </a:xfrm>
          <a:prstGeom prst="rect">
            <a:avLst/>
          </a:prstGeom>
          <a:noFill/>
          <a:ln/>
        </p:spPr>
        <p:txBody>
          <a:bodyPr wrap="square" lIns="0" tIns="0" rIns="0" bIns="0" rtlCol="0" anchor="ctr"/>
          <a:lstStyle/>
          <a:p>
            <a:pPr indent="0" marL="0">
              <a:buNone/>
            </a:pPr>
            <a:r>
              <a:rPr lang="en-US" sz="1100" b="1" dirty="0">
                <a:solidFill>
                  <a:srgbClr val="0B4F4A"/>
                </a:solidFill>
                <a:latin typeface="Courier New" pitchFamily="34" charset="0"/>
                <a:ea typeface="Courier New" pitchFamily="34" charset="-122"/>
                <a:cs typeface="Courier New" pitchFamily="34" charset="-120"/>
              </a:rPr>
              <a:t>FinancingAgreement(DepositAccount)</a:t>
            </a:r>
            <a:endParaRPr lang="en-US" sz="1100" dirty="0"/>
          </a:p>
        </p:txBody>
      </p:sp>
      <p:sp>
        <p:nvSpPr>
          <p:cNvPr id="15" name="Text 13"/>
          <p:cNvSpPr txBox="1"/>
          <p:nvPr/>
        </p:nvSpPr>
        <p:spPr>
          <a:xfrm>
            <a:off x="1188720" y="3749040"/>
            <a:ext cx="3154680" cy="86868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A loan has no ledger of customer funds, holds or available balance.</a:t>
            </a:r>
            <a:endParaRPr lang="en-US" sz="1250" dirty="0"/>
          </a:p>
        </p:txBody>
      </p:sp>
      <p:sp>
        <p:nvSpPr>
          <p:cNvPr id="16" name="Shape 14"/>
          <p:cNvSpPr/>
          <p:nvPr/>
        </p:nvSpPr>
        <p:spPr>
          <a:xfrm>
            <a:off x="4663440" y="3108960"/>
            <a:ext cx="4023360" cy="1600200"/>
          </a:xfrm>
          <a:prstGeom prst="roundRect">
            <a:avLst>
              <a:gd name="adj" fmla="val 4571"/>
            </a:avLst>
          </a:prstGeom>
          <a:solidFill>
            <a:srgbClr val="E8F0EE"/>
          </a:solidFill>
          <a:ln w="12700">
            <a:solidFill>
              <a:srgbClr val="E8F0EE"/>
            </a:solidFill>
            <a:prstDash val="solid"/>
          </a:ln>
        </p:spPr>
      </p:sp>
      <p:sp>
        <p:nvSpPr>
          <p:cNvPr id="17" name="Text 15"/>
          <p:cNvSpPr txBox="1"/>
          <p:nvPr/>
        </p:nvSpPr>
        <p:spPr>
          <a:xfrm>
            <a:off x="4846320" y="3310128"/>
            <a:ext cx="384048" cy="384048"/>
          </a:xfrm>
          <a:prstGeom prst="rect">
            <a:avLst/>
          </a:prstGeom>
          <a:solidFill>
            <a:srgbClr val="9C3D1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x</a:t>
            </a:r>
            <a:endParaRPr lang="en-US" sz="1600" dirty="0"/>
          </a:p>
        </p:txBody>
      </p:sp>
      <p:sp>
        <p:nvSpPr>
          <p:cNvPr id="18" name="Text 16"/>
          <p:cNvSpPr txBox="1"/>
          <p:nvPr/>
        </p:nvSpPr>
        <p:spPr>
          <a:xfrm>
            <a:off x="5394960" y="3291840"/>
            <a:ext cx="3154680" cy="411480"/>
          </a:xfrm>
          <a:prstGeom prst="rect">
            <a:avLst/>
          </a:prstGeom>
          <a:noFill/>
          <a:ln/>
        </p:spPr>
        <p:txBody>
          <a:bodyPr wrap="square" lIns="0" tIns="0" rIns="0" bIns="0" rtlCol="0" anchor="ctr"/>
          <a:lstStyle/>
          <a:p>
            <a:pPr indent="0" marL="0">
              <a:buNone/>
            </a:pPr>
            <a:r>
              <a:rPr lang="en-US" sz="1100" b="1" dirty="0">
                <a:solidFill>
                  <a:srgbClr val="0B4F4A"/>
                </a:solidFill>
                <a:latin typeface="Courier New" pitchFamily="34" charset="0"/>
                <a:ea typeface="Courier New" pitchFamily="34" charset="-122"/>
                <a:cs typeface="Courier New" pitchFamily="34" charset="-120"/>
              </a:rPr>
              <a:t>MerchantRefund(Reversal)</a:t>
            </a:r>
            <a:endParaRPr lang="en-US" sz="1100" dirty="0"/>
          </a:p>
        </p:txBody>
      </p:sp>
      <p:sp>
        <p:nvSpPr>
          <p:cNvPr id="19" name="Text 17"/>
          <p:cNvSpPr txBox="1"/>
          <p:nvPr/>
        </p:nvSpPr>
        <p:spPr>
          <a:xfrm>
            <a:off x="5394960" y="3749040"/>
            <a:ext cx="3154680" cy="868680"/>
          </a:xfrm>
          <a:prstGeom prst="rect">
            <a:avLst/>
          </a:prstGeom>
          <a:noFill/>
          <a:ln/>
        </p:spPr>
        <p:txBody>
          <a:bodyPr wrap="square" lIns="0" tIns="0" rIns="0" bIns="0" rtlCol="0" anchor="t"/>
          <a:lstStyle/>
          <a:p>
            <a:pPr indent="0" marL="0">
              <a:buNone/>
            </a:pPr>
            <a:r>
              <a:rPr lang="en-US" sz="1250" dirty="0">
                <a:solidFill>
                  <a:srgbClr val="1D2B2A"/>
                </a:solidFill>
                <a:latin typeface="Calibri" pitchFamily="34" charset="0"/>
                <a:ea typeface="Calibri" pitchFamily="34" charset="-122"/>
                <a:cs typeface="Calibri" pitchFamily="34" charset="-120"/>
              </a:rPr>
              <a:t>The merchant starts it, no bank approval, and the purchase stays POSTED: not an undo.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800" b="1" dirty="0">
                <a:solidFill>
                  <a:srgbClr val="0B4F4A"/>
                </a:solidFill>
                <a:latin typeface="Cambria" pitchFamily="34" charset="0"/>
                <a:ea typeface="Cambria" pitchFamily="34" charset="-122"/>
                <a:cs typeface="Cambria" pitchFamily="34" charset="-120"/>
              </a:rPr>
              <a:t>Why not the obvious alternative?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An account-centric model: Customer with flags, Account with a type field, edits in place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286000"/>
                <a:gridCol w="2880360"/>
                <a:gridCol w="306324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Critical case</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0B4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Account-centric alternative</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0B4F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This design</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0B4F4A"/>
                    </a:solidFill>
                  </a:tcPr>
                </a:tc>
              </a:tr>
              <a:tr h="457200">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Signatory loses authority</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4F8F7"/>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is_signatory = False erases the past</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4F8F7"/>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Mandate with a Period; payments keep it</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4F8F7"/>
                    </a:solidFill>
                  </a:tcPr>
                </a:tc>
              </a:tr>
              <a:tr h="457200">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Posted, reversed, disputed</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FFFFF"/>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amount edited, original lost</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FFFFF"/>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Reversal, re-post and Chargeback records</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Card replaced several times</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4F8F7"/>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one card_number overwritten</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4F8F7"/>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IssuedCard chain; each payment keeps its card</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4F8F7"/>
                    </a:solidFill>
                  </a:tcPr>
                </a:tc>
              </a:tr>
              <a:tr h="457200">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Loan restructured</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FFFFF"/>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installments rewritten</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FFFFF"/>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new schedule version; paid stay PAID</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Product withdrawn</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4F8F7"/>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is_active blocks old customers too</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4F8F7"/>
                    </a:solidFill>
                  </a:tcPr>
                </a:tc>
                <a:tc>
                  <a:txBody>
                    <a:bodyPr/>
                    <a:lstStyle/>
                    <a:p>
                      <a:pPr indent="0" marL="0">
                        <a:buNone/>
                      </a:pPr>
                      <a:r>
                        <a:rPr lang="en-US" sz="1100" dirty="0">
                          <a:solidFill>
                            <a:srgbClr val="1D2B2A"/>
                          </a:solidFill>
                          <a:latin typeface="Calibri" pitchFamily="34" charset="0"/>
                          <a:ea typeface="Calibri" pitchFamily="34" charset="-122"/>
                          <a:cs typeface="Calibri" pitchFamily="34" charset="-120"/>
                        </a:rPr>
                        <a:t>sale status + pinned terms version</a:t>
                      </a:r>
                      <a:endParaRPr lang="en-US" sz="1100" dirty="0">
                        <a:latin typeface="Calibri" charset="0"/>
                        <a:ea typeface="Calibri" charset="0"/>
                        <a:cs typeface="Calibri" charset="0"/>
                      </a:endParaRPr>
                    </a:p>
                  </a:txBody>
                  <a:tcPr marL="91440" marR="91440" marT="45720" marB="45720" anchor="ctr">
                    <a:lnL w="6350" cap="flat" cmpd="sng" algn="ctr">
                      <a:solidFill>
                        <a:srgbClr val="D5E0DD"/>
                      </a:solidFill>
                      <a:prstDash val="solid"/>
                      <a:round/>
                      <a:headEnd type="none" w="med" len="med"/>
                      <a:tailEnd type="none" w="med" len="med"/>
                    </a:lnL>
                    <a:lnR w="6350" cap="flat" cmpd="sng" algn="ctr">
                      <a:solidFill>
                        <a:srgbClr val="D5E0DD"/>
                      </a:solidFill>
                      <a:prstDash val="solid"/>
                      <a:round/>
                      <a:headEnd type="none" w="med" len="med"/>
                      <a:tailEnd type="none" w="med" len="med"/>
                    </a:lnR>
                    <a:lnT w="6350" cap="flat" cmpd="sng" algn="ctr">
                      <a:solidFill>
                        <a:srgbClr val="D5E0DD"/>
                      </a:solidFill>
                      <a:prstDash val="solid"/>
                      <a:round/>
                      <a:headEnd type="none" w="med" len="med"/>
                      <a:tailEnd type="none" w="med" len="med"/>
                    </a:lnT>
                    <a:lnB w="6350" cap="flat" cmpd="sng" algn="ctr">
                      <a:solidFill>
                        <a:srgbClr val="D5E0DD"/>
                      </a:solidFill>
                      <a:prstDash val="solid"/>
                      <a:round/>
                      <a:headEnd type="none" w="med" len="med"/>
                      <a:tailEnd type="none" w="med" len="med"/>
                    </a:lnB>
                    <a:solidFill>
                      <a:srgbClr val="F4F8F7"/>
                    </a:solidFill>
                  </a:tcPr>
                </a:tc>
              </a:tr>
            </a:tbl>
          </a:graphicData>
        </a:graphic>
      </p:graphicFrame>
      <p:sp>
        <p:nvSpPr>
          <p:cNvPr id="5" name="Text 2"/>
          <p:cNvSpPr txBox="1"/>
          <p:nvPr/>
        </p:nvSpPr>
        <p:spPr>
          <a:xfrm>
            <a:off x="457200" y="4526280"/>
            <a:ext cx="8229600" cy="36576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The alternative fails all ten critical cases (report section 7.1).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800" b="1" dirty="0">
                <a:solidFill>
                  <a:srgbClr val="0B4F4A"/>
                </a:solidFill>
                <a:latin typeface="Cambria" pitchFamily="34" charset="0"/>
                <a:ea typeface="Cambria" pitchFamily="34" charset="-122"/>
                <a:cs typeface="Cambria" pitchFamily="34" charset="-120"/>
              </a:rPr>
              <a:t>16 scenarios break the normal workflow</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All ten critical cases in the brief are covered, plus every participant it names</a:t>
            </a:r>
            <a:endParaRPr lang="en-US" sz="1200" dirty="0"/>
          </a:p>
        </p:txBody>
      </p:sp>
      <p:sp>
        <p:nvSpPr>
          <p:cNvPr id="4" name="Shape 2"/>
          <p:cNvSpPr/>
          <p:nvPr/>
        </p:nvSpPr>
        <p:spPr>
          <a:xfrm>
            <a:off x="457200" y="1188720"/>
            <a:ext cx="384048" cy="384048"/>
          </a:xfrm>
          <a:prstGeom prst="ellipse">
            <a:avLst/>
          </a:prstGeom>
          <a:solidFill>
            <a:srgbClr val="B8862F"/>
          </a:solidFill>
          <a:ln/>
        </p:spPr>
      </p:sp>
      <p:sp>
        <p:nvSpPr>
          <p:cNvPr id="5" name="Text 3"/>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960120" y="11887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Document expires mid-onboarding</a:t>
            </a:r>
            <a:endParaRPr lang="en-US" sz="1250" dirty="0"/>
          </a:p>
        </p:txBody>
      </p:sp>
      <p:sp>
        <p:nvSpPr>
          <p:cNvPr id="7" name="Shape 5"/>
          <p:cNvSpPr/>
          <p:nvPr/>
        </p:nvSpPr>
        <p:spPr>
          <a:xfrm>
            <a:off x="457200" y="1645920"/>
            <a:ext cx="384048" cy="384048"/>
          </a:xfrm>
          <a:prstGeom prst="ellipse">
            <a:avLst/>
          </a:prstGeom>
          <a:solidFill>
            <a:srgbClr val="B8862F"/>
          </a:solidFill>
          <a:ln/>
        </p:spPr>
      </p:sp>
      <p:sp>
        <p:nvSpPr>
          <p:cNvPr id="8" name="Text 6"/>
          <p:cNvSpPr txBox="1"/>
          <p:nvPr/>
        </p:nvSpPr>
        <p:spPr>
          <a:xfrm>
            <a:off x="45720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960120" y="16459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Large transfer: dual control, hold, release</a:t>
            </a:r>
            <a:endParaRPr lang="en-US" sz="1250" dirty="0"/>
          </a:p>
        </p:txBody>
      </p:sp>
      <p:sp>
        <p:nvSpPr>
          <p:cNvPr id="10" name="Shape 8"/>
          <p:cNvSpPr/>
          <p:nvPr/>
        </p:nvSpPr>
        <p:spPr>
          <a:xfrm>
            <a:off x="457200" y="2103120"/>
            <a:ext cx="384048" cy="384048"/>
          </a:xfrm>
          <a:prstGeom prst="ellipse">
            <a:avLst/>
          </a:prstGeom>
          <a:solidFill>
            <a:srgbClr val="B8862F"/>
          </a:solidFill>
          <a:ln/>
        </p:spPr>
      </p:sp>
      <p:sp>
        <p:nvSpPr>
          <p:cNvPr id="11" name="Text 9"/>
          <p:cNvSpPr txBox="1"/>
          <p:nvPr/>
        </p:nvSpPr>
        <p:spPr>
          <a:xfrm>
            <a:off x="457200"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960120" y="21031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Card stolen, replaced twice, found</a:t>
            </a:r>
            <a:endParaRPr lang="en-US" sz="1250" dirty="0"/>
          </a:p>
        </p:txBody>
      </p:sp>
      <p:sp>
        <p:nvSpPr>
          <p:cNvPr id="13" name="Shape 11"/>
          <p:cNvSpPr/>
          <p:nvPr/>
        </p:nvSpPr>
        <p:spPr>
          <a:xfrm>
            <a:off x="457200" y="2560320"/>
            <a:ext cx="384048" cy="384048"/>
          </a:xfrm>
          <a:prstGeom prst="ellipse">
            <a:avLst/>
          </a:prstGeom>
          <a:solidFill>
            <a:srgbClr val="B8862F"/>
          </a:solidFill>
          <a:ln/>
        </p:spPr>
      </p:sp>
      <p:sp>
        <p:nvSpPr>
          <p:cNvPr id="14" name="Text 12"/>
          <p:cNvSpPr txBox="1"/>
          <p:nvPr/>
        </p:nvSpPr>
        <p:spPr>
          <a:xfrm>
            <a:off x="457200"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txBox="1"/>
          <p:nvPr/>
        </p:nvSpPr>
        <p:spPr>
          <a:xfrm>
            <a:off x="960120" y="25603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Posted, reversed, re-posted, disputed</a:t>
            </a:r>
            <a:endParaRPr lang="en-US" sz="1250" dirty="0"/>
          </a:p>
        </p:txBody>
      </p:sp>
      <p:sp>
        <p:nvSpPr>
          <p:cNvPr id="16" name="Shape 14"/>
          <p:cNvSpPr/>
          <p:nvPr/>
        </p:nvSpPr>
        <p:spPr>
          <a:xfrm>
            <a:off x="457200" y="3017520"/>
            <a:ext cx="384048" cy="384048"/>
          </a:xfrm>
          <a:prstGeom prst="ellipse">
            <a:avLst/>
          </a:prstGeom>
          <a:solidFill>
            <a:srgbClr val="B8862F"/>
          </a:solidFill>
          <a:ln/>
        </p:spPr>
      </p:sp>
      <p:sp>
        <p:nvSpPr>
          <p:cNvPr id="17" name="Text 15"/>
          <p:cNvSpPr txBox="1"/>
          <p:nvPr/>
        </p:nvSpPr>
        <p:spPr>
          <a:xfrm>
            <a:off x="45720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8" name="Text 16"/>
          <p:cNvSpPr txBox="1"/>
          <p:nvPr/>
        </p:nvSpPr>
        <p:spPr>
          <a:xfrm>
            <a:off x="960120" y="30175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Restricted then cleared</a:t>
            </a:r>
            <a:endParaRPr lang="en-US" sz="1250" dirty="0"/>
          </a:p>
        </p:txBody>
      </p:sp>
      <p:sp>
        <p:nvSpPr>
          <p:cNvPr id="19" name="Shape 17"/>
          <p:cNvSpPr/>
          <p:nvPr/>
        </p:nvSpPr>
        <p:spPr>
          <a:xfrm>
            <a:off x="457200" y="3474720"/>
            <a:ext cx="384048" cy="384048"/>
          </a:xfrm>
          <a:prstGeom prst="ellipse">
            <a:avLst/>
          </a:prstGeom>
          <a:solidFill>
            <a:srgbClr val="B8862F"/>
          </a:solidFill>
          <a:ln/>
        </p:spPr>
      </p:sp>
      <p:sp>
        <p:nvSpPr>
          <p:cNvPr id="20" name="Text 18"/>
          <p:cNvSpPr txBox="1"/>
          <p:nvPr/>
        </p:nvSpPr>
        <p:spPr>
          <a:xfrm>
            <a:off x="457200" y="3474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1" name="Text 19"/>
          <p:cNvSpPr txBox="1"/>
          <p:nvPr/>
        </p:nvSpPr>
        <p:spPr>
          <a:xfrm>
            <a:off x="960120" y="34747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Financing: limits, arrears, restructure</a:t>
            </a:r>
            <a:endParaRPr lang="en-US" sz="1250" dirty="0"/>
          </a:p>
        </p:txBody>
      </p:sp>
      <p:sp>
        <p:nvSpPr>
          <p:cNvPr id="22" name="Shape 20"/>
          <p:cNvSpPr/>
          <p:nvPr/>
        </p:nvSpPr>
        <p:spPr>
          <a:xfrm>
            <a:off x="457200" y="3931920"/>
            <a:ext cx="384048" cy="384048"/>
          </a:xfrm>
          <a:prstGeom prst="ellipse">
            <a:avLst/>
          </a:prstGeom>
          <a:solidFill>
            <a:srgbClr val="B8862F"/>
          </a:solidFill>
          <a:ln/>
        </p:spPr>
      </p:sp>
      <p:sp>
        <p:nvSpPr>
          <p:cNvPr id="23" name="Text 21"/>
          <p:cNvSpPr txBox="1"/>
          <p:nvPr/>
        </p:nvSpPr>
        <p:spPr>
          <a:xfrm>
            <a:off x="45720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4" name="Text 22"/>
          <p:cNvSpPr txBox="1"/>
          <p:nvPr/>
        </p:nvSpPr>
        <p:spPr>
          <a:xfrm>
            <a:off x="960120" y="39319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Director leaves; authority provable</a:t>
            </a:r>
            <a:endParaRPr lang="en-US" sz="1250" dirty="0"/>
          </a:p>
        </p:txBody>
      </p:sp>
      <p:sp>
        <p:nvSpPr>
          <p:cNvPr id="25" name="Shape 23"/>
          <p:cNvSpPr/>
          <p:nvPr/>
        </p:nvSpPr>
        <p:spPr>
          <a:xfrm>
            <a:off x="457200" y="4389120"/>
            <a:ext cx="384048" cy="384048"/>
          </a:xfrm>
          <a:prstGeom prst="ellipse">
            <a:avLst/>
          </a:prstGeom>
          <a:solidFill>
            <a:srgbClr val="B8862F"/>
          </a:solidFill>
          <a:ln/>
        </p:spPr>
      </p:sp>
      <p:sp>
        <p:nvSpPr>
          <p:cNvPr id="26" name="Text 24"/>
          <p:cNvSpPr txBox="1"/>
          <p:nvPr/>
        </p:nvSpPr>
        <p:spPr>
          <a:xfrm>
            <a:off x="457200" y="4389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7" name="Text 25"/>
          <p:cNvSpPr txBox="1"/>
          <p:nvPr/>
        </p:nvSpPr>
        <p:spPr>
          <a:xfrm>
            <a:off x="960120" y="43891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Beneficiary changes bank details</a:t>
            </a:r>
            <a:endParaRPr lang="en-US" sz="1250" dirty="0"/>
          </a:p>
        </p:txBody>
      </p:sp>
      <p:sp>
        <p:nvSpPr>
          <p:cNvPr id="28" name="Shape 26"/>
          <p:cNvSpPr/>
          <p:nvPr/>
        </p:nvSpPr>
        <p:spPr>
          <a:xfrm>
            <a:off x="4663440" y="1188720"/>
            <a:ext cx="384048" cy="384048"/>
          </a:xfrm>
          <a:prstGeom prst="ellipse">
            <a:avLst/>
          </a:prstGeom>
          <a:solidFill>
            <a:srgbClr val="B8862F"/>
          </a:solidFill>
          <a:ln/>
        </p:spPr>
      </p:sp>
      <p:sp>
        <p:nvSpPr>
          <p:cNvPr id="29" name="Text 27"/>
          <p:cNvSpPr txBox="1"/>
          <p:nvPr/>
        </p:nvSpPr>
        <p:spPr>
          <a:xfrm>
            <a:off x="4663440" y="1188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30" name="Text 28"/>
          <p:cNvSpPr txBox="1"/>
          <p:nvPr/>
        </p:nvSpPr>
        <p:spPr>
          <a:xfrm>
            <a:off x="5166360" y="11887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Evidence keeps corrected data</a:t>
            </a:r>
            <a:endParaRPr lang="en-US" sz="1250" dirty="0"/>
          </a:p>
        </p:txBody>
      </p:sp>
      <p:sp>
        <p:nvSpPr>
          <p:cNvPr id="31" name="Shape 29"/>
          <p:cNvSpPr/>
          <p:nvPr/>
        </p:nvSpPr>
        <p:spPr>
          <a:xfrm>
            <a:off x="4663440" y="1645920"/>
            <a:ext cx="384048" cy="384048"/>
          </a:xfrm>
          <a:prstGeom prst="ellipse">
            <a:avLst/>
          </a:prstGeom>
          <a:solidFill>
            <a:srgbClr val="B8862F"/>
          </a:solidFill>
          <a:ln/>
        </p:spPr>
      </p:sp>
      <p:sp>
        <p:nvSpPr>
          <p:cNvPr id="32" name="Text 30"/>
          <p:cNvSpPr txBox="1"/>
          <p:nvPr/>
        </p:nvSpPr>
        <p:spPr>
          <a:xfrm>
            <a:off x="466344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33" name="Text 31"/>
          <p:cNvSpPr txBox="1"/>
          <p:nvPr/>
        </p:nvSpPr>
        <p:spPr>
          <a:xfrm>
            <a:off x="5166360" y="16459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Product withdrawn, terms pinned</a:t>
            </a:r>
            <a:endParaRPr lang="en-US" sz="1250" dirty="0"/>
          </a:p>
        </p:txBody>
      </p:sp>
      <p:sp>
        <p:nvSpPr>
          <p:cNvPr id="34" name="Shape 32"/>
          <p:cNvSpPr/>
          <p:nvPr/>
        </p:nvSpPr>
        <p:spPr>
          <a:xfrm>
            <a:off x="4663440" y="2103120"/>
            <a:ext cx="384048" cy="384048"/>
          </a:xfrm>
          <a:prstGeom prst="ellipse">
            <a:avLst/>
          </a:prstGeom>
          <a:solidFill>
            <a:srgbClr val="B8862F"/>
          </a:solidFill>
          <a:ln/>
        </p:spPr>
      </p:sp>
      <p:sp>
        <p:nvSpPr>
          <p:cNvPr id="35" name="Text 33"/>
          <p:cNvSpPr txBox="1"/>
          <p:nvPr/>
        </p:nvSpPr>
        <p:spPr>
          <a:xfrm>
            <a:off x="4663440"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11</a:t>
            </a:r>
            <a:endParaRPr lang="en-US" sz="1400" dirty="0"/>
          </a:p>
        </p:txBody>
      </p:sp>
      <p:sp>
        <p:nvSpPr>
          <p:cNvPr id="36" name="Text 34"/>
          <p:cNvSpPr txBox="1"/>
          <p:nvPr/>
        </p:nvSpPr>
        <p:spPr>
          <a:xfrm>
            <a:off x="5166360" y="21031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Branch closes; all moves</a:t>
            </a:r>
            <a:endParaRPr lang="en-US" sz="1250" dirty="0"/>
          </a:p>
        </p:txBody>
      </p:sp>
      <p:sp>
        <p:nvSpPr>
          <p:cNvPr id="37" name="Shape 35"/>
          <p:cNvSpPr/>
          <p:nvPr/>
        </p:nvSpPr>
        <p:spPr>
          <a:xfrm>
            <a:off x="4663440" y="2560320"/>
            <a:ext cx="384048" cy="384048"/>
          </a:xfrm>
          <a:prstGeom prst="ellipse">
            <a:avLst/>
          </a:prstGeom>
          <a:solidFill>
            <a:srgbClr val="B8862F"/>
          </a:solidFill>
          <a:ln/>
        </p:spPr>
      </p:sp>
      <p:sp>
        <p:nvSpPr>
          <p:cNvPr id="38" name="Text 36"/>
          <p:cNvSpPr txBox="1"/>
          <p:nvPr/>
        </p:nvSpPr>
        <p:spPr>
          <a:xfrm>
            <a:off x="4663440"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12</a:t>
            </a:r>
            <a:endParaRPr lang="en-US" sz="1400" dirty="0"/>
          </a:p>
        </p:txBody>
      </p:sp>
      <p:sp>
        <p:nvSpPr>
          <p:cNvPr id="39" name="Text 37"/>
          <p:cNvSpPr txBox="1"/>
          <p:nvPr/>
        </p:nvSpPr>
        <p:spPr>
          <a:xfrm>
            <a:off x="5166360" y="25603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Savings limit; closure not deletion</a:t>
            </a:r>
            <a:endParaRPr lang="en-US" sz="1250" dirty="0"/>
          </a:p>
        </p:txBody>
      </p:sp>
      <p:sp>
        <p:nvSpPr>
          <p:cNvPr id="40" name="Shape 38"/>
          <p:cNvSpPr/>
          <p:nvPr/>
        </p:nvSpPr>
        <p:spPr>
          <a:xfrm>
            <a:off x="4663440" y="3017520"/>
            <a:ext cx="384048" cy="384048"/>
          </a:xfrm>
          <a:prstGeom prst="ellipse">
            <a:avLst/>
          </a:prstGeom>
          <a:solidFill>
            <a:srgbClr val="B8862F"/>
          </a:solidFill>
          <a:ln/>
        </p:spPr>
      </p:sp>
      <p:sp>
        <p:nvSpPr>
          <p:cNvPr id="41" name="Text 39"/>
          <p:cNvSpPr txBox="1"/>
          <p:nvPr/>
        </p:nvSpPr>
        <p:spPr>
          <a:xfrm>
            <a:off x="466344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13</a:t>
            </a:r>
            <a:endParaRPr lang="en-US" sz="1400" dirty="0"/>
          </a:p>
        </p:txBody>
      </p:sp>
      <p:sp>
        <p:nvSpPr>
          <p:cNvPr id="42" name="Text 40"/>
          <p:cNvSpPr txBox="1"/>
          <p:nvPr/>
        </p:nvSpPr>
        <p:spPr>
          <a:xfrm>
            <a:off x="5166360" y="30175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Staff and customer leave</a:t>
            </a:r>
            <a:endParaRPr lang="en-US" sz="1250" dirty="0"/>
          </a:p>
        </p:txBody>
      </p:sp>
      <p:sp>
        <p:nvSpPr>
          <p:cNvPr id="43" name="Shape 41"/>
          <p:cNvSpPr/>
          <p:nvPr/>
        </p:nvSpPr>
        <p:spPr>
          <a:xfrm>
            <a:off x="4663440" y="3474720"/>
            <a:ext cx="384048" cy="384048"/>
          </a:xfrm>
          <a:prstGeom prst="ellipse">
            <a:avLst/>
          </a:prstGeom>
          <a:solidFill>
            <a:srgbClr val="B8862F"/>
          </a:solidFill>
          <a:ln/>
        </p:spPr>
      </p:sp>
      <p:sp>
        <p:nvSpPr>
          <p:cNvPr id="44" name="Text 42"/>
          <p:cNvSpPr txBox="1"/>
          <p:nvPr/>
        </p:nvSpPr>
        <p:spPr>
          <a:xfrm>
            <a:off x="4663440" y="3474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14</a:t>
            </a:r>
            <a:endParaRPr lang="en-US" sz="1400" dirty="0"/>
          </a:p>
        </p:txBody>
      </p:sp>
      <p:sp>
        <p:nvSpPr>
          <p:cNvPr id="45" name="Text 43"/>
          <p:cNvSpPr txBox="1"/>
          <p:nvPr/>
        </p:nvSpPr>
        <p:spPr>
          <a:xfrm>
            <a:off x="5166360" y="34747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Sole trader, private client, term deposits</a:t>
            </a:r>
            <a:endParaRPr lang="en-US" sz="1250" dirty="0"/>
          </a:p>
        </p:txBody>
      </p:sp>
      <p:sp>
        <p:nvSpPr>
          <p:cNvPr id="46" name="Shape 44"/>
          <p:cNvSpPr/>
          <p:nvPr/>
        </p:nvSpPr>
        <p:spPr>
          <a:xfrm>
            <a:off x="4663440" y="3931920"/>
            <a:ext cx="384048" cy="384048"/>
          </a:xfrm>
          <a:prstGeom prst="ellipse">
            <a:avLst/>
          </a:prstGeom>
          <a:solidFill>
            <a:srgbClr val="B8862F"/>
          </a:solidFill>
          <a:ln/>
        </p:spPr>
      </p:sp>
      <p:sp>
        <p:nvSpPr>
          <p:cNvPr id="47" name="Text 45"/>
          <p:cNvSpPr txBox="1"/>
          <p:nvPr/>
        </p:nvSpPr>
        <p:spPr>
          <a:xfrm>
            <a:off x="466344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15</a:t>
            </a:r>
            <a:endParaRPr lang="en-US" sz="1400" dirty="0"/>
          </a:p>
        </p:txBody>
      </p:sp>
      <p:sp>
        <p:nvSpPr>
          <p:cNvPr id="48" name="Text 46"/>
          <p:cNvSpPr txBox="1"/>
          <p:nvPr/>
        </p:nvSpPr>
        <p:spPr>
          <a:xfrm>
            <a:off x="5166360" y="39319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Card controls, bills, card search</a:t>
            </a:r>
            <a:endParaRPr lang="en-US" sz="1250" dirty="0"/>
          </a:p>
        </p:txBody>
      </p:sp>
      <p:sp>
        <p:nvSpPr>
          <p:cNvPr id="49" name="Shape 47"/>
          <p:cNvSpPr/>
          <p:nvPr/>
        </p:nvSpPr>
        <p:spPr>
          <a:xfrm>
            <a:off x="4663440" y="4389120"/>
            <a:ext cx="384048" cy="384048"/>
          </a:xfrm>
          <a:prstGeom prst="ellipse">
            <a:avLst/>
          </a:prstGeom>
          <a:solidFill>
            <a:srgbClr val="B8862F"/>
          </a:solidFill>
          <a:ln/>
        </p:spPr>
      </p:sp>
      <p:sp>
        <p:nvSpPr>
          <p:cNvPr id="50" name="Text 48"/>
          <p:cNvSpPr txBox="1"/>
          <p:nvPr/>
        </p:nvSpPr>
        <p:spPr>
          <a:xfrm>
            <a:off x="4663440" y="4389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16</a:t>
            </a:r>
            <a:endParaRPr lang="en-US" sz="1400" dirty="0"/>
          </a:p>
        </p:txBody>
      </p:sp>
      <p:sp>
        <p:nvSpPr>
          <p:cNvPr id="51" name="Text 49"/>
          <p:cNvSpPr txBox="1"/>
          <p:nvPr/>
        </p:nvSpPr>
        <p:spPr>
          <a:xfrm>
            <a:off x="5166360" y="4389120"/>
            <a:ext cx="3566160" cy="384048"/>
          </a:xfrm>
          <a:prstGeom prst="rect">
            <a:avLst/>
          </a:prstGeom>
          <a:noFill/>
          <a:ln/>
        </p:spPr>
        <p:txBody>
          <a:bodyPr wrap="square" lIns="0" tIns="0" rIns="0" bIns="0" rtlCol="0" anchor="ctr"/>
          <a:lstStyle/>
          <a:p>
            <a:pPr indent="0" marL="0">
              <a:buNone/>
            </a:pPr>
            <a:r>
              <a:rPr lang="en-US" sz="1250" dirty="0">
                <a:solidFill>
                  <a:srgbClr val="1D2B2A"/>
                </a:solidFill>
                <a:latin typeface="Calibri" pitchFamily="34" charset="0"/>
                <a:ea typeface="Calibri" pitchFamily="34" charset="-122"/>
                <a:cs typeface="Calibri" pitchFamily="34" charset="-120"/>
              </a:rPr>
              <a:t>Auditor review; archive vs delete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800" b="1" dirty="0">
                <a:solidFill>
                  <a:srgbClr val="0B4F4A"/>
                </a:solidFill>
                <a:latin typeface="Cambria" pitchFamily="34" charset="0"/>
                <a:ea typeface="Cambria" pitchFamily="34" charset="-122"/>
                <a:cs typeface="Cambria" pitchFamily="34" charset="-120"/>
              </a:rPr>
              <a:t>Everything the brief names is modelled</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Found by rereading Problem 4 line by line; each has a test</a:t>
            </a:r>
            <a:endParaRPr lang="en-US" sz="1200" dirty="0"/>
          </a:p>
        </p:txBody>
      </p:sp>
      <p:sp>
        <p:nvSpPr>
          <p:cNvPr id="4" name="Shape 2"/>
          <p:cNvSpPr/>
          <p:nvPr/>
        </p:nvSpPr>
        <p:spPr>
          <a:xfrm>
            <a:off x="457200" y="1280160"/>
            <a:ext cx="2606040" cy="1600200"/>
          </a:xfrm>
          <a:prstGeom prst="roundRect">
            <a:avLst>
              <a:gd name="adj" fmla="val 4571"/>
            </a:avLst>
          </a:prstGeom>
          <a:solidFill>
            <a:srgbClr val="E8F0EE"/>
          </a:solidFill>
          <a:ln w="12700">
            <a:solidFill>
              <a:srgbClr val="E8F0EE"/>
            </a:solidFill>
            <a:prstDash val="solid"/>
          </a:ln>
        </p:spPr>
      </p:sp>
      <p:sp>
        <p:nvSpPr>
          <p:cNvPr id="5" name="Text 3"/>
          <p:cNvSpPr txBox="1"/>
          <p:nvPr/>
        </p:nvSpPr>
        <p:spPr>
          <a:xfrm>
            <a:off x="594360" y="1389888"/>
            <a:ext cx="2331720" cy="502920"/>
          </a:xfrm>
          <a:prstGeom prst="rect">
            <a:avLst/>
          </a:prstGeom>
          <a:noFill/>
          <a:ln/>
        </p:spPr>
        <p:txBody>
          <a:bodyPr wrap="square" lIns="0" tIns="0" rIns="0" bIns="0" rtlCol="0" anchor="ctr"/>
          <a:lstStyle/>
          <a:p>
            <a:pPr indent="0" marL="0">
              <a:buNone/>
            </a:pPr>
            <a:r>
              <a:rPr lang="en-US" sz="1400" b="1" dirty="0">
                <a:solidFill>
                  <a:srgbClr val="0B4F4A"/>
                </a:solidFill>
                <a:latin typeface="Cambria" pitchFamily="34" charset="0"/>
                <a:ea typeface="Cambria" pitchFamily="34" charset="-122"/>
                <a:cs typeface="Cambria" pitchFamily="34" charset="-120"/>
              </a:rPr>
              <a:t>Sole traders &amp; private clients</a:t>
            </a:r>
            <a:endParaRPr lang="en-US" sz="1400" dirty="0"/>
          </a:p>
        </p:txBody>
      </p:sp>
      <p:sp>
        <p:nvSpPr>
          <p:cNvPr id="6" name="Text 4"/>
          <p:cNvSpPr txBox="1"/>
          <p:nvPr/>
        </p:nvSpPr>
        <p:spPr>
          <a:xfrm>
            <a:off x="594360" y="1920240"/>
            <a:ext cx="2331720" cy="86868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Person with a trading name; PRIVATE needs verified source of wealth (EDD)</a:t>
            </a:r>
            <a:endParaRPr lang="en-US" sz="1200" dirty="0"/>
          </a:p>
        </p:txBody>
      </p:sp>
      <p:sp>
        <p:nvSpPr>
          <p:cNvPr id="7" name="Shape 5"/>
          <p:cNvSpPr/>
          <p:nvPr/>
        </p:nvSpPr>
        <p:spPr>
          <a:xfrm>
            <a:off x="3246120" y="1280160"/>
            <a:ext cx="2606040" cy="1600200"/>
          </a:xfrm>
          <a:prstGeom prst="roundRect">
            <a:avLst>
              <a:gd name="adj" fmla="val 4571"/>
            </a:avLst>
          </a:prstGeom>
          <a:solidFill>
            <a:srgbClr val="E8F0EE"/>
          </a:solidFill>
          <a:ln w="12700">
            <a:solidFill>
              <a:srgbClr val="E8F0EE"/>
            </a:solidFill>
            <a:prstDash val="solid"/>
          </a:ln>
        </p:spPr>
      </p:sp>
      <p:sp>
        <p:nvSpPr>
          <p:cNvPr id="8" name="Text 6"/>
          <p:cNvSpPr txBox="1"/>
          <p:nvPr/>
        </p:nvSpPr>
        <p:spPr>
          <a:xfrm>
            <a:off x="3383280" y="1389888"/>
            <a:ext cx="2331720" cy="502920"/>
          </a:xfrm>
          <a:prstGeom prst="rect">
            <a:avLst/>
          </a:prstGeom>
          <a:noFill/>
          <a:ln/>
        </p:spPr>
        <p:txBody>
          <a:bodyPr wrap="square" lIns="0" tIns="0" rIns="0" bIns="0" rtlCol="0" anchor="ctr"/>
          <a:lstStyle/>
          <a:p>
            <a:pPr indent="0" marL="0">
              <a:buNone/>
            </a:pPr>
            <a:r>
              <a:rPr lang="en-US" sz="1400" b="1" dirty="0">
                <a:solidFill>
                  <a:srgbClr val="0B4F4A"/>
                </a:solidFill>
                <a:latin typeface="Cambria" pitchFamily="34" charset="0"/>
                <a:ea typeface="Cambria" pitchFamily="34" charset="-122"/>
                <a:cs typeface="Cambria" pitchFamily="34" charset="-120"/>
              </a:rPr>
              <a:t>Fixed-term deposits</a:t>
            </a:r>
            <a:endParaRPr lang="en-US" sz="1400" dirty="0"/>
          </a:p>
        </p:txBody>
      </p:sp>
      <p:sp>
        <p:nvSpPr>
          <p:cNvPr id="9" name="Text 7"/>
          <p:cNvSpPr txBox="1"/>
          <p:nvPr/>
        </p:nvSpPr>
        <p:spPr>
          <a:xfrm>
            <a:off x="3383280" y="1920240"/>
            <a:ext cx="2331720" cy="86868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Third DepositAccount subclass: no early debits, maturity payout, break penalty</a:t>
            </a:r>
            <a:endParaRPr lang="en-US" sz="1200" dirty="0"/>
          </a:p>
        </p:txBody>
      </p:sp>
      <p:sp>
        <p:nvSpPr>
          <p:cNvPr id="10" name="Shape 8"/>
          <p:cNvSpPr/>
          <p:nvPr/>
        </p:nvSpPr>
        <p:spPr>
          <a:xfrm>
            <a:off x="6035040" y="1280160"/>
            <a:ext cx="2606040" cy="1600200"/>
          </a:xfrm>
          <a:prstGeom prst="roundRect">
            <a:avLst>
              <a:gd name="adj" fmla="val 4571"/>
            </a:avLst>
          </a:prstGeom>
          <a:solidFill>
            <a:srgbClr val="E8F0EE"/>
          </a:solidFill>
          <a:ln w="12700">
            <a:solidFill>
              <a:srgbClr val="E8F0EE"/>
            </a:solidFill>
            <a:prstDash val="solid"/>
          </a:ln>
        </p:spPr>
      </p:sp>
      <p:sp>
        <p:nvSpPr>
          <p:cNvPr id="11" name="Text 9"/>
          <p:cNvSpPr txBox="1"/>
          <p:nvPr/>
        </p:nvSpPr>
        <p:spPr>
          <a:xfrm>
            <a:off x="6172200" y="1389888"/>
            <a:ext cx="2331720" cy="502920"/>
          </a:xfrm>
          <a:prstGeom prst="rect">
            <a:avLst/>
          </a:prstGeom>
          <a:noFill/>
          <a:ln/>
        </p:spPr>
        <p:txBody>
          <a:bodyPr wrap="square" lIns="0" tIns="0" rIns="0" bIns="0" rtlCol="0" anchor="ctr"/>
          <a:lstStyle/>
          <a:p>
            <a:pPr indent="0" marL="0">
              <a:buNone/>
            </a:pPr>
            <a:r>
              <a:rPr lang="en-US" sz="1400" b="1" dirty="0">
                <a:solidFill>
                  <a:srgbClr val="0B4F4A"/>
                </a:solidFill>
                <a:latin typeface="Cambria" pitchFamily="34" charset="0"/>
                <a:ea typeface="Cambria" pitchFamily="34" charset="-122"/>
                <a:cs typeface="Cambria" pitchFamily="34" charset="-120"/>
              </a:rPr>
              <a:t>Card controls</a:t>
            </a:r>
            <a:endParaRPr lang="en-US" sz="1400" dirty="0"/>
          </a:p>
        </p:txBody>
      </p:sp>
      <p:sp>
        <p:nvSpPr>
          <p:cNvPr id="12" name="Text 10"/>
          <p:cNvSpPr txBox="1"/>
          <p:nvPr/>
        </p:nvSpPr>
        <p:spPr>
          <a:xfrm>
            <a:off x="6172200" y="1920240"/>
            <a:ext cx="2331720" cy="86868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Online, international, cash, merchant category - each with a validity period</a:t>
            </a:r>
            <a:endParaRPr lang="en-US" sz="1200" dirty="0"/>
          </a:p>
        </p:txBody>
      </p:sp>
      <p:sp>
        <p:nvSpPr>
          <p:cNvPr id="13" name="Shape 11"/>
          <p:cNvSpPr/>
          <p:nvPr/>
        </p:nvSpPr>
        <p:spPr>
          <a:xfrm>
            <a:off x="457200" y="3063240"/>
            <a:ext cx="2606040" cy="1600200"/>
          </a:xfrm>
          <a:prstGeom prst="roundRect">
            <a:avLst>
              <a:gd name="adj" fmla="val 4571"/>
            </a:avLst>
          </a:prstGeom>
          <a:solidFill>
            <a:srgbClr val="E8F0EE"/>
          </a:solidFill>
          <a:ln w="12700">
            <a:solidFill>
              <a:srgbClr val="E8F0EE"/>
            </a:solidFill>
            <a:prstDash val="solid"/>
          </a:ln>
        </p:spPr>
      </p:sp>
      <p:sp>
        <p:nvSpPr>
          <p:cNvPr id="14" name="Text 12"/>
          <p:cNvSpPr txBox="1"/>
          <p:nvPr/>
        </p:nvSpPr>
        <p:spPr>
          <a:xfrm>
            <a:off x="594360" y="3172968"/>
            <a:ext cx="2331720" cy="502920"/>
          </a:xfrm>
          <a:prstGeom prst="rect">
            <a:avLst/>
          </a:prstGeom>
          <a:noFill/>
          <a:ln/>
        </p:spPr>
        <p:txBody>
          <a:bodyPr wrap="square" lIns="0" tIns="0" rIns="0" bIns="0" rtlCol="0" anchor="ctr"/>
          <a:lstStyle/>
          <a:p>
            <a:pPr indent="0" marL="0">
              <a:buNone/>
            </a:pPr>
            <a:r>
              <a:rPr lang="en-US" sz="1400" b="1" dirty="0">
                <a:solidFill>
                  <a:srgbClr val="0B4F4A"/>
                </a:solidFill>
                <a:latin typeface="Cambria" pitchFamily="34" charset="0"/>
                <a:ea typeface="Cambria" pitchFamily="34" charset="-122"/>
                <a:cs typeface="Cambria" pitchFamily="34" charset="-120"/>
              </a:rPr>
              <a:t>Billers</a:t>
            </a:r>
            <a:endParaRPr lang="en-US" sz="1400" dirty="0"/>
          </a:p>
        </p:txBody>
      </p:sp>
      <p:sp>
        <p:nvSpPr>
          <p:cNvPr id="15" name="Text 13"/>
          <p:cNvSpPr txBox="1"/>
          <p:nvPr/>
        </p:nvSpPr>
        <p:spPr>
          <a:xfrm>
            <a:off x="594360" y="3703320"/>
            <a:ext cx="2331720" cy="86868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BillPayment is a CustomerPayment: same mandates, restrictions, dual control</a:t>
            </a:r>
            <a:endParaRPr lang="en-US" sz="1200" dirty="0"/>
          </a:p>
        </p:txBody>
      </p:sp>
      <p:sp>
        <p:nvSpPr>
          <p:cNvPr id="16" name="Shape 14"/>
          <p:cNvSpPr/>
          <p:nvPr/>
        </p:nvSpPr>
        <p:spPr>
          <a:xfrm>
            <a:off x="3246120" y="3063240"/>
            <a:ext cx="2606040" cy="1600200"/>
          </a:xfrm>
          <a:prstGeom prst="roundRect">
            <a:avLst>
              <a:gd name="adj" fmla="val 4571"/>
            </a:avLst>
          </a:prstGeom>
          <a:solidFill>
            <a:srgbClr val="E8F0EE"/>
          </a:solidFill>
          <a:ln w="12700">
            <a:solidFill>
              <a:srgbClr val="E8F0EE"/>
            </a:solidFill>
            <a:prstDash val="solid"/>
          </a:ln>
        </p:spPr>
      </p:sp>
      <p:sp>
        <p:nvSpPr>
          <p:cNvPr id="17" name="Text 15"/>
          <p:cNvSpPr txBox="1"/>
          <p:nvPr/>
        </p:nvSpPr>
        <p:spPr>
          <a:xfrm>
            <a:off x="3383280" y="3172968"/>
            <a:ext cx="2331720" cy="502920"/>
          </a:xfrm>
          <a:prstGeom prst="rect">
            <a:avLst/>
          </a:prstGeom>
          <a:noFill/>
          <a:ln/>
        </p:spPr>
        <p:txBody>
          <a:bodyPr wrap="square" lIns="0" tIns="0" rIns="0" bIns="0" rtlCol="0" anchor="ctr"/>
          <a:lstStyle/>
          <a:p>
            <a:pPr indent="0" marL="0">
              <a:buNone/>
            </a:pPr>
            <a:r>
              <a:rPr lang="en-US" sz="1400" b="1" dirty="0">
                <a:solidFill>
                  <a:srgbClr val="0B4F4A"/>
                </a:solidFill>
                <a:latin typeface="Cambria" pitchFamily="34" charset="0"/>
                <a:ea typeface="Cambria" pitchFamily="34" charset="-122"/>
                <a:cs typeface="Cambria" pitchFamily="34" charset="-120"/>
              </a:rPr>
              <a:t>Collections staff</a:t>
            </a:r>
            <a:endParaRPr lang="en-US" sz="1400" dirty="0"/>
          </a:p>
        </p:txBody>
      </p:sp>
      <p:sp>
        <p:nvSpPr>
          <p:cNvPr id="18" name="Text 16"/>
          <p:cNvSpPr txBox="1"/>
          <p:nvPr/>
        </p:nvSpPr>
        <p:spPr>
          <a:xfrm>
            <a:off x="3383280" y="3703320"/>
            <a:ext cx="2331720" cy="86868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Collections officer works the case; promise to pay marked kept or broken</a:t>
            </a:r>
            <a:endParaRPr lang="en-US" sz="1200" dirty="0"/>
          </a:p>
        </p:txBody>
      </p:sp>
      <p:sp>
        <p:nvSpPr>
          <p:cNvPr id="19" name="Shape 17"/>
          <p:cNvSpPr/>
          <p:nvPr/>
        </p:nvSpPr>
        <p:spPr>
          <a:xfrm>
            <a:off x="6035040" y="3063240"/>
            <a:ext cx="2606040" cy="1600200"/>
          </a:xfrm>
          <a:prstGeom prst="roundRect">
            <a:avLst>
              <a:gd name="adj" fmla="val 4571"/>
            </a:avLst>
          </a:prstGeom>
          <a:solidFill>
            <a:srgbClr val="E8F0EE"/>
          </a:solidFill>
          <a:ln w="12700">
            <a:solidFill>
              <a:srgbClr val="E8F0EE"/>
            </a:solidFill>
            <a:prstDash val="solid"/>
          </a:ln>
        </p:spPr>
      </p:sp>
      <p:sp>
        <p:nvSpPr>
          <p:cNvPr id="20" name="Text 18"/>
          <p:cNvSpPr txBox="1"/>
          <p:nvPr/>
        </p:nvSpPr>
        <p:spPr>
          <a:xfrm>
            <a:off x="6172200" y="3172968"/>
            <a:ext cx="2331720" cy="502920"/>
          </a:xfrm>
          <a:prstGeom prst="rect">
            <a:avLst/>
          </a:prstGeom>
          <a:noFill/>
          <a:ln/>
        </p:spPr>
        <p:txBody>
          <a:bodyPr wrap="square" lIns="0" tIns="0" rIns="0" bIns="0" rtlCol="0" anchor="ctr"/>
          <a:lstStyle/>
          <a:p>
            <a:pPr indent="0" marL="0">
              <a:buNone/>
            </a:pPr>
            <a:r>
              <a:rPr lang="en-US" sz="1400" b="1" dirty="0">
                <a:solidFill>
                  <a:srgbClr val="0B4F4A"/>
                </a:solidFill>
                <a:latin typeface="Cambria" pitchFamily="34" charset="0"/>
                <a:ea typeface="Cambria" pitchFamily="34" charset="-122"/>
                <a:cs typeface="Cambria" pitchFamily="34" charset="-120"/>
              </a:rPr>
              <a:t>Auditors &amp; retention</a:t>
            </a:r>
            <a:endParaRPr lang="en-US" sz="1400" dirty="0"/>
          </a:p>
        </p:txBody>
      </p:sp>
      <p:sp>
        <p:nvSpPr>
          <p:cNvPr id="21" name="Text 19"/>
          <p:cNvSpPr txBox="1"/>
          <p:nvPr/>
        </p:nvSpPr>
        <p:spPr>
          <a:xfrm>
            <a:off x="6172200" y="3703320"/>
            <a:ext cx="2331720" cy="868680"/>
          </a:xfrm>
          <a:prstGeom prst="rect">
            <a:avLst/>
          </a:prstGeom>
          <a:noFill/>
          <a:ln/>
        </p:spPr>
        <p:txBody>
          <a:bodyPr wrap="square" lIns="0" tIns="0" rIns="0" bIns="0" rtlCol="0" anchor="t"/>
          <a:lstStyle/>
          <a:p>
            <a:pPr indent="0" marL="0">
              <a:buNone/>
            </a:pPr>
            <a:r>
              <a:rPr lang="en-US" sz="1200" dirty="0">
                <a:solidFill>
                  <a:srgbClr val="1D2B2A"/>
                </a:solidFill>
                <a:latin typeface="Calibri" pitchFamily="34" charset="0"/>
                <a:ea typeface="Calibri" pitchFamily="34" charset="-122"/>
                <a:cs typeface="Calibri" pitchFamily="34" charset="-120"/>
              </a:rPr>
              <a:t>Approvals audit with role at the time; archive, never delete (10-year retention)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200" b="1" dirty="0">
                <a:solidFill>
                  <a:srgbClr val="0B4F4A"/>
                </a:solidFill>
                <a:latin typeface="Cambria" pitchFamily="34" charset="0"/>
                <a:ea typeface="Cambria" pitchFamily="34" charset="-122"/>
                <a:cs typeface="Cambria" pitchFamily="34" charset="-120"/>
              </a:rPr>
              <a:t>Behaviour: six flowcharts traced from the code</a:t>
            </a:r>
            <a:endParaRPr lang="en-US" sz="22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Standard symbols (ISO 5807); the diamonds are in the order the code checks the rules</a:t>
            </a:r>
            <a:endParaRPr lang="en-US" sz="1200" dirty="0"/>
          </a:p>
        </p:txBody>
      </p:sp>
      <p:sp>
        <p:nvSpPr>
          <p:cNvPr id="4" name="Shape 2"/>
          <p:cNvSpPr/>
          <p:nvPr/>
        </p:nvSpPr>
        <p:spPr>
          <a:xfrm>
            <a:off x="457200" y="1188720"/>
            <a:ext cx="3200400" cy="3611880"/>
          </a:xfrm>
          <a:prstGeom prst="roundRect">
            <a:avLst>
              <a:gd name="adj" fmla="val 2286"/>
            </a:avLst>
          </a:prstGeom>
          <a:solidFill>
            <a:srgbClr val="F4F8F7"/>
          </a:solidFill>
          <a:ln w="12700">
            <a:solidFill>
              <a:srgbClr val="F4F8F7"/>
            </a:solidFill>
            <a:prstDash val="solid"/>
          </a:ln>
        </p:spPr>
      </p:sp>
      <p:pic>
        <p:nvPicPr>
          <p:cNvPr id="5" name="Image 0" descr="/home/user/commercial-banking/docs/flowchart_3_transfer.png">    </p:cNvPr>
          <p:cNvPicPr>
            <a:picLocks noChangeAspect="1"/>
          </p:cNvPicPr>
          <p:nvPr/>
        </p:nvPicPr>
        <p:blipFill>
          <a:blip r:embed="rId1"/>
          <a:stretch>
            <a:fillRect/>
          </a:stretch>
        </p:blipFill>
        <p:spPr>
          <a:xfrm>
            <a:off x="782195" y="1261872"/>
            <a:ext cx="2550410" cy="3474720"/>
          </a:xfrm>
          <a:prstGeom prst="rect">
            <a:avLst/>
          </a:prstGeom>
        </p:spPr>
      </p:pic>
      <p:sp>
        <p:nvSpPr>
          <p:cNvPr id="6" name="Shape 3"/>
          <p:cNvSpPr/>
          <p:nvPr/>
        </p:nvSpPr>
        <p:spPr>
          <a:xfrm>
            <a:off x="3931920" y="1234440"/>
            <a:ext cx="640080" cy="329184"/>
          </a:xfrm>
          <a:prstGeom prst="flowChartTerminator">
            <a:avLst/>
          </a:prstGeom>
          <a:solidFill>
            <a:srgbClr val="E8F0EE"/>
          </a:solidFill>
          <a:ln w="12700">
            <a:solidFill>
              <a:srgbClr val="0B4F4A"/>
            </a:solidFill>
            <a:prstDash val="solid"/>
          </a:ln>
        </p:spPr>
      </p:sp>
      <p:sp>
        <p:nvSpPr>
          <p:cNvPr id="7" name="Text 4"/>
          <p:cNvSpPr txBox="1"/>
          <p:nvPr/>
        </p:nvSpPr>
        <p:spPr>
          <a:xfrm>
            <a:off x="4663440" y="1234440"/>
            <a:ext cx="1874520" cy="329184"/>
          </a:xfrm>
          <a:prstGeom prst="rect">
            <a:avLst/>
          </a:prstGeom>
          <a:noFill/>
          <a:ln/>
        </p:spPr>
        <p:txBody>
          <a:bodyPr wrap="square" lIns="0" tIns="0" rIns="0" bIns="0" rtlCol="0" anchor="ctr"/>
          <a:lstStyle/>
          <a:p>
            <a:pPr indent="0" marL="0">
              <a:buNone/>
            </a:pPr>
            <a:r>
              <a:rPr lang="en-US" sz="1100" dirty="0">
                <a:solidFill>
                  <a:srgbClr val="1D2B2A"/>
                </a:solidFill>
                <a:latin typeface="Calibri" pitchFamily="34" charset="0"/>
                <a:ea typeface="Calibri" pitchFamily="34" charset="-122"/>
                <a:cs typeface="Calibri" pitchFamily="34" charset="-120"/>
              </a:rPr>
              <a:t>Start / end; red = refused</a:t>
            </a:r>
            <a:endParaRPr lang="en-US" sz="1100" dirty="0"/>
          </a:p>
        </p:txBody>
      </p:sp>
      <p:sp>
        <p:nvSpPr>
          <p:cNvPr id="8" name="Shape 5"/>
          <p:cNvSpPr/>
          <p:nvPr/>
        </p:nvSpPr>
        <p:spPr>
          <a:xfrm>
            <a:off x="3931920" y="1664208"/>
            <a:ext cx="640080" cy="329184"/>
          </a:xfrm>
          <a:prstGeom prst="flowChartProcess">
            <a:avLst/>
          </a:prstGeom>
          <a:solidFill>
            <a:srgbClr val="E8F0EE"/>
          </a:solidFill>
          <a:ln w="12700">
            <a:solidFill>
              <a:srgbClr val="0B4F4A"/>
            </a:solidFill>
            <a:prstDash val="solid"/>
          </a:ln>
        </p:spPr>
      </p:sp>
      <p:sp>
        <p:nvSpPr>
          <p:cNvPr id="9" name="Text 6"/>
          <p:cNvSpPr txBox="1"/>
          <p:nvPr/>
        </p:nvSpPr>
        <p:spPr>
          <a:xfrm>
            <a:off x="4663440" y="1664208"/>
            <a:ext cx="1874520" cy="329184"/>
          </a:xfrm>
          <a:prstGeom prst="rect">
            <a:avLst/>
          </a:prstGeom>
          <a:noFill/>
          <a:ln/>
        </p:spPr>
        <p:txBody>
          <a:bodyPr wrap="square" lIns="0" tIns="0" rIns="0" bIns="0" rtlCol="0" anchor="ctr"/>
          <a:lstStyle/>
          <a:p>
            <a:pPr indent="0" marL="0">
              <a:buNone/>
            </a:pPr>
            <a:r>
              <a:rPr lang="en-US" sz="1100" dirty="0">
                <a:solidFill>
                  <a:srgbClr val="1D2B2A"/>
                </a:solidFill>
                <a:latin typeface="Calibri" pitchFamily="34" charset="0"/>
                <a:ea typeface="Calibri" pitchFamily="34" charset="-122"/>
                <a:cs typeface="Calibri" pitchFamily="34" charset="-120"/>
              </a:rPr>
              <a:t>Process: one step</a:t>
            </a:r>
            <a:endParaRPr lang="en-US" sz="1100" dirty="0"/>
          </a:p>
        </p:txBody>
      </p:sp>
      <p:sp>
        <p:nvSpPr>
          <p:cNvPr id="10" name="Shape 7"/>
          <p:cNvSpPr/>
          <p:nvPr/>
        </p:nvSpPr>
        <p:spPr>
          <a:xfrm>
            <a:off x="3931920" y="2093976"/>
            <a:ext cx="640080" cy="329184"/>
          </a:xfrm>
          <a:prstGeom prst="flowChartDecision">
            <a:avLst/>
          </a:prstGeom>
          <a:solidFill>
            <a:srgbClr val="FDF1D6"/>
          </a:solidFill>
          <a:ln w="12700">
            <a:solidFill>
              <a:srgbClr val="0B4F4A"/>
            </a:solidFill>
            <a:prstDash val="solid"/>
          </a:ln>
        </p:spPr>
      </p:sp>
      <p:sp>
        <p:nvSpPr>
          <p:cNvPr id="11" name="Text 8"/>
          <p:cNvSpPr txBox="1"/>
          <p:nvPr/>
        </p:nvSpPr>
        <p:spPr>
          <a:xfrm>
            <a:off x="4663440" y="2093976"/>
            <a:ext cx="1874520" cy="329184"/>
          </a:xfrm>
          <a:prstGeom prst="rect">
            <a:avLst/>
          </a:prstGeom>
          <a:noFill/>
          <a:ln/>
        </p:spPr>
        <p:txBody>
          <a:bodyPr wrap="square" lIns="0" tIns="0" rIns="0" bIns="0" rtlCol="0" anchor="ctr"/>
          <a:lstStyle/>
          <a:p>
            <a:pPr indent="0" marL="0">
              <a:buNone/>
            </a:pPr>
            <a:r>
              <a:rPr lang="en-US" sz="1100" dirty="0">
                <a:solidFill>
                  <a:srgbClr val="1D2B2A"/>
                </a:solidFill>
                <a:latin typeface="Calibri" pitchFamily="34" charset="0"/>
                <a:ea typeface="Calibri" pitchFamily="34" charset="-122"/>
                <a:cs typeface="Calibri" pitchFamily="34" charset="-120"/>
              </a:rPr>
              <a:t>Decision: Yes / No</a:t>
            </a:r>
            <a:endParaRPr lang="en-US" sz="1100" dirty="0"/>
          </a:p>
        </p:txBody>
      </p:sp>
      <p:sp>
        <p:nvSpPr>
          <p:cNvPr id="12" name="Shape 9"/>
          <p:cNvSpPr/>
          <p:nvPr/>
        </p:nvSpPr>
        <p:spPr>
          <a:xfrm>
            <a:off x="3931920" y="2523744"/>
            <a:ext cx="640080" cy="329184"/>
          </a:xfrm>
          <a:prstGeom prst="flowChartInputOutput">
            <a:avLst/>
          </a:prstGeom>
          <a:solidFill>
            <a:srgbClr val="E8F0EE"/>
          </a:solidFill>
          <a:ln w="12700">
            <a:solidFill>
              <a:srgbClr val="0B4F4A"/>
            </a:solidFill>
            <a:prstDash val="solid"/>
          </a:ln>
        </p:spPr>
      </p:sp>
      <p:sp>
        <p:nvSpPr>
          <p:cNvPr id="13" name="Text 10"/>
          <p:cNvSpPr txBox="1"/>
          <p:nvPr/>
        </p:nvSpPr>
        <p:spPr>
          <a:xfrm>
            <a:off x="4663440" y="2523744"/>
            <a:ext cx="1874520" cy="329184"/>
          </a:xfrm>
          <a:prstGeom prst="rect">
            <a:avLst/>
          </a:prstGeom>
          <a:noFill/>
          <a:ln/>
        </p:spPr>
        <p:txBody>
          <a:bodyPr wrap="square" lIns="0" tIns="0" rIns="0" bIns="0" rtlCol="0" anchor="ctr"/>
          <a:lstStyle/>
          <a:p>
            <a:pPr indent="0" marL="0">
              <a:buNone/>
            </a:pPr>
            <a:r>
              <a:rPr lang="en-US" sz="1100" dirty="0">
                <a:solidFill>
                  <a:srgbClr val="1D2B2A"/>
                </a:solidFill>
                <a:latin typeface="Calibri" pitchFamily="34" charset="0"/>
                <a:ea typeface="Calibri" pitchFamily="34" charset="-122"/>
                <a:cs typeface="Calibri" pitchFamily="34" charset="-120"/>
              </a:rPr>
              <a:t>Input / output</a:t>
            </a:r>
            <a:endParaRPr lang="en-US" sz="1100" dirty="0"/>
          </a:p>
        </p:txBody>
      </p:sp>
      <p:sp>
        <p:nvSpPr>
          <p:cNvPr id="14" name="Shape 11"/>
          <p:cNvSpPr/>
          <p:nvPr/>
        </p:nvSpPr>
        <p:spPr>
          <a:xfrm>
            <a:off x="3931920" y="2953512"/>
            <a:ext cx="640080" cy="329184"/>
          </a:xfrm>
          <a:prstGeom prst="flowChartPredefinedProcess">
            <a:avLst/>
          </a:prstGeom>
          <a:solidFill>
            <a:srgbClr val="E8F0EE"/>
          </a:solidFill>
          <a:ln w="12700">
            <a:solidFill>
              <a:srgbClr val="0B4F4A"/>
            </a:solidFill>
            <a:prstDash val="solid"/>
          </a:ln>
        </p:spPr>
      </p:sp>
      <p:sp>
        <p:nvSpPr>
          <p:cNvPr id="15" name="Text 12"/>
          <p:cNvSpPr txBox="1"/>
          <p:nvPr/>
        </p:nvSpPr>
        <p:spPr>
          <a:xfrm>
            <a:off x="4663440" y="2953512"/>
            <a:ext cx="1874520" cy="329184"/>
          </a:xfrm>
          <a:prstGeom prst="rect">
            <a:avLst/>
          </a:prstGeom>
          <a:noFill/>
          <a:ln/>
        </p:spPr>
        <p:txBody>
          <a:bodyPr wrap="square" lIns="0" tIns="0" rIns="0" bIns="0" rtlCol="0" anchor="ctr"/>
          <a:lstStyle/>
          <a:p>
            <a:pPr indent="0" marL="0">
              <a:buNone/>
            </a:pPr>
            <a:r>
              <a:rPr lang="en-US" sz="1100" dirty="0">
                <a:solidFill>
                  <a:srgbClr val="1D2B2A"/>
                </a:solidFill>
                <a:latin typeface="Calibri" pitchFamily="34" charset="0"/>
                <a:ea typeface="Calibri" pitchFamily="34" charset="-122"/>
                <a:cs typeface="Calibri" pitchFamily="34" charset="-120"/>
              </a:rPr>
              <a:t>A named Bank operation</a:t>
            </a:r>
            <a:endParaRPr lang="en-US" sz="1100" dirty="0"/>
          </a:p>
        </p:txBody>
      </p:sp>
      <p:sp>
        <p:nvSpPr>
          <p:cNvPr id="16" name="Shape 13"/>
          <p:cNvSpPr/>
          <p:nvPr/>
        </p:nvSpPr>
        <p:spPr>
          <a:xfrm>
            <a:off x="3931920" y="3383280"/>
            <a:ext cx="640080" cy="329184"/>
          </a:xfrm>
          <a:prstGeom prst="flowChartMagneticDisk">
            <a:avLst/>
          </a:prstGeom>
          <a:solidFill>
            <a:srgbClr val="E8F0EE"/>
          </a:solidFill>
          <a:ln w="12700">
            <a:solidFill>
              <a:srgbClr val="0B4F4A"/>
            </a:solidFill>
            <a:prstDash val="solid"/>
          </a:ln>
        </p:spPr>
      </p:sp>
      <p:sp>
        <p:nvSpPr>
          <p:cNvPr id="17" name="Text 14"/>
          <p:cNvSpPr txBox="1"/>
          <p:nvPr/>
        </p:nvSpPr>
        <p:spPr>
          <a:xfrm>
            <a:off x="4663440" y="3383280"/>
            <a:ext cx="1874520" cy="329184"/>
          </a:xfrm>
          <a:prstGeom prst="rect">
            <a:avLst/>
          </a:prstGeom>
          <a:noFill/>
          <a:ln/>
        </p:spPr>
        <p:txBody>
          <a:bodyPr wrap="square" lIns="0" tIns="0" rIns="0" bIns="0" rtlCol="0" anchor="ctr"/>
          <a:lstStyle/>
          <a:p>
            <a:pPr indent="0" marL="0">
              <a:buNone/>
            </a:pPr>
            <a:r>
              <a:rPr lang="en-US" sz="1100" dirty="0">
                <a:solidFill>
                  <a:srgbClr val="1D2B2A"/>
                </a:solidFill>
                <a:latin typeface="Calibri" pitchFamily="34" charset="0"/>
                <a:ea typeface="Calibri" pitchFamily="34" charset="-122"/>
                <a:cs typeface="Calibri" pitchFamily="34" charset="-120"/>
              </a:rPr>
              <a:t>Ledger / audit log</a:t>
            </a:r>
            <a:endParaRPr lang="en-US" sz="1100" dirty="0"/>
          </a:p>
        </p:txBody>
      </p:sp>
      <p:sp>
        <p:nvSpPr>
          <p:cNvPr id="18" name="Text 15"/>
          <p:cNvSpPr txBox="1"/>
          <p:nvPr/>
        </p:nvSpPr>
        <p:spPr>
          <a:xfrm>
            <a:off x="6720840" y="1234440"/>
            <a:ext cx="1965960" cy="2560320"/>
          </a:xfrm>
          <a:prstGeom prst="rect">
            <a:avLst/>
          </a:prstGeom>
          <a:noFill/>
          <a:ln/>
        </p:spPr>
        <p:txBody>
          <a:bodyPr wrap="square" lIns="0" tIns="0" rIns="0" bIns="0" rtlCol="0" anchor="t"/>
          <a:lstStyle/>
          <a:p>
            <a:pPr indent="0" marL="0">
              <a:spcAft>
                <a:spcPts val="600"/>
              </a:spcAft>
              <a:buNone/>
            </a:pPr>
            <a:r>
              <a:rPr lang="en-US" sz="1200" dirty="0">
                <a:solidFill>
                  <a:srgbClr val="1D2B2A"/>
                </a:solidFill>
                <a:latin typeface="Calibri" pitchFamily="34" charset="0"/>
                <a:ea typeface="Calibri" pitchFamily="34" charset="-122"/>
                <a:cs typeface="Calibri" pitchFamily="34" charset="-120"/>
              </a:rPr>
              <a:t>1. Program overview</a:t>
            </a:r>
            <a:endParaRPr lang="en-US" sz="1200" dirty="0"/>
          </a:p>
          <a:p>
            <a:pPr indent="0" marL="0">
              <a:spcAft>
                <a:spcPts val="600"/>
              </a:spcAft>
              <a:buNone/>
            </a:pPr>
            <a:r>
              <a:rPr lang="en-US" sz="1200" dirty="0">
                <a:solidFill>
                  <a:srgbClr val="1D2B2A"/>
                </a:solidFill>
                <a:latin typeface="Calibri" pitchFamily="34" charset="0"/>
                <a:ea typeface="Calibri" pitchFamily="34" charset="-122"/>
                <a:cs typeface="Calibri" pitchFamily="34" charset="-120"/>
              </a:rPr>
              <a:t>2. Onboarding</a:t>
            </a:r>
            <a:endParaRPr lang="en-US" sz="1200" dirty="0"/>
          </a:p>
          <a:p>
            <a:pPr indent="0" marL="0">
              <a:spcAft>
                <a:spcPts val="600"/>
              </a:spcAft>
              <a:buNone/>
            </a:pPr>
            <a:r>
              <a:rPr lang="en-US" sz="1200" dirty="0">
                <a:solidFill>
                  <a:srgbClr val="1D2B2A"/>
                </a:solidFill>
                <a:latin typeface="Calibri" pitchFamily="34" charset="0"/>
                <a:ea typeface="Calibri" pitchFamily="34" charset="-122"/>
                <a:cs typeface="Calibri" pitchFamily="34" charset="-120"/>
              </a:rPr>
              <a:t>3. Transfer payment</a:t>
            </a:r>
            <a:endParaRPr lang="en-US" sz="1200" dirty="0"/>
          </a:p>
          <a:p>
            <a:pPr indent="0" marL="0">
              <a:spcAft>
                <a:spcPts val="600"/>
              </a:spcAft>
              <a:buNone/>
            </a:pPr>
            <a:r>
              <a:rPr lang="en-US" sz="1200" dirty="0">
                <a:solidFill>
                  <a:srgbClr val="1D2B2A"/>
                </a:solidFill>
                <a:latin typeface="Calibri" pitchFamily="34" charset="0"/>
                <a:ea typeface="Calibri" pitchFamily="34" charset="-122"/>
                <a:cs typeface="Calibri" pitchFamily="34" charset="-120"/>
              </a:rPr>
              <a:t>4. Card purchase</a:t>
            </a:r>
            <a:endParaRPr lang="en-US" sz="1200" dirty="0"/>
          </a:p>
          <a:p>
            <a:pPr indent="0" marL="0">
              <a:spcAft>
                <a:spcPts val="600"/>
              </a:spcAft>
              <a:buNone/>
            </a:pPr>
            <a:r>
              <a:rPr lang="en-US" sz="1200" dirty="0">
                <a:solidFill>
                  <a:srgbClr val="1D2B2A"/>
                </a:solidFill>
                <a:latin typeface="Calibri" pitchFamily="34" charset="0"/>
                <a:ea typeface="Calibri" pitchFamily="34" charset="-122"/>
                <a:cs typeface="Calibri" pitchFamily="34" charset="-120"/>
              </a:rPr>
              <a:t>5. Financing lifecycle</a:t>
            </a:r>
            <a:endParaRPr lang="en-US" sz="1200" dirty="0"/>
          </a:p>
          <a:p>
            <a:pPr indent="0" marL="0">
              <a:spcAft>
                <a:spcPts val="600"/>
              </a:spcAft>
              <a:buNone/>
            </a:pPr>
            <a:r>
              <a:rPr lang="en-US" sz="1200" dirty="0">
                <a:solidFill>
                  <a:srgbClr val="1D2B2A"/>
                </a:solidFill>
                <a:latin typeface="Calibri" pitchFamily="34" charset="0"/>
                <a:ea typeface="Calibri" pitchFamily="34" charset="-122"/>
                <a:cs typeface="Calibri" pitchFamily="34" charset="-120"/>
              </a:rPr>
              <a:t>6. Desktop console</a:t>
            </a:r>
            <a:endParaRPr lang="en-US" sz="1200" dirty="0"/>
          </a:p>
        </p:txBody>
      </p:sp>
      <p:sp>
        <p:nvSpPr>
          <p:cNvPr id="19" name="Text 16"/>
          <p:cNvSpPr txBox="1"/>
          <p:nvPr/>
        </p:nvSpPr>
        <p:spPr>
          <a:xfrm>
            <a:off x="3931920" y="4069080"/>
            <a:ext cx="4754880" cy="457200"/>
          </a:xfrm>
          <a:prstGeom prst="rect">
            <a:avLst/>
          </a:prstGeom>
          <a:noFill/>
          <a:ln/>
        </p:spPr>
        <p:txBody>
          <a:bodyPr wrap="square" lIns="0" tIns="0" rIns="0" bIns="0" rtlCol="0" anchor="ctr"/>
          <a:lstStyle/>
          <a:p>
            <a:pPr indent="0" marL="0">
              <a:buNone/>
            </a:pPr>
            <a:r>
              <a:rPr lang="en-US" sz="1100" i="1" dirty="0">
                <a:solidFill>
                  <a:srgbClr val="5B6B69"/>
                </a:solidFill>
                <a:latin typeface="Calibri" pitchFamily="34" charset="0"/>
                <a:ea typeface="Calibri" pitchFamily="34" charset="-122"/>
                <a:cs typeface="Calibri" pitchFamily="34" charset="-120"/>
              </a:rPr>
              <a:t>Report section 4.1 (flowcharts) and 4.2 (state machines)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200" b="1" dirty="0">
                <a:solidFill>
                  <a:srgbClr val="0B4F4A"/>
                </a:solidFill>
                <a:latin typeface="Cambria" pitchFamily="34" charset="0"/>
                <a:ea typeface="Cambria" pitchFamily="34" charset="-122"/>
                <a:cs typeface="Cambria" pitchFamily="34" charset="-120"/>
              </a:rPr>
              <a:t>Live demo: staff console and digital banking</a:t>
            </a:r>
            <a:endParaRPr lang="en-US" sz="22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banking_gui.py - pure Python (Tkinter); every button calls one Bank operation</a:t>
            </a:r>
            <a:endParaRPr lang="en-US" sz="1200" dirty="0"/>
          </a:p>
        </p:txBody>
      </p:sp>
      <p:sp>
        <p:nvSpPr>
          <p:cNvPr id="4" name="Shape 2"/>
          <p:cNvSpPr/>
          <p:nvPr/>
        </p:nvSpPr>
        <p:spPr>
          <a:xfrm>
            <a:off x="457200" y="1188720"/>
            <a:ext cx="5577840" cy="3611880"/>
          </a:xfrm>
          <a:prstGeom prst="roundRect">
            <a:avLst>
              <a:gd name="adj" fmla="val 2025"/>
            </a:avLst>
          </a:prstGeom>
          <a:solidFill>
            <a:srgbClr val="F4F8F7"/>
          </a:solidFill>
          <a:ln w="12700">
            <a:solidFill>
              <a:srgbClr val="F4F8F7"/>
            </a:solidFill>
            <a:prstDash val="solid"/>
          </a:ln>
        </p:spPr>
      </p:sp>
      <p:pic>
        <p:nvPicPr>
          <p:cNvPr id="5" name="Image 0" descr="/home/user/commercial-banking/docs/screenshots/gui_02_overview.png">    </p:cNvPr>
          <p:cNvPicPr>
            <a:picLocks noChangeAspect="1"/>
          </p:cNvPicPr>
          <p:nvPr/>
        </p:nvPicPr>
        <p:blipFill>
          <a:blip r:embed="rId1"/>
          <a:stretch>
            <a:fillRect/>
          </a:stretch>
        </p:blipFill>
        <p:spPr>
          <a:xfrm>
            <a:off x="548640" y="1280160"/>
            <a:ext cx="5394960" cy="3291840"/>
          </a:xfrm>
          <a:prstGeom prst="rect">
            <a:avLst/>
          </a:prstGeom>
        </p:spPr>
      </p:pic>
      <p:sp>
        <p:nvSpPr>
          <p:cNvPr id="6" name="Text 3"/>
          <p:cNvSpPr txBox="1"/>
          <p:nvPr/>
        </p:nvSpPr>
        <p:spPr>
          <a:xfrm>
            <a:off x="6263640" y="1234440"/>
            <a:ext cx="2468880" cy="3566160"/>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Sign in as staff or as a customer; the model checks that person's authority</a:t>
            </a:r>
            <a:endParaRPr lang="en-US" sz="1200" dirty="0"/>
          </a:p>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Staff: forms list what your role may do and record you automatically</a:t>
            </a:r>
            <a:endParaRPr lang="en-US" sz="1200" dirty="0"/>
          </a:p>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Digital banking: own accounts plus companies under a mandate; approvals, cards, disputes</a:t>
            </a:r>
            <a:endParaRPr lang="en-US" sz="1200" dirty="0"/>
          </a:p>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80 forms and 14 guided checks cover every workflow in the brief</a:t>
            </a:r>
            <a:endParaRPr lang="en-US" sz="1200" dirty="0"/>
          </a:p>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GUI classes inherit too: Page -&gt; MasterDetailPage, CustomerView, Chart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normAutofit/>
          </a:bodyPr>
          <a:lstStyle/>
          <a:p>
            <a:pPr indent="0" marL="0">
              <a:buNone/>
            </a:pPr>
            <a:r>
              <a:rPr lang="en-US" sz="2200" b="1" dirty="0">
                <a:solidFill>
                  <a:srgbClr val="0B4F4A"/>
                </a:solidFill>
                <a:latin typeface="Cambria" pitchFamily="34" charset="0"/>
                <a:ea typeface="Cambria" pitchFamily="34" charset="-122"/>
                <a:cs typeface="Cambria" pitchFamily="34" charset="-120"/>
              </a:rPr>
              <a:t>Code review: 20 defects fixed, each with a test</a:t>
            </a:r>
            <a:endParaRPr lang="en-US" sz="2200" dirty="0"/>
          </a:p>
        </p:txBody>
      </p:sp>
      <p:sp>
        <p:nvSpPr>
          <p:cNvPr id="3" name="Shape 1"/>
          <p:cNvSpPr/>
          <p:nvPr/>
        </p:nvSpPr>
        <p:spPr>
          <a:xfrm>
            <a:off x="457200" y="1097280"/>
            <a:ext cx="2651760" cy="3566160"/>
          </a:xfrm>
          <a:prstGeom prst="roundRect">
            <a:avLst>
              <a:gd name="adj" fmla="val 2759"/>
            </a:avLst>
          </a:prstGeom>
          <a:solidFill>
            <a:srgbClr val="0B4F4A"/>
          </a:solidFill>
          <a:ln w="12700">
            <a:solidFill>
              <a:srgbClr val="0B4F4A"/>
            </a:solidFill>
            <a:prstDash val="solid"/>
          </a:ln>
        </p:spPr>
      </p:sp>
      <p:sp>
        <p:nvSpPr>
          <p:cNvPr id="4" name="Text 2"/>
          <p:cNvSpPr txBox="1"/>
          <p:nvPr/>
        </p:nvSpPr>
        <p:spPr>
          <a:xfrm>
            <a:off x="457200" y="1463040"/>
            <a:ext cx="2651760"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20</a:t>
            </a:r>
            <a:endParaRPr lang="en-US" sz="6000" dirty="0"/>
          </a:p>
        </p:txBody>
      </p:sp>
      <p:sp>
        <p:nvSpPr>
          <p:cNvPr id="5" name="Text 3"/>
          <p:cNvSpPr txBox="1"/>
          <p:nvPr/>
        </p:nvSpPr>
        <p:spPr>
          <a:xfrm>
            <a:off x="685800" y="2651760"/>
            <a:ext cx="2194560" cy="1097280"/>
          </a:xfrm>
          <a:prstGeom prst="rect">
            <a:avLst/>
          </a:prstGeom>
          <a:noFill/>
          <a:ln/>
        </p:spPr>
        <p:txBody>
          <a:bodyPr wrap="square" lIns="0" tIns="0" rIns="0" bIns="0" rtlCol="0" anchor="ctr"/>
          <a:lstStyle/>
          <a:p>
            <a:pPr algn="ctr" indent="0" marL="0">
              <a:buNone/>
            </a:pPr>
            <a:r>
              <a:rPr lang="en-US" sz="1400" dirty="0">
                <a:solidFill>
                  <a:srgbClr val="CFE3DF"/>
                </a:solidFill>
                <a:latin typeface="Calibri" pitchFamily="34" charset="0"/>
                <a:ea typeface="Calibri" pitchFamily="34" charset="-122"/>
                <a:cs typeface="Calibri" pitchFamily="34" charset="-120"/>
              </a:rPr>
              <a:t>defects found and fixed, each with a regression test</a:t>
            </a:r>
            <a:endParaRPr lang="en-US" sz="1400" dirty="0"/>
          </a:p>
        </p:txBody>
      </p:sp>
      <p:sp>
        <p:nvSpPr>
          <p:cNvPr id="6" name="Text 4"/>
          <p:cNvSpPr txBox="1"/>
          <p:nvPr/>
        </p:nvSpPr>
        <p:spPr>
          <a:xfrm>
            <a:off x="3474720" y="1143000"/>
            <a:ext cx="5212080" cy="3566160"/>
          </a:xfrm>
          <a:prstGeom prst="rect">
            <a:avLst/>
          </a:prstGeom>
          <a:noFill/>
          <a:ln/>
        </p:spPr>
        <p:txBody>
          <a:bodyPr wrap="square" lIns="635" tIns="635" rIns="635" bIns="635" rtlCol="0" anchor="t"/>
          <a:lstStyle/>
          <a:p>
            <a:pPr marL="342900" indent="-342900">
              <a:spcAft>
                <a:spcPts val="600"/>
              </a:spcAft>
              <a:buSzPct val="100000"/>
              <a:buChar char="•"/>
            </a:pPr>
            <a:r>
              <a:rPr lang="en-US" sz="1350" dirty="0">
                <a:solidFill>
                  <a:srgbClr val="1D2B2A"/>
                </a:solidFill>
                <a:latin typeface="Calibri" pitchFamily="34" charset="0"/>
                <a:ea typeface="Calibri" pitchFamily="34" charset="-122"/>
                <a:cs typeface="Calibri" pitchFamily="34" charset="-120"/>
              </a:rPr>
              <a:t>A refused loan overpayment still marked installments as paid</a:t>
            </a:r>
            <a:endParaRPr lang="en-US" sz="1350" dirty="0"/>
          </a:p>
          <a:p>
            <a:pPr marL="342900" indent="-342900">
              <a:spcAft>
                <a:spcPts val="600"/>
              </a:spcAft>
              <a:buSzPct val="100000"/>
              <a:buChar char="•"/>
            </a:pPr>
            <a:r>
              <a:rPr lang="en-US" sz="1350" dirty="0">
                <a:solidFill>
                  <a:srgbClr val="1D2B2A"/>
                </a:solidFill>
                <a:latin typeface="Calibri" pitchFamily="34" charset="0"/>
                <a:ea typeface="Calibri" pitchFamily="34" charset="-122"/>
                <a:cs typeface="Calibri" pitchFamily="34" charset="-120"/>
              </a:rPr>
              <a:t>Resolving a dispute twice refunded the customer twice</a:t>
            </a:r>
            <a:endParaRPr lang="en-US" sz="1350" dirty="0"/>
          </a:p>
          <a:p>
            <a:pPr marL="342900" indent="-342900">
              <a:spcAft>
                <a:spcPts val="600"/>
              </a:spcAft>
              <a:buSzPct val="100000"/>
              <a:buChar char="•"/>
            </a:pPr>
            <a:r>
              <a:rPr lang="en-US" sz="1350" dirty="0">
                <a:solidFill>
                  <a:srgbClr val="1D2B2A"/>
                </a:solidFill>
                <a:latin typeface="Calibri" pitchFamily="34" charset="0"/>
                <a:ea typeface="Calibri" pitchFamily="34" charset="-122"/>
                <a:cs typeface="Calibri" pitchFamily="34" charset="-120"/>
              </a:rPr>
              <a:t>Recording an ACTIVE card as found destroyed it</a:t>
            </a:r>
            <a:endParaRPr lang="en-US" sz="1350" dirty="0"/>
          </a:p>
          <a:p>
            <a:pPr marL="342900" indent="-342900">
              <a:spcAft>
                <a:spcPts val="600"/>
              </a:spcAft>
              <a:buSzPct val="100000"/>
              <a:buChar char="•"/>
            </a:pPr>
            <a:r>
              <a:rPr lang="en-US" sz="1350" dirty="0">
                <a:solidFill>
                  <a:srgbClr val="1D2B2A"/>
                </a:solidFill>
                <a:latin typeface="Calibri" pitchFamily="34" charset="0"/>
                <a:ea typeface="Calibri" pitchFamily="34" charset="-122"/>
                <a:cs typeface="Calibri" pitchFamily="34" charset="-120"/>
              </a:rPr>
              <a:t>Replacement cards blocked once the product was withdrawn</a:t>
            </a:r>
            <a:endParaRPr lang="en-US" sz="1350" dirty="0"/>
          </a:p>
          <a:p>
            <a:pPr marL="342900" indent="-342900">
              <a:spcAft>
                <a:spcPts val="600"/>
              </a:spcAft>
              <a:buSzPct val="100000"/>
              <a:buChar char="•"/>
            </a:pPr>
            <a:r>
              <a:rPr lang="en-US" sz="1350" dirty="0">
                <a:solidFill>
                  <a:srgbClr val="1D2B2A"/>
                </a:solidFill>
                <a:latin typeface="Calibri" pitchFamily="34" charset="0"/>
                <a:ea typeface="Calibri" pitchFamily="34" charset="-122"/>
                <a:cs typeface="Calibri" pitchFamily="34" charset="-120"/>
              </a:rPr>
              <a:t>Bank fees used up customers' savings withdrawals</a:t>
            </a:r>
            <a:endParaRPr lang="en-US" sz="1350" dirty="0"/>
          </a:p>
          <a:p>
            <a:pPr marL="342900" indent="-342900">
              <a:spcAft>
                <a:spcPts val="600"/>
              </a:spcAft>
              <a:buSzPct val="100000"/>
              <a:buChar char="•"/>
            </a:pPr>
            <a:r>
              <a:rPr lang="en-US" sz="1350" dirty="0">
                <a:solidFill>
                  <a:srgbClr val="1D2B2A"/>
                </a:solidFill>
                <a:latin typeface="Calibri" pitchFamily="34" charset="0"/>
                <a:ea typeface="Calibri" pitchFamily="34" charset="-122"/>
                <a:cs typeface="Calibri" pitchFamily="34" charset="-120"/>
              </a:rPr>
              <a:t>Account closure ignored holds and pending payments</a:t>
            </a:r>
            <a:endParaRPr lang="en-US" sz="1350" dirty="0"/>
          </a:p>
          <a:p>
            <a:pPr marL="342900" indent="-342900">
              <a:spcAft>
                <a:spcPts val="600"/>
              </a:spcAft>
              <a:buSzPct val="100000"/>
              <a:buChar char="•"/>
            </a:pPr>
            <a:r>
              <a:rPr lang="en-US" sz="1350" dirty="0">
                <a:solidFill>
                  <a:srgbClr val="1D2B2A"/>
                </a:solidFill>
                <a:latin typeface="Calibri" pitchFamily="34" charset="0"/>
                <a:ea typeface="Calibri" pitchFamily="34" charset="-122"/>
                <a:cs typeface="Calibri" pitchFamily="34" charset="-120"/>
              </a:rPr>
              <a:t>No delegated limit on credit approvals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4F4A"/>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Limitations and how it would scale</a:t>
            </a:r>
            <a:endParaRPr lang="en-US" sz="2800" dirty="0"/>
          </a:p>
        </p:txBody>
      </p:sp>
      <p:sp>
        <p:nvSpPr>
          <p:cNvPr id="3" name="Text 1"/>
          <p:cNvSpPr txBox="1"/>
          <p:nvPr/>
        </p:nvSpPr>
        <p:spPr>
          <a:xfrm>
            <a:off x="548640" y="1188720"/>
            <a:ext cx="3749040" cy="411480"/>
          </a:xfrm>
          <a:prstGeom prst="rect">
            <a:avLst/>
          </a:prstGeom>
          <a:noFill/>
          <a:ln/>
        </p:spPr>
        <p:txBody>
          <a:bodyPr wrap="square" lIns="0" tIns="0" rIns="0" bIns="0" rtlCol="0" anchor="ctr"/>
          <a:lstStyle/>
          <a:p>
            <a:pPr indent="0" marL="0">
              <a:buNone/>
            </a:pPr>
            <a:r>
              <a:rPr lang="en-US" sz="1900" b="1" dirty="0">
                <a:solidFill>
                  <a:srgbClr val="E9D3A6"/>
                </a:solidFill>
                <a:latin typeface="Cambria" pitchFamily="34" charset="0"/>
                <a:ea typeface="Cambria" pitchFamily="34" charset="-122"/>
                <a:cs typeface="Cambria" pitchFamily="34" charset="-120"/>
              </a:rPr>
              <a:t>Today</a:t>
            </a:r>
            <a:endParaRPr lang="en-US" sz="1900" dirty="0"/>
          </a:p>
        </p:txBody>
      </p:sp>
      <p:sp>
        <p:nvSpPr>
          <p:cNvPr id="4" name="Text 2"/>
          <p:cNvSpPr txBox="1"/>
          <p:nvPr/>
        </p:nvSpPr>
        <p:spPr>
          <a:xfrm>
            <a:off x="548640" y="1691640"/>
            <a:ext cx="3749040" cy="228600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Single currency (PKR)</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One JSON file, no database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Two-signatory dual control only</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Fixed review threshold, simple interest</a:t>
            </a:r>
            <a:endParaRPr lang="en-US" sz="1400" dirty="0"/>
          </a:p>
        </p:txBody>
      </p:sp>
      <p:sp>
        <p:nvSpPr>
          <p:cNvPr id="5" name="Text 3"/>
          <p:cNvSpPr txBox="1"/>
          <p:nvPr/>
        </p:nvSpPr>
        <p:spPr>
          <a:xfrm>
            <a:off x="4663440" y="1188720"/>
            <a:ext cx="3749040" cy="411480"/>
          </a:xfrm>
          <a:prstGeom prst="rect">
            <a:avLst/>
          </a:prstGeom>
          <a:noFill/>
          <a:ln/>
        </p:spPr>
        <p:txBody>
          <a:bodyPr wrap="square" lIns="0" tIns="0" rIns="0" bIns="0" rtlCol="0" anchor="ctr"/>
          <a:lstStyle/>
          <a:p>
            <a:pPr indent="0" marL="0">
              <a:buNone/>
            </a:pPr>
            <a:r>
              <a:rPr lang="en-US" sz="1900" b="1" dirty="0">
                <a:solidFill>
                  <a:srgbClr val="E9D3A6"/>
                </a:solidFill>
                <a:latin typeface="Cambria" pitchFamily="34" charset="0"/>
                <a:ea typeface="Cambria" pitchFamily="34" charset="-122"/>
                <a:cs typeface="Cambria" pitchFamily="34" charset="-120"/>
              </a:rPr>
              <a:t>At scale</a:t>
            </a:r>
            <a:endParaRPr lang="en-US" sz="1900" dirty="0"/>
          </a:p>
        </p:txBody>
      </p:sp>
      <p:sp>
        <p:nvSpPr>
          <p:cNvPr id="6" name="Text 4"/>
          <p:cNvSpPr txBox="1"/>
          <p:nvPr/>
        </p:nvSpPr>
        <p:spPr>
          <a:xfrm>
            <a:off x="4663440" y="1691640"/>
            <a:ext cx="3749040" cy="228600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Period -&gt; valid_from / valid_to columns in a database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Bank split into services linked by events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Login supplies the acting person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Islamic products as new Arrangement subclasses</a:t>
            </a:r>
            <a:endParaRPr lang="en-US" sz="1400" dirty="0"/>
          </a:p>
        </p:txBody>
      </p:sp>
      <p:sp>
        <p:nvSpPr>
          <p:cNvPr id="7" name="Text 5"/>
          <p:cNvSpPr txBox="1"/>
          <p:nvPr/>
        </p:nvSpPr>
        <p:spPr>
          <a:xfrm>
            <a:off x="548640" y="4206240"/>
            <a:ext cx="8046720" cy="45720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4 - Commercial Banking OOP design</dc:title>
  <dc:subject>PptxGenJS Presentation</dc:subject>
  <dc:creator>PptxGenJS</dc:creator>
  <cp:lastModifiedBy>PptxGenJS</cp:lastModifiedBy>
  <cp:revision>1</cp:revision>
  <dcterms:created xsi:type="dcterms:W3CDTF">2026-10-20T01:37:00Z</dcterms:created>
  <dcterms:modified xsi:type="dcterms:W3CDTF">2026-10-20T01:37:00Z</dcterms:modified>
</cp:coreProperties>
</file>